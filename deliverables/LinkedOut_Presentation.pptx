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not a recap of the title text. Say: 'Our college has zero internship portal today — students find out about internships from WhatsApp forwards. We built LinkedOut to fix that, and to do the two things no aggregator does: catch scams before a student sees them, and tell you honestly how well you actually fit a role.' Keep this under 20 seconds — the hook is the college-has-nothing fact, not the feature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in order of what a judge will nod at fastest: fragmentation (they've all seen this), scams (this is the one that gets attention — have a concrete example ready, e.g. a 'registration fee' post), and mismatched applications (sets up the match-score slide later). Land the bottom bar as the local, personal stake: 'this isn't hypothetical, it's literally our own campus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just use Internshala/LinkedIn' — this is the slide to point back to. The honest answer: they're excellent at reach/volume, they are not built to vet a listing for a student or feed match data back to a placement cell. We're not competing with them on scale, we're solving what they structurally don't. The 'partial' amber icon on deadline alerts is deliberate honesty — some aggregators do send generic deadline emails; ours are targeted to match score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 we built' summary slide — say the four verbs out loud (Aggregate, Screen, Match, Manage) since they map 1:1 to the next architecture slides. Don't over-explain here; this is the map, the deep dives come at slides 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a student journey, not a checklist: browse -&gt; see fit -&gt; save/apply -&gt; track -&gt; get warned before deadlines -&gt; report something shady. If a judge asks 'what happens after I apply', point to Apply &amp; track: status timeline is Applied -&gt; Shortlisted/Rejected/Selected, and withdrawal is only allowed from Applied or Shortlisted (once decided, it's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the placement cell isn't just an approver — they can retune the fraud filter (slide 9 shows exactly how), and they get a decision-support tool out of Skill-gap analytics, not just a moderation queue. If asked 'why would an admin trust the trust score', the answer is: they don't have to blindly — they can see the breakdown, override it, and change the weights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 left to right slowly, this is the 'prove you understand your own backend' slide. Key phrase for verifyToken: it reads the JWT from an httpOnly cookie (not a header token a script could read) and also checks tokenVersion against the DB so a specific user's sessions can be force-revoked without a blacklist table. requireRole is a simple allow-list check on req.user.role. validate() is a Zod schema per route — runs BEFORE the controller so bad data never reaches business logic. If asked 'what if two requests race on the same duplicate-application check' — answer lives on slide 13 (DB-level unique index), reference it here if it comes up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there are two scrapers, not one: Internshala's HTML is server-rendered so a plain HTTP GET + cheerio (a jQuery-like HTML parser) is enough. Unstop is a React/Next.js app — the raw HTML is an empty shell before JavaScript runs, so we needed Puppeteer, a real headless Chromium browser, to actually execute the page and read the rendered DOM. LinkedIn is deliberately NOT scraped (their ToS forbids it and risks an IP ban mid-project) — LinkedIn roles come in through manual admin entry instead. Dedup uses fuzzy text similarity, not an exact hash, specifically to catch a repost that changed one word in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most important slide for Q&amp;A — expect 'why not use ML/AI for scam detection' here. Answer: a weighted rule model is deliberately explainable and defensible — an admin can see exactly which of the 9 signals fired and why, and can retune a single weight after seeing a new scam pattern, without retraining anything or needing labeled data we don't have yet. Each signal function returns a sub-score between 0 and its own weight, and they sum to the final 0-100 trustScore. If asked for an example: a listing on a form-builder domain (Google Forms link) with a WhatsApp-only contact and the word 'refundable deposit' would fail source-domain, contact-channel, AND trip the critical-keyword flag — it would be forced into human review even though it never auto-rejects on the keyword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formula once with a concrete number: a listing needs 5 skills, the student has 3 of them -&gt; skillTerm = 3/5*70 = 42; branch/year/CGPA eligibility is satisfied -&gt; +20; location doesn't match -&gt; +0; total matchScore = 62%. The cache line is a common 'gotcha' question: normally caches go stale after an edit — ours can't, because the cache key literally includes the updatedAt timestamp of both records, so an edit changes the key itself and the old entry is just never looked up again (not deleted, just orphaned and it expires via 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this fast, it's a reference slide — the payoff is the next slide (AI/ML). One thing worth saying out loud: this is a single Node.js/Express codebase end to end, not a patchwork of separate services, which is why the request flow on slide 7 is one straight pipe through the same process. Mongoose is the ODM (object-document mapper) that turns MongoDB's raw JSON documents into schema-validated JS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direct answer to 'is there actually any AI here, or is it just CRUD'. Be confident: yes, there are real algorithms (Dice-coefficient string similarity, weighted scoring, dictionary-based extraction) — we deliberately chose explainable techniques over an opaque trained model because trust and auditability were the actual product requirement, not a limitation. If pushed further: an LLM call for resume parsing or trust scoring would add latency, cost, and non-determinism (same resume -&gt; different result twice) — none of which we wanted for something students' internship chances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'how do you know two people can't apply to the same internship twice at the exact same millisecond' — this slide has the answer: DB-level guarantees, bottom right. It's a MongoDB compound unique index on (userId, internshipId) filtered to status != Withdrawn — the database itself refuses the second insert, so even a race condition can't create a duplicate; the app-level check is just a friendlier error message on top of that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four mockup boxes with real screenshots before presenting — take them from a fresh `npm run seed` + `npm run dev` run so the data looks intentional, not empty. If you're doing this as a live demo instead of screenshots, rehearse the exact click path once beforehand — judges notice hesitation more than they notice a missing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if a judge seems skeptical that this is 'just another internship board'. Pick ONE of these six to go deep on if asked to elaborate — the trust-engine one and the skill-gap feedback loop are the strongest because they're backed by an actual mechanism you can point to on slides 9 and 10, not just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user journeys as mini-stories, not bullet lists — this is the emotional beat of the pitch before you go technical again on feasibility. The four stat callouts are literally the project's own PRD success metrics (Section 2 goals table), not marketing numbers — mention that if asked to back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does this cost to actually run' — the honest answer is $0 for a demo/MVP: MongoDB Atlas has a genuine free tier (M0, 512MB), and Render/Railway have free web-service tiers. The one thing to flag proactively: Puppeteer bundles a full headless Chromium (~200MB), so it needs a host that allows that — not a classic serverless function platform like a bare Vercel/Netlify function. If that's a blocker, the Unstop scraper can be dropped from the job entirely (one line in scrape.job.js) and Internshala scraping + manual admin entry keep working unaffected.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in the title, not on the bullet list: 'the API doesn't change, the intelligence behind it does' — it signals the architecture was actually designed for extension, not just finished and stopped. Good closing line for questions: 'ask us anything — we built every piece of this ourselves and can walk through any of it.' Then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1.png"/><Relationship Id="rId6" Type="http://schemas.openxmlformats.org/officeDocument/2006/relationships/image" Target="../media/image-3-3.png"/><Relationship Id="rId7" Type="http://schemas.openxmlformats.org/officeDocument/2006/relationships/image" Target="../media/image-3-1.png"/><Relationship Id="rId8" Type="http://schemas.openxmlformats.org/officeDocument/2006/relationships/image" Target="../media/image-3-1.png"/><Relationship Id="rId9" Type="http://schemas.openxmlformats.org/officeDocument/2006/relationships/image" Target="../media/image-3-3.png"/><Relationship Id="rId10" Type="http://schemas.openxmlformats.org/officeDocument/2006/relationships/image" Target="../media/image-3-1.png"/><Relationship Id="rId11" Type="http://schemas.openxmlformats.org/officeDocument/2006/relationships/image" Target="../media/image-3-1.png"/><Relationship Id="rId12" Type="http://schemas.openxmlformats.org/officeDocument/2006/relationships/image" Target="../media/image-3-3.png"/><Relationship Id="rId13" Type="http://schemas.openxmlformats.org/officeDocument/2006/relationships/image" Target="../media/image-3-13.png"/><Relationship Id="rId14" Type="http://schemas.openxmlformats.org/officeDocument/2006/relationships/image" Target="../media/image-3-1.png"/><Relationship Id="rId15" Type="http://schemas.openxmlformats.org/officeDocument/2006/relationships/image" Target="../media/image-3-3.png"/><Relationship Id="rId16" Type="http://schemas.openxmlformats.org/officeDocument/2006/relationships/image" Target="../media/image-3-1.png"/><Relationship Id="rId17" Type="http://schemas.openxmlformats.org/officeDocument/2006/relationships/image" Target="../media/image-3-1.png"/><Relationship Id="rId18" Type="http://schemas.openxmlformats.org/officeDocument/2006/relationships/image" Target="../media/image-3-3.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6.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slideLayout" Target="../slideLayouts/slideLayout1.xml"/><Relationship Id="rId2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273080"/>
          </a:solidFill>
          <a:ln/>
        </p:spPr>
      </p:sp>
      <p:sp>
        <p:nvSpPr>
          <p:cNvPr id="3" name="Shape 1"/>
          <p:cNvSpPr/>
          <p:nvPr/>
        </p:nvSpPr>
        <p:spPr>
          <a:xfrm>
            <a:off x="-2194560" y="4206240"/>
            <a:ext cx="4572000" cy="4572000"/>
          </a:xfrm>
          <a:prstGeom prst="ellipse">
            <a:avLst/>
          </a:prstGeom>
          <a:solidFill>
            <a:srgbClr val="202A6E"/>
          </a:solidFill>
          <a:ln/>
        </p:spPr>
      </p:sp>
      <p:sp>
        <p:nvSpPr>
          <p:cNvPr id="4" name="Text 2"/>
          <p:cNvSpPr/>
          <p:nvPr/>
        </p:nvSpPr>
        <p:spPr>
          <a:xfrm>
            <a:off x="822960" y="1874520"/>
            <a:ext cx="73152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CAMPUS INTERNSHIP PLATFORM</a:t>
            </a:r>
            <a:endParaRPr lang="en-US" sz="1400" dirty="0"/>
          </a:p>
        </p:txBody>
      </p:sp>
      <p:sp>
        <p:nvSpPr>
          <p:cNvPr id="5" name="Text 3"/>
          <p:cNvSpPr/>
          <p:nvPr/>
        </p:nvSpPr>
        <p:spPr>
          <a:xfrm>
            <a:off x="777240" y="2240280"/>
            <a:ext cx="8229600" cy="1371600"/>
          </a:xfrm>
          <a:prstGeom prst="rect">
            <a:avLst/>
          </a:prstGeom>
          <a:noFill/>
          <a:ln/>
        </p:spPr>
        <p:txBody>
          <a:bodyPr wrap="square"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LinkedOut</a:t>
            </a:r>
            <a:endParaRPr lang="en-US" sz="6600" dirty="0"/>
          </a:p>
        </p:txBody>
      </p:sp>
      <p:sp>
        <p:nvSpPr>
          <p:cNvPr id="6" name="Text 4"/>
          <p:cNvSpPr/>
          <p:nvPr/>
        </p:nvSpPr>
        <p:spPr>
          <a:xfrm>
            <a:off x="822960" y="3611880"/>
            <a:ext cx="7680960" cy="822960"/>
          </a:xfrm>
          <a:prstGeom prst="rect">
            <a:avLst/>
          </a:prstGeom>
          <a:noFill/>
          <a:ln/>
        </p:spPr>
        <p:txBody>
          <a:bodyPr wrap="square" rtlCol="0" anchor="ctr"/>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A secure internship portal that screens listings for scams and scores every</a:t>
            </a:r>
            <a:endParaRPr lang="en-US" sz="1600" dirty="0"/>
          </a:p>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applicant's real fit — built because our college has no portal at all.</a:t>
            </a:r>
            <a:endParaRPr lang="en-US" sz="1600" dirty="0"/>
          </a:p>
        </p:txBody>
      </p:sp>
      <p:sp>
        <p:nvSpPr>
          <p:cNvPr id="7" name="Shape 5"/>
          <p:cNvSpPr/>
          <p:nvPr/>
        </p:nvSpPr>
        <p:spPr>
          <a:xfrm>
            <a:off x="822960" y="4526280"/>
            <a:ext cx="457200" cy="457200"/>
          </a:xfrm>
          <a:prstGeom prst="ellipse">
            <a:avLst/>
          </a:prstGeom>
          <a:solidFill>
            <a:srgbClr val="273080"/>
          </a:solidFill>
          <a:ln/>
        </p:spPr>
      </p:sp>
      <p:pic>
        <p:nvPicPr>
          <p:cNvPr id="8" name="Image 0" descr="C:\Users\Niharika\AppData\Local\Temp\claude\C--Users-Niharika-Linkedout\10362697-8d2a-4530-a202-c572b85676f5\scratchpad\deck\icons\search_white.png">    </p:cNvPr>
          <p:cNvPicPr>
            <a:picLocks noChangeAspect="1"/>
          </p:cNvPicPr>
          <p:nvPr/>
        </p:nvPicPr>
        <p:blipFill>
          <a:blip r:embed="rId1"/>
          <a:stretch>
            <a:fillRect/>
          </a:stretch>
        </p:blipFill>
        <p:spPr>
          <a:xfrm>
            <a:off x="925830" y="4629150"/>
            <a:ext cx="251460" cy="251460"/>
          </a:xfrm>
          <a:prstGeom prst="rect">
            <a:avLst/>
          </a:prstGeom>
        </p:spPr>
      </p:pic>
      <p:sp>
        <p:nvSpPr>
          <p:cNvPr id="9" name="Text 6"/>
          <p:cNvSpPr/>
          <p:nvPr/>
        </p:nvSpPr>
        <p:spPr>
          <a:xfrm>
            <a:off x="1389888" y="4526280"/>
            <a:ext cx="1947672"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Aggregate</a:t>
            </a:r>
            <a:endParaRPr lang="en-US" sz="1250" dirty="0"/>
          </a:p>
        </p:txBody>
      </p:sp>
      <p:sp>
        <p:nvSpPr>
          <p:cNvPr id="10" name="Shape 7"/>
          <p:cNvSpPr/>
          <p:nvPr/>
        </p:nvSpPr>
        <p:spPr>
          <a:xfrm>
            <a:off x="3337560" y="4526280"/>
            <a:ext cx="457200" cy="457200"/>
          </a:xfrm>
          <a:prstGeom prst="ellipse">
            <a:avLst/>
          </a:prstGeom>
          <a:solidFill>
            <a:srgbClr val="273080"/>
          </a:solidFill>
          <a:ln/>
        </p:spPr>
      </p:sp>
      <p:pic>
        <p:nvPicPr>
          <p:cNvPr id="11" name="Image 1" descr="C:\Users\Niharika\AppData\Local\Temp\claude\C--Users-Niharika-Linkedout\10362697-8d2a-4530-a202-c572b85676f5\scratchpad\deck\icons\shield_white.png">    </p:cNvPr>
          <p:cNvPicPr>
            <a:picLocks noChangeAspect="1"/>
          </p:cNvPicPr>
          <p:nvPr/>
        </p:nvPicPr>
        <p:blipFill>
          <a:blip r:embed="rId2"/>
          <a:stretch>
            <a:fillRect/>
          </a:stretch>
        </p:blipFill>
        <p:spPr>
          <a:xfrm>
            <a:off x="3440430" y="4629150"/>
            <a:ext cx="251460" cy="251460"/>
          </a:xfrm>
          <a:prstGeom prst="rect">
            <a:avLst/>
          </a:prstGeom>
        </p:spPr>
      </p:pic>
      <p:sp>
        <p:nvSpPr>
          <p:cNvPr id="12" name="Text 8"/>
          <p:cNvSpPr/>
          <p:nvPr/>
        </p:nvSpPr>
        <p:spPr>
          <a:xfrm>
            <a:off x="3904488" y="4526280"/>
            <a:ext cx="1947672"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Screen for scams</a:t>
            </a:r>
            <a:endParaRPr lang="en-US" sz="1250" dirty="0"/>
          </a:p>
        </p:txBody>
      </p:sp>
      <p:sp>
        <p:nvSpPr>
          <p:cNvPr id="13" name="Shape 9"/>
          <p:cNvSpPr/>
          <p:nvPr/>
        </p:nvSpPr>
        <p:spPr>
          <a:xfrm>
            <a:off x="5852160" y="4526280"/>
            <a:ext cx="457200" cy="457200"/>
          </a:xfrm>
          <a:prstGeom prst="ellipse">
            <a:avLst/>
          </a:prstGeom>
          <a:solidFill>
            <a:srgbClr val="273080"/>
          </a:solidFill>
          <a:ln/>
        </p:spPr>
      </p:sp>
      <p:pic>
        <p:nvPicPr>
          <p:cNvPr id="14" name="Image 2" descr="C:\Users\Niharika\AppData\Local\Temp\claude\C--Users-Niharika-Linkedout\10362697-8d2a-4530-a202-c572b85676f5\scratchpad\deck\icons\target_white.png">    </p:cNvPr>
          <p:cNvPicPr>
            <a:picLocks noChangeAspect="1"/>
          </p:cNvPicPr>
          <p:nvPr/>
        </p:nvPicPr>
        <p:blipFill>
          <a:blip r:embed="rId3"/>
          <a:stretch>
            <a:fillRect/>
          </a:stretch>
        </p:blipFill>
        <p:spPr>
          <a:xfrm>
            <a:off x="5955030" y="4629150"/>
            <a:ext cx="251460" cy="251460"/>
          </a:xfrm>
          <a:prstGeom prst="rect">
            <a:avLst/>
          </a:prstGeom>
        </p:spPr>
      </p:pic>
      <p:sp>
        <p:nvSpPr>
          <p:cNvPr id="15" name="Text 10"/>
          <p:cNvSpPr/>
          <p:nvPr/>
        </p:nvSpPr>
        <p:spPr>
          <a:xfrm>
            <a:off x="6419088" y="4526280"/>
            <a:ext cx="1947672" cy="4572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Score real fit</a:t>
            </a:r>
            <a:endParaRPr lang="en-US" sz="1250" dirty="0"/>
          </a:p>
        </p:txBody>
      </p:sp>
      <p:sp>
        <p:nvSpPr>
          <p:cNvPr id="16" name="Text 11"/>
          <p:cNvSpPr/>
          <p:nvPr/>
        </p:nvSpPr>
        <p:spPr>
          <a:xfrm>
            <a:off x="822960" y="6126480"/>
            <a:ext cx="7315200" cy="365760"/>
          </a:xfrm>
          <a:prstGeom prst="rect">
            <a:avLst/>
          </a:prstGeom>
          <a:noFill/>
          <a:ln/>
        </p:spPr>
        <p:txBody>
          <a:bodyPr wrap="square" rtlCol="0" anchor="ctr"/>
          <a:lstStyle/>
          <a:p>
            <a:pPr indent="0" marL="0">
              <a:buNone/>
            </a:pPr>
            <a:r>
              <a:rPr lang="en-US" sz="1200" dirty="0">
                <a:solidFill>
                  <a:srgbClr val="8A93C7"/>
                </a:solidFill>
                <a:latin typeface="Calibri" pitchFamily="34" charset="0"/>
                <a:ea typeface="Calibri" pitchFamily="34" charset="-122"/>
                <a:cs typeface="Calibri" pitchFamily="34" charset="-120"/>
              </a:rPr>
              <a:t>Team LinkedOut  ·  [Your College Name]  ·  Hackathon 2026</a:t>
            </a:r>
            <a:endParaRPr lang="en-US" sz="1200" dirty="0"/>
          </a:p>
        </p:txBody>
      </p:sp>
      <p:sp>
        <p:nvSpPr>
          <p:cNvPr id="18" name="Text 12"/>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8A93C7"/>
                </a:solidFill>
                <a:latin typeface="Calibri" pitchFamily="34" charset="0"/>
                <a:ea typeface="Calibri" pitchFamily="34" charset="-122"/>
                <a:cs typeface="Calibri" pitchFamily="34" charset="-120"/>
              </a:rPr>
              <a:t>LinkedOut</a:t>
            </a:r>
            <a:endParaRPr lang="en-US" sz="900" dirty="0"/>
          </a:p>
        </p:txBody>
      </p:sp>
      <p:sp>
        <p:nvSpPr>
          <p:cNvPr id="19" name="Text 13"/>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A93C7"/>
                </a:solidFill>
                <a:latin typeface="Calibri" pitchFamily="34" charset="0"/>
                <a:ea typeface="Calibri" pitchFamily="34" charset="-122"/>
                <a:cs typeface="Calibri" pitchFamily="34" charset="-120"/>
              </a:rPr>
              <a:t>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F96167"/>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Finding a real internship is harder than it should be</a:t>
            </a:r>
            <a:endParaRPr lang="en-US" sz="3200" dirty="0"/>
          </a:p>
        </p:txBody>
      </p:sp>
      <p:sp>
        <p:nvSpPr>
          <p:cNvPr id="4" name="Shape 2"/>
          <p:cNvSpPr/>
          <p:nvPr/>
        </p:nvSpPr>
        <p:spPr>
          <a:xfrm>
            <a:off x="640080" y="1874520"/>
            <a:ext cx="3429000" cy="2606040"/>
          </a:xfrm>
          <a:prstGeom prst="roundRect">
            <a:avLst>
              <a:gd name="adj" fmla="val 2807"/>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914400" y="2148840"/>
            <a:ext cx="594360" cy="594360"/>
          </a:xfrm>
          <a:prstGeom prst="ellipse">
            <a:avLst/>
          </a:prstGeom>
          <a:solidFill>
            <a:srgbClr val="F96167"/>
          </a:solidFill>
          <a:ln/>
        </p:spPr>
      </p:sp>
      <p:pic>
        <p:nvPicPr>
          <p:cNvPr id="6" name="Image 0" descr="C:\Users\Niharika\AppData\Local\Temp\claude\C--Users-Niharika-Linkedout\10362697-8d2a-4530-a202-c572b85676f5\scratchpad\deck\icons\layers_white.png">    </p:cNvPr>
          <p:cNvPicPr>
            <a:picLocks noChangeAspect="1"/>
          </p:cNvPicPr>
          <p:nvPr/>
        </p:nvPicPr>
        <p:blipFill>
          <a:blip r:embed="rId1"/>
          <a:stretch>
            <a:fillRect/>
          </a:stretch>
        </p:blipFill>
        <p:spPr>
          <a:xfrm>
            <a:off x="1048131" y="2282571"/>
            <a:ext cx="326898" cy="326898"/>
          </a:xfrm>
          <a:prstGeom prst="rect">
            <a:avLst/>
          </a:prstGeom>
        </p:spPr>
      </p:pic>
      <p:sp>
        <p:nvSpPr>
          <p:cNvPr id="7" name="Text 4"/>
          <p:cNvSpPr/>
          <p:nvPr/>
        </p:nvSpPr>
        <p:spPr>
          <a:xfrm>
            <a:off x="914400" y="2880360"/>
            <a:ext cx="288036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Discovery is fragmented</a:t>
            </a:r>
            <a:endParaRPr lang="en-US" sz="1500" dirty="0"/>
          </a:p>
        </p:txBody>
      </p:sp>
      <p:sp>
        <p:nvSpPr>
          <p:cNvPr id="8" name="Text 5"/>
          <p:cNvSpPr/>
          <p:nvPr/>
        </p:nvSpPr>
        <p:spPr>
          <a:xfrm>
            <a:off x="914400" y="3337560"/>
            <a:ext cx="2880360" cy="1051560"/>
          </a:xfrm>
          <a:prstGeom prst="rect">
            <a:avLst/>
          </a:prstGeom>
          <a:noFill/>
          <a:ln/>
        </p:spPr>
        <p:txBody>
          <a:bodyPr wrap="square" rtlCol="0" anchor="ctr"/>
          <a:lstStyle/>
          <a:p>
            <a:pPr indent="0" marL="0">
              <a:lnSpc>
                <a:spcPct val="120000"/>
              </a:lnSpc>
              <a:buNone/>
            </a:pPr>
            <a:r>
              <a:rPr lang="en-US" sz="1150" dirty="0">
                <a:solidFill>
                  <a:srgbClr val="454B6B"/>
                </a:solidFill>
                <a:latin typeface="Calibri" pitchFamily="34" charset="0"/>
                <a:ea typeface="Calibri" pitchFamily="34" charset="-122"/>
                <a:cs typeface="Calibri" pitchFamily="34" charset="-120"/>
              </a:rPr>
              <a:t>Listings are scattered across LinkedIn, Internshala, company career pages, and WhatsApp forwards — no single feed a student can trust.</a:t>
            </a:r>
            <a:endParaRPr lang="en-US" sz="1150" dirty="0"/>
          </a:p>
        </p:txBody>
      </p:sp>
      <p:sp>
        <p:nvSpPr>
          <p:cNvPr id="9" name="Shape 6"/>
          <p:cNvSpPr/>
          <p:nvPr/>
        </p:nvSpPr>
        <p:spPr>
          <a:xfrm>
            <a:off x="4389120" y="1874520"/>
            <a:ext cx="3429000" cy="2606040"/>
          </a:xfrm>
          <a:prstGeom prst="roundRect">
            <a:avLst>
              <a:gd name="adj" fmla="val 2807"/>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0" name="Shape 7"/>
          <p:cNvSpPr/>
          <p:nvPr/>
        </p:nvSpPr>
        <p:spPr>
          <a:xfrm>
            <a:off x="4663440" y="2148840"/>
            <a:ext cx="594360" cy="594360"/>
          </a:xfrm>
          <a:prstGeom prst="ellipse">
            <a:avLst/>
          </a:prstGeom>
          <a:solidFill>
            <a:srgbClr val="F96167"/>
          </a:solidFill>
          <a:ln/>
        </p:spPr>
      </p:sp>
      <p:pic>
        <p:nvPicPr>
          <p:cNvPr id="11" name="Image 1" descr="C:\Users\Niharika\AppData\Local\Temp\claude\C--Users-Niharika-Linkedout\10362697-8d2a-4530-a202-c572b85676f5\scratchpad\deck\icons\alert_white.png">    </p:cNvPr>
          <p:cNvPicPr>
            <a:picLocks noChangeAspect="1"/>
          </p:cNvPicPr>
          <p:nvPr/>
        </p:nvPicPr>
        <p:blipFill>
          <a:blip r:embed="rId2"/>
          <a:stretch>
            <a:fillRect/>
          </a:stretch>
        </p:blipFill>
        <p:spPr>
          <a:xfrm>
            <a:off x="4797171" y="2282571"/>
            <a:ext cx="326898" cy="326898"/>
          </a:xfrm>
          <a:prstGeom prst="rect">
            <a:avLst/>
          </a:prstGeom>
        </p:spPr>
      </p:pic>
      <p:sp>
        <p:nvSpPr>
          <p:cNvPr id="12" name="Text 8"/>
          <p:cNvSpPr/>
          <p:nvPr/>
        </p:nvSpPr>
        <p:spPr>
          <a:xfrm>
            <a:off x="4663440" y="2880360"/>
            <a:ext cx="288036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Scams are common</a:t>
            </a:r>
            <a:endParaRPr lang="en-US" sz="1500" dirty="0"/>
          </a:p>
        </p:txBody>
      </p:sp>
      <p:sp>
        <p:nvSpPr>
          <p:cNvPr id="13" name="Text 9"/>
          <p:cNvSpPr/>
          <p:nvPr/>
        </p:nvSpPr>
        <p:spPr>
          <a:xfrm>
            <a:off x="4663440" y="3337560"/>
            <a:ext cx="2880360" cy="1051560"/>
          </a:xfrm>
          <a:prstGeom prst="rect">
            <a:avLst/>
          </a:prstGeom>
          <a:noFill/>
          <a:ln/>
        </p:spPr>
        <p:txBody>
          <a:bodyPr wrap="square" rtlCol="0" anchor="ctr"/>
          <a:lstStyle/>
          <a:p>
            <a:pPr indent="0" marL="0">
              <a:lnSpc>
                <a:spcPct val="120000"/>
              </a:lnSpc>
              <a:buNone/>
            </a:pPr>
            <a:r>
              <a:rPr lang="en-US" sz="1150" dirty="0">
                <a:solidFill>
                  <a:srgbClr val="454B6B"/>
                </a:solidFill>
                <a:latin typeface="Calibri" pitchFamily="34" charset="0"/>
                <a:ea typeface="Calibri" pitchFamily="34" charset="-122"/>
                <a:cs typeface="Calibri" pitchFamily="34" charset="-120"/>
              </a:rPr>
              <a:t>A real share of “internship” posts circulating among students are pay-to-apply or data-harvesting traps, with no easy way to vet them.</a:t>
            </a:r>
            <a:endParaRPr lang="en-US" sz="1150" dirty="0"/>
          </a:p>
        </p:txBody>
      </p:sp>
      <p:sp>
        <p:nvSpPr>
          <p:cNvPr id="14" name="Shape 10"/>
          <p:cNvSpPr/>
          <p:nvPr/>
        </p:nvSpPr>
        <p:spPr>
          <a:xfrm>
            <a:off x="8138160" y="1874520"/>
            <a:ext cx="3429000" cy="2606040"/>
          </a:xfrm>
          <a:prstGeom prst="roundRect">
            <a:avLst>
              <a:gd name="adj" fmla="val 2807"/>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5" name="Shape 11"/>
          <p:cNvSpPr/>
          <p:nvPr/>
        </p:nvSpPr>
        <p:spPr>
          <a:xfrm>
            <a:off x="8412480" y="2148840"/>
            <a:ext cx="594360" cy="594360"/>
          </a:xfrm>
          <a:prstGeom prst="ellipse">
            <a:avLst/>
          </a:prstGeom>
          <a:solidFill>
            <a:srgbClr val="F96167"/>
          </a:solidFill>
          <a:ln/>
        </p:spPr>
      </p:sp>
      <p:pic>
        <p:nvPicPr>
          <p:cNvPr id="16" name="Image 2" descr="C:\Users\Niharika\AppData\Local\Temp\claude\C--Users-Niharika-Linkedout\10362697-8d2a-4530-a202-c572b85676f5\scratchpad\deck\icons\target_white.png">    </p:cNvPr>
          <p:cNvPicPr>
            <a:picLocks noChangeAspect="1"/>
          </p:cNvPicPr>
          <p:nvPr/>
        </p:nvPicPr>
        <p:blipFill>
          <a:blip r:embed="rId3"/>
          <a:stretch>
            <a:fillRect/>
          </a:stretch>
        </p:blipFill>
        <p:spPr>
          <a:xfrm>
            <a:off x="8546211" y="2282571"/>
            <a:ext cx="326898" cy="326898"/>
          </a:xfrm>
          <a:prstGeom prst="rect">
            <a:avLst/>
          </a:prstGeom>
        </p:spPr>
      </p:pic>
      <p:sp>
        <p:nvSpPr>
          <p:cNvPr id="17" name="Text 12"/>
          <p:cNvSpPr/>
          <p:nvPr/>
        </p:nvSpPr>
        <p:spPr>
          <a:xfrm>
            <a:off x="8412480" y="2880360"/>
            <a:ext cx="2880360" cy="45720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Fit is a guess</a:t>
            </a:r>
            <a:endParaRPr lang="en-US" sz="1500" dirty="0"/>
          </a:p>
        </p:txBody>
      </p:sp>
      <p:sp>
        <p:nvSpPr>
          <p:cNvPr id="18" name="Text 13"/>
          <p:cNvSpPr/>
          <p:nvPr/>
        </p:nvSpPr>
        <p:spPr>
          <a:xfrm>
            <a:off x="8412480" y="3337560"/>
            <a:ext cx="2880360" cy="1051560"/>
          </a:xfrm>
          <a:prstGeom prst="rect">
            <a:avLst/>
          </a:prstGeom>
          <a:noFill/>
          <a:ln/>
        </p:spPr>
        <p:txBody>
          <a:bodyPr wrap="square" rtlCol="0" anchor="ctr"/>
          <a:lstStyle/>
          <a:p>
            <a:pPr indent="0" marL="0">
              <a:lnSpc>
                <a:spcPct val="120000"/>
              </a:lnSpc>
              <a:buNone/>
            </a:pPr>
            <a:r>
              <a:rPr lang="en-US" sz="1150" dirty="0">
                <a:solidFill>
                  <a:srgbClr val="454B6B"/>
                </a:solidFill>
                <a:latin typeface="Calibri" pitchFamily="34" charset="0"/>
                <a:ea typeface="Calibri" pitchFamily="34" charset="-122"/>
                <a:cs typeface="Calibri" pitchFamily="34" charset="-120"/>
              </a:rPr>
              <a:t>Students apply broadly with no idea how well they match a role, or what skill gap stands between them and a competitive application.</a:t>
            </a:r>
            <a:endParaRPr lang="en-US" sz="1150" dirty="0"/>
          </a:p>
        </p:txBody>
      </p:sp>
      <p:sp>
        <p:nvSpPr>
          <p:cNvPr id="19" name="Shape 14"/>
          <p:cNvSpPr/>
          <p:nvPr/>
        </p:nvSpPr>
        <p:spPr>
          <a:xfrm>
            <a:off x="640080" y="4800600"/>
            <a:ext cx="10927080" cy="1005840"/>
          </a:xfrm>
          <a:prstGeom prst="roundRect">
            <a:avLst>
              <a:gd name="adj" fmla="val 7273"/>
            </a:avLst>
          </a:prstGeom>
          <a:solidFill>
            <a:srgbClr val="1E2761"/>
          </a:solidFill>
          <a:ln w="12700">
            <a:solidFill>
              <a:srgbClr val="1E2761"/>
            </a:solidFill>
            <a:prstDash val="solid"/>
          </a:ln>
        </p:spPr>
      </p:sp>
      <p:sp>
        <p:nvSpPr>
          <p:cNvPr id="20" name="Shape 15"/>
          <p:cNvSpPr/>
          <p:nvPr/>
        </p:nvSpPr>
        <p:spPr>
          <a:xfrm>
            <a:off x="914400" y="5029200"/>
            <a:ext cx="548640" cy="548640"/>
          </a:xfrm>
          <a:prstGeom prst="ellipse">
            <a:avLst/>
          </a:prstGeom>
          <a:solidFill>
            <a:srgbClr val="02C39A"/>
          </a:solidFill>
          <a:ln/>
        </p:spPr>
      </p:sp>
      <p:pic>
        <p:nvPicPr>
          <p:cNvPr id="21" name="Image 3" descr="C:\Users\Niharika\AppData\Local\Temp\claude\C--Users-Niharika-Linkedout\10362697-8d2a-4530-a202-c572b85676f5\scratchpad\deck\icons\flag_white.png">    </p:cNvPr>
          <p:cNvPicPr>
            <a:picLocks noChangeAspect="1"/>
          </p:cNvPicPr>
          <p:nvPr/>
        </p:nvPicPr>
        <p:blipFill>
          <a:blip r:embed="rId4"/>
          <a:stretch>
            <a:fillRect/>
          </a:stretch>
        </p:blipFill>
        <p:spPr>
          <a:xfrm>
            <a:off x="1037844" y="5152644"/>
            <a:ext cx="301752" cy="301752"/>
          </a:xfrm>
          <a:prstGeom prst="rect">
            <a:avLst/>
          </a:prstGeom>
        </p:spPr>
      </p:pic>
      <p:sp>
        <p:nvSpPr>
          <p:cNvPr id="22" name="Text 16"/>
          <p:cNvSpPr/>
          <p:nvPr/>
        </p:nvSpPr>
        <p:spPr>
          <a:xfrm>
            <a:off x="1645920" y="4937760"/>
            <a:ext cx="9052560" cy="777240"/>
          </a:xfrm>
          <a:prstGeom prst="rect">
            <a:avLst/>
          </a:prstGeom>
          <a:noFill/>
          <a:ln/>
        </p:spPr>
        <p:txBody>
          <a:bodyPr wrap="square" rtlCol="0" anchor="ctr"/>
          <a:lstStyle/>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And our own college has none of this. </a:t>
            </a:r>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There is no internship portal at all — students rely entirely on forwarded links and screenshots.</a:t>
            </a:r>
            <a:endParaRPr lang="en-US" sz="1300" dirty="0"/>
          </a:p>
        </p:txBody>
      </p:sp>
      <p:sp>
        <p:nvSpPr>
          <p:cNvPr id="24" name="Text 17"/>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25" name="Text 18"/>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WHY EXISTING TOOLS FAIL</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Aggregators list jobs. They don't screen or guide.</a:t>
            </a:r>
            <a:endParaRPr lang="en-US" sz="2800" dirty="0"/>
          </a:p>
        </p:txBody>
      </p:sp>
      <p:sp>
        <p:nvSpPr>
          <p:cNvPr id="4" name="Text 2"/>
          <p:cNvSpPr/>
          <p:nvPr/>
        </p:nvSpPr>
        <p:spPr>
          <a:xfrm>
            <a:off x="640080" y="1783080"/>
            <a:ext cx="3703320" cy="640080"/>
          </a:xfrm>
          <a:prstGeom prst="rect">
            <a:avLst/>
          </a:prstGeom>
          <a:noFill/>
          <a:ln/>
        </p:spPr>
        <p:txBody>
          <a:bodyPr wrap="square" rtlCol="0" anchor="b"/>
          <a:lstStyle/>
          <a:p>
            <a:pPr indent="0" marL="0">
              <a:buNone/>
            </a:pPr>
            <a:r>
              <a:rPr lang="en-US" sz="1100" b="1" dirty="0">
                <a:solidFill>
                  <a:srgbClr val="7B81A3"/>
                </a:solidFill>
                <a:latin typeface="Calibri" pitchFamily="34" charset="0"/>
                <a:ea typeface="Calibri" pitchFamily="34" charset="-122"/>
                <a:cs typeface="Calibri" pitchFamily="34" charset="-120"/>
              </a:rPr>
              <a:t>Capability</a:t>
            </a:r>
            <a:endParaRPr lang="en-US" sz="1100" dirty="0"/>
          </a:p>
        </p:txBody>
      </p:sp>
      <p:sp>
        <p:nvSpPr>
          <p:cNvPr id="5" name="Text 3"/>
          <p:cNvSpPr/>
          <p:nvPr/>
        </p:nvSpPr>
        <p:spPr>
          <a:xfrm>
            <a:off x="4480560" y="1783080"/>
            <a:ext cx="1965960" cy="640080"/>
          </a:xfrm>
          <a:prstGeom prst="rect">
            <a:avLst/>
          </a:prstGeom>
          <a:noFill/>
          <a:ln/>
        </p:spPr>
        <p:txBody>
          <a:bodyPr wrap="square" rtlCol="0" anchor="b"/>
          <a:lstStyle/>
          <a:p>
            <a:pPr algn="ctr" indent="0" marL="0">
              <a:buNone/>
            </a:pPr>
            <a:r>
              <a:rPr lang="en-US" sz="1050" b="1" dirty="0">
                <a:solidFill>
                  <a:srgbClr val="7B81A3"/>
                </a:solidFill>
                <a:latin typeface="Calibri" pitchFamily="34" charset="0"/>
                <a:ea typeface="Calibri" pitchFamily="34" charset="-122"/>
                <a:cs typeface="Calibri" pitchFamily="34" charset="-120"/>
              </a:rPr>
              <a:t>Aggregators</a:t>
            </a:r>
            <a:endParaRPr lang="en-US" sz="1050" dirty="0"/>
          </a:p>
          <a:p>
            <a:pPr algn="ctr" indent="0" marL="0">
              <a:buNone/>
            </a:pPr>
            <a:r>
              <a:rPr lang="en-US" sz="1050" b="1" dirty="0">
                <a:solidFill>
                  <a:srgbClr val="7B81A3"/>
                </a:solidFill>
                <a:latin typeface="Calibri" pitchFamily="34" charset="0"/>
                <a:ea typeface="Calibri" pitchFamily="34" charset="-122"/>
                <a:cs typeface="Calibri" pitchFamily="34" charset="-120"/>
              </a:rPr>
              <a:t>(LinkedIn / Internshala / Unstop)</a:t>
            </a:r>
            <a:endParaRPr lang="en-US" sz="1050" dirty="0"/>
          </a:p>
        </p:txBody>
      </p:sp>
      <p:sp>
        <p:nvSpPr>
          <p:cNvPr id="6" name="Text 4"/>
          <p:cNvSpPr/>
          <p:nvPr/>
        </p:nvSpPr>
        <p:spPr>
          <a:xfrm>
            <a:off x="6720840" y="1783080"/>
            <a:ext cx="1965960" cy="640080"/>
          </a:xfrm>
          <a:prstGeom prst="rect">
            <a:avLst/>
          </a:prstGeom>
          <a:noFill/>
          <a:ln/>
        </p:spPr>
        <p:txBody>
          <a:bodyPr wrap="square" rtlCol="0" anchor="b"/>
          <a:lstStyle/>
          <a:p>
            <a:pPr algn="ctr" indent="0" marL="0">
              <a:buNone/>
            </a:pPr>
            <a:r>
              <a:rPr lang="en-US" sz="1050" b="1" dirty="0">
                <a:solidFill>
                  <a:srgbClr val="7B81A3"/>
                </a:solidFill>
                <a:latin typeface="Calibri" pitchFamily="34" charset="0"/>
                <a:ea typeface="Calibri" pitchFamily="34" charset="-122"/>
                <a:cs typeface="Calibri" pitchFamily="34" charset="-120"/>
              </a:rPr>
              <a:t>Our College</a:t>
            </a:r>
            <a:endParaRPr lang="en-US" sz="1050" dirty="0"/>
          </a:p>
          <a:p>
            <a:pPr algn="ctr" indent="0" marL="0">
              <a:buNone/>
            </a:pPr>
            <a:r>
              <a:rPr lang="en-US" sz="1050" b="1" dirty="0">
                <a:solidFill>
                  <a:srgbClr val="7B81A3"/>
                </a:solidFill>
                <a:latin typeface="Calibri" pitchFamily="34" charset="0"/>
                <a:ea typeface="Calibri" pitchFamily="34" charset="-122"/>
                <a:cs typeface="Calibri" pitchFamily="34" charset="-120"/>
              </a:rPr>
              <a:t>today</a:t>
            </a:r>
            <a:endParaRPr lang="en-US" sz="1050" dirty="0"/>
          </a:p>
        </p:txBody>
      </p:sp>
      <p:sp>
        <p:nvSpPr>
          <p:cNvPr id="7" name="Text 5"/>
          <p:cNvSpPr/>
          <p:nvPr/>
        </p:nvSpPr>
        <p:spPr>
          <a:xfrm>
            <a:off x="8961120" y="1783080"/>
            <a:ext cx="1965960" cy="640080"/>
          </a:xfrm>
          <a:prstGeom prst="rect">
            <a:avLst/>
          </a:prstGeom>
          <a:noFill/>
          <a:ln/>
        </p:spPr>
        <p:txBody>
          <a:bodyPr wrap="square" rtlCol="0" anchor="b"/>
          <a:lstStyle/>
          <a:p>
            <a:pPr algn="ctr" indent="0" marL="0">
              <a:buNone/>
            </a:pPr>
            <a:r>
              <a:rPr lang="en-US" sz="1050" b="1" dirty="0">
                <a:solidFill>
                  <a:srgbClr val="02C39A"/>
                </a:solidFill>
                <a:latin typeface="Calibri" pitchFamily="34" charset="0"/>
                <a:ea typeface="Calibri" pitchFamily="34" charset="-122"/>
                <a:cs typeface="Calibri" pitchFamily="34" charset="-120"/>
              </a:rPr>
              <a:t>LinkedOut</a:t>
            </a:r>
            <a:endParaRPr lang="en-US" sz="1050" dirty="0"/>
          </a:p>
        </p:txBody>
      </p:sp>
      <p:sp>
        <p:nvSpPr>
          <p:cNvPr id="8" name="Shape 6"/>
          <p:cNvSpPr/>
          <p:nvPr/>
        </p:nvSpPr>
        <p:spPr>
          <a:xfrm>
            <a:off x="640080" y="2423160"/>
            <a:ext cx="10058400" cy="512064"/>
          </a:xfrm>
          <a:prstGeom prst="roundRect">
            <a:avLst>
              <a:gd name="adj" fmla="val 8929"/>
            </a:avLst>
          </a:prstGeom>
          <a:solidFill>
            <a:srgbClr val="F7F9FE"/>
          </a:solidFill>
          <a:ln/>
        </p:spPr>
      </p:sp>
      <p:sp>
        <p:nvSpPr>
          <p:cNvPr id="9" name="Text 7"/>
          <p:cNvSpPr/>
          <p:nvPr/>
        </p:nvSpPr>
        <p:spPr>
          <a:xfrm>
            <a:off x="777240" y="2468880"/>
            <a:ext cx="3566160" cy="566928"/>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One trustworthy feed</a:t>
            </a:r>
            <a:endParaRPr lang="en-US" sz="1200" dirty="0"/>
          </a:p>
        </p:txBody>
      </p:sp>
      <p:sp>
        <p:nvSpPr>
          <p:cNvPr id="10" name="Shape 8"/>
          <p:cNvSpPr/>
          <p:nvPr/>
        </p:nvSpPr>
        <p:spPr>
          <a:xfrm>
            <a:off x="5262372" y="2551176"/>
            <a:ext cx="402336" cy="402336"/>
          </a:xfrm>
          <a:prstGeom prst="ellipse">
            <a:avLst/>
          </a:prstGeom>
          <a:solidFill>
            <a:srgbClr val="D7DCEF"/>
          </a:solidFill>
          <a:ln/>
        </p:spPr>
      </p:sp>
      <p:pic>
        <p:nvPicPr>
          <p:cNvPr id="11" name="Image 0" descr="C:\Users\Niharika\AppData\Local\Temp\claude\C--Users-Niharika-Linkedout\10362697-8d2a-4530-a202-c572b85676f5\scratchpad\deck\icons\x_white.png">    </p:cNvPr>
          <p:cNvPicPr>
            <a:picLocks noChangeAspect="1"/>
          </p:cNvPicPr>
          <p:nvPr/>
        </p:nvPicPr>
        <p:blipFill>
          <a:blip r:embed="rId1"/>
          <a:stretch>
            <a:fillRect/>
          </a:stretch>
        </p:blipFill>
        <p:spPr>
          <a:xfrm>
            <a:off x="5352898" y="2641702"/>
            <a:ext cx="221285" cy="221285"/>
          </a:xfrm>
          <a:prstGeom prst="rect">
            <a:avLst/>
          </a:prstGeom>
        </p:spPr>
      </p:pic>
      <p:sp>
        <p:nvSpPr>
          <p:cNvPr id="12" name="Shape 9"/>
          <p:cNvSpPr/>
          <p:nvPr/>
        </p:nvSpPr>
        <p:spPr>
          <a:xfrm>
            <a:off x="7502652" y="2551176"/>
            <a:ext cx="402336" cy="402336"/>
          </a:xfrm>
          <a:prstGeom prst="ellipse">
            <a:avLst/>
          </a:prstGeom>
          <a:solidFill>
            <a:srgbClr val="D7DCEF"/>
          </a:solidFill>
          <a:ln/>
        </p:spPr>
      </p:sp>
      <p:pic>
        <p:nvPicPr>
          <p:cNvPr id="13" name="Image 1" descr="C:\Users\Niharika\AppData\Local\Temp\claude\C--Users-Niharika-Linkedout\10362697-8d2a-4530-a202-c572b85676f5\scratchpad\deck\icons\x_white.png">    </p:cNvPr>
          <p:cNvPicPr>
            <a:picLocks noChangeAspect="1"/>
          </p:cNvPicPr>
          <p:nvPr/>
        </p:nvPicPr>
        <p:blipFill>
          <a:blip r:embed="rId2"/>
          <a:stretch>
            <a:fillRect/>
          </a:stretch>
        </p:blipFill>
        <p:spPr>
          <a:xfrm>
            <a:off x="7593178" y="2641702"/>
            <a:ext cx="221285" cy="221285"/>
          </a:xfrm>
          <a:prstGeom prst="rect">
            <a:avLst/>
          </a:prstGeom>
        </p:spPr>
      </p:pic>
      <p:sp>
        <p:nvSpPr>
          <p:cNvPr id="14" name="Shape 10"/>
          <p:cNvSpPr/>
          <p:nvPr/>
        </p:nvSpPr>
        <p:spPr>
          <a:xfrm>
            <a:off x="9742932" y="2551176"/>
            <a:ext cx="402336" cy="402336"/>
          </a:xfrm>
          <a:prstGeom prst="ellipse">
            <a:avLst/>
          </a:prstGeom>
          <a:solidFill>
            <a:srgbClr val="02C39A"/>
          </a:solidFill>
          <a:ln/>
        </p:spPr>
      </p:sp>
      <p:pic>
        <p:nvPicPr>
          <p:cNvPr id="15" name="Image 2" descr="C:\Users\Niharika\AppData\Local\Temp\claude\C--Users-Niharika-Linkedout\10362697-8d2a-4530-a202-c572b85676f5\scratchpad\deck\icons\check_white.png">    </p:cNvPr>
          <p:cNvPicPr>
            <a:picLocks noChangeAspect="1"/>
          </p:cNvPicPr>
          <p:nvPr/>
        </p:nvPicPr>
        <p:blipFill>
          <a:blip r:embed="rId3"/>
          <a:stretch>
            <a:fillRect/>
          </a:stretch>
        </p:blipFill>
        <p:spPr>
          <a:xfrm>
            <a:off x="9823399" y="2631643"/>
            <a:ext cx="241402" cy="241402"/>
          </a:xfrm>
          <a:prstGeom prst="rect">
            <a:avLst/>
          </a:prstGeom>
        </p:spPr>
      </p:pic>
      <p:sp>
        <p:nvSpPr>
          <p:cNvPr id="16" name="Text 11"/>
          <p:cNvSpPr/>
          <p:nvPr/>
        </p:nvSpPr>
        <p:spPr>
          <a:xfrm>
            <a:off x="777240" y="3035808"/>
            <a:ext cx="3566160" cy="566928"/>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Scam / fraud screening</a:t>
            </a:r>
            <a:endParaRPr lang="en-US" sz="1200" dirty="0"/>
          </a:p>
        </p:txBody>
      </p:sp>
      <p:sp>
        <p:nvSpPr>
          <p:cNvPr id="17" name="Shape 12"/>
          <p:cNvSpPr/>
          <p:nvPr/>
        </p:nvSpPr>
        <p:spPr>
          <a:xfrm>
            <a:off x="5262372" y="3118104"/>
            <a:ext cx="402336" cy="402336"/>
          </a:xfrm>
          <a:prstGeom prst="ellipse">
            <a:avLst/>
          </a:prstGeom>
          <a:solidFill>
            <a:srgbClr val="D7DCEF"/>
          </a:solidFill>
          <a:ln/>
        </p:spPr>
      </p:sp>
      <p:pic>
        <p:nvPicPr>
          <p:cNvPr id="18" name="Image 3" descr="C:\Users\Niharika\AppData\Local\Temp\claude\C--Users-Niharika-Linkedout\10362697-8d2a-4530-a202-c572b85676f5\scratchpad\deck\icons\x_white.png">    </p:cNvPr>
          <p:cNvPicPr>
            <a:picLocks noChangeAspect="1"/>
          </p:cNvPicPr>
          <p:nvPr/>
        </p:nvPicPr>
        <p:blipFill>
          <a:blip r:embed="rId4"/>
          <a:stretch>
            <a:fillRect/>
          </a:stretch>
        </p:blipFill>
        <p:spPr>
          <a:xfrm>
            <a:off x="5352898" y="3208630"/>
            <a:ext cx="221285" cy="221285"/>
          </a:xfrm>
          <a:prstGeom prst="rect">
            <a:avLst/>
          </a:prstGeom>
        </p:spPr>
      </p:pic>
      <p:sp>
        <p:nvSpPr>
          <p:cNvPr id="19" name="Shape 13"/>
          <p:cNvSpPr/>
          <p:nvPr/>
        </p:nvSpPr>
        <p:spPr>
          <a:xfrm>
            <a:off x="7502652" y="3118104"/>
            <a:ext cx="402336" cy="402336"/>
          </a:xfrm>
          <a:prstGeom prst="ellipse">
            <a:avLst/>
          </a:prstGeom>
          <a:solidFill>
            <a:srgbClr val="D7DCEF"/>
          </a:solidFill>
          <a:ln/>
        </p:spPr>
      </p:sp>
      <p:pic>
        <p:nvPicPr>
          <p:cNvPr id="20" name="Image 4" descr="C:\Users\Niharika\AppData\Local\Temp\claude\C--Users-Niharika-Linkedout\10362697-8d2a-4530-a202-c572b85676f5\scratchpad\deck\icons\x_white.png">    </p:cNvPr>
          <p:cNvPicPr>
            <a:picLocks noChangeAspect="1"/>
          </p:cNvPicPr>
          <p:nvPr/>
        </p:nvPicPr>
        <p:blipFill>
          <a:blip r:embed="rId5"/>
          <a:stretch>
            <a:fillRect/>
          </a:stretch>
        </p:blipFill>
        <p:spPr>
          <a:xfrm>
            <a:off x="7593178" y="3208630"/>
            <a:ext cx="221285" cy="221285"/>
          </a:xfrm>
          <a:prstGeom prst="rect">
            <a:avLst/>
          </a:prstGeom>
        </p:spPr>
      </p:pic>
      <p:sp>
        <p:nvSpPr>
          <p:cNvPr id="21" name="Shape 14"/>
          <p:cNvSpPr/>
          <p:nvPr/>
        </p:nvSpPr>
        <p:spPr>
          <a:xfrm>
            <a:off x="9742932" y="3118104"/>
            <a:ext cx="402336" cy="402336"/>
          </a:xfrm>
          <a:prstGeom prst="ellipse">
            <a:avLst/>
          </a:prstGeom>
          <a:solidFill>
            <a:srgbClr val="02C39A"/>
          </a:solidFill>
          <a:ln/>
        </p:spPr>
      </p:sp>
      <p:pic>
        <p:nvPicPr>
          <p:cNvPr id="22" name="Image 5" descr="C:\Users\Niharika\AppData\Local\Temp\claude\C--Users-Niharika-Linkedout\10362697-8d2a-4530-a202-c572b85676f5\scratchpad\deck\icons\check_white.png">    </p:cNvPr>
          <p:cNvPicPr>
            <a:picLocks noChangeAspect="1"/>
          </p:cNvPicPr>
          <p:nvPr/>
        </p:nvPicPr>
        <p:blipFill>
          <a:blip r:embed="rId6"/>
          <a:stretch>
            <a:fillRect/>
          </a:stretch>
        </p:blipFill>
        <p:spPr>
          <a:xfrm>
            <a:off x="9823399" y="3198571"/>
            <a:ext cx="241402" cy="241402"/>
          </a:xfrm>
          <a:prstGeom prst="rect">
            <a:avLst/>
          </a:prstGeom>
        </p:spPr>
      </p:pic>
      <p:sp>
        <p:nvSpPr>
          <p:cNvPr id="23" name="Shape 15"/>
          <p:cNvSpPr/>
          <p:nvPr/>
        </p:nvSpPr>
        <p:spPr>
          <a:xfrm>
            <a:off x="640080" y="3557016"/>
            <a:ext cx="10058400" cy="512064"/>
          </a:xfrm>
          <a:prstGeom prst="roundRect">
            <a:avLst>
              <a:gd name="adj" fmla="val 8929"/>
            </a:avLst>
          </a:prstGeom>
          <a:solidFill>
            <a:srgbClr val="F7F9FE"/>
          </a:solidFill>
          <a:ln/>
        </p:spPr>
      </p:sp>
      <p:sp>
        <p:nvSpPr>
          <p:cNvPr id="24" name="Text 16"/>
          <p:cNvSpPr/>
          <p:nvPr/>
        </p:nvSpPr>
        <p:spPr>
          <a:xfrm>
            <a:off x="777240" y="3602736"/>
            <a:ext cx="3566160" cy="566928"/>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Personalized match %</a:t>
            </a:r>
            <a:endParaRPr lang="en-US" sz="1200" dirty="0"/>
          </a:p>
        </p:txBody>
      </p:sp>
      <p:sp>
        <p:nvSpPr>
          <p:cNvPr id="25" name="Shape 17"/>
          <p:cNvSpPr/>
          <p:nvPr/>
        </p:nvSpPr>
        <p:spPr>
          <a:xfrm>
            <a:off x="5262372" y="3685032"/>
            <a:ext cx="402336" cy="402336"/>
          </a:xfrm>
          <a:prstGeom prst="ellipse">
            <a:avLst/>
          </a:prstGeom>
          <a:solidFill>
            <a:srgbClr val="D7DCEF"/>
          </a:solidFill>
          <a:ln/>
        </p:spPr>
      </p:sp>
      <p:pic>
        <p:nvPicPr>
          <p:cNvPr id="26" name="Image 6" descr="C:\Users\Niharika\AppData\Local\Temp\claude\C--Users-Niharika-Linkedout\10362697-8d2a-4530-a202-c572b85676f5\scratchpad\deck\icons\x_white.png">    </p:cNvPr>
          <p:cNvPicPr>
            <a:picLocks noChangeAspect="1"/>
          </p:cNvPicPr>
          <p:nvPr/>
        </p:nvPicPr>
        <p:blipFill>
          <a:blip r:embed="rId7"/>
          <a:stretch>
            <a:fillRect/>
          </a:stretch>
        </p:blipFill>
        <p:spPr>
          <a:xfrm>
            <a:off x="5352898" y="3775558"/>
            <a:ext cx="221285" cy="221285"/>
          </a:xfrm>
          <a:prstGeom prst="rect">
            <a:avLst/>
          </a:prstGeom>
        </p:spPr>
      </p:pic>
      <p:sp>
        <p:nvSpPr>
          <p:cNvPr id="27" name="Shape 18"/>
          <p:cNvSpPr/>
          <p:nvPr/>
        </p:nvSpPr>
        <p:spPr>
          <a:xfrm>
            <a:off x="7502652" y="3685032"/>
            <a:ext cx="402336" cy="402336"/>
          </a:xfrm>
          <a:prstGeom prst="ellipse">
            <a:avLst/>
          </a:prstGeom>
          <a:solidFill>
            <a:srgbClr val="D7DCEF"/>
          </a:solidFill>
          <a:ln/>
        </p:spPr>
      </p:sp>
      <p:pic>
        <p:nvPicPr>
          <p:cNvPr id="28" name="Image 7" descr="C:\Users\Niharika\AppData\Local\Temp\claude\C--Users-Niharika-Linkedout\10362697-8d2a-4530-a202-c572b85676f5\scratchpad\deck\icons\x_white.png">    </p:cNvPr>
          <p:cNvPicPr>
            <a:picLocks noChangeAspect="1"/>
          </p:cNvPicPr>
          <p:nvPr/>
        </p:nvPicPr>
        <p:blipFill>
          <a:blip r:embed="rId8"/>
          <a:stretch>
            <a:fillRect/>
          </a:stretch>
        </p:blipFill>
        <p:spPr>
          <a:xfrm>
            <a:off x="7593178" y="3775558"/>
            <a:ext cx="221285" cy="221285"/>
          </a:xfrm>
          <a:prstGeom prst="rect">
            <a:avLst/>
          </a:prstGeom>
        </p:spPr>
      </p:pic>
      <p:sp>
        <p:nvSpPr>
          <p:cNvPr id="29" name="Shape 19"/>
          <p:cNvSpPr/>
          <p:nvPr/>
        </p:nvSpPr>
        <p:spPr>
          <a:xfrm>
            <a:off x="9742932" y="3685032"/>
            <a:ext cx="402336" cy="402336"/>
          </a:xfrm>
          <a:prstGeom prst="ellipse">
            <a:avLst/>
          </a:prstGeom>
          <a:solidFill>
            <a:srgbClr val="02C39A"/>
          </a:solidFill>
          <a:ln/>
        </p:spPr>
      </p:sp>
      <p:pic>
        <p:nvPicPr>
          <p:cNvPr id="30" name="Image 8" descr="C:\Users\Niharika\AppData\Local\Temp\claude\C--Users-Niharika-Linkedout\10362697-8d2a-4530-a202-c572b85676f5\scratchpad\deck\icons\check_white.png">    </p:cNvPr>
          <p:cNvPicPr>
            <a:picLocks noChangeAspect="1"/>
          </p:cNvPicPr>
          <p:nvPr/>
        </p:nvPicPr>
        <p:blipFill>
          <a:blip r:embed="rId9"/>
          <a:stretch>
            <a:fillRect/>
          </a:stretch>
        </p:blipFill>
        <p:spPr>
          <a:xfrm>
            <a:off x="9823399" y="3765499"/>
            <a:ext cx="241402" cy="241402"/>
          </a:xfrm>
          <a:prstGeom prst="rect">
            <a:avLst/>
          </a:prstGeom>
        </p:spPr>
      </p:pic>
      <p:sp>
        <p:nvSpPr>
          <p:cNvPr id="31" name="Text 20"/>
          <p:cNvSpPr/>
          <p:nvPr/>
        </p:nvSpPr>
        <p:spPr>
          <a:xfrm>
            <a:off x="777240" y="4169664"/>
            <a:ext cx="3566160" cy="566928"/>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Skill-gap feedback loop</a:t>
            </a:r>
            <a:endParaRPr lang="en-US" sz="1200" dirty="0"/>
          </a:p>
        </p:txBody>
      </p:sp>
      <p:sp>
        <p:nvSpPr>
          <p:cNvPr id="32" name="Shape 21"/>
          <p:cNvSpPr/>
          <p:nvPr/>
        </p:nvSpPr>
        <p:spPr>
          <a:xfrm>
            <a:off x="5262372" y="4251960"/>
            <a:ext cx="402336" cy="402336"/>
          </a:xfrm>
          <a:prstGeom prst="ellipse">
            <a:avLst/>
          </a:prstGeom>
          <a:solidFill>
            <a:srgbClr val="D7DCEF"/>
          </a:solidFill>
          <a:ln/>
        </p:spPr>
      </p:sp>
      <p:pic>
        <p:nvPicPr>
          <p:cNvPr id="33" name="Image 9" descr="C:\Users\Niharika\AppData\Local\Temp\claude\C--Users-Niharika-Linkedout\10362697-8d2a-4530-a202-c572b85676f5\scratchpad\deck\icons\x_white.png">    </p:cNvPr>
          <p:cNvPicPr>
            <a:picLocks noChangeAspect="1"/>
          </p:cNvPicPr>
          <p:nvPr/>
        </p:nvPicPr>
        <p:blipFill>
          <a:blip r:embed="rId10"/>
          <a:stretch>
            <a:fillRect/>
          </a:stretch>
        </p:blipFill>
        <p:spPr>
          <a:xfrm>
            <a:off x="5352898" y="4342486"/>
            <a:ext cx="221285" cy="221285"/>
          </a:xfrm>
          <a:prstGeom prst="rect">
            <a:avLst/>
          </a:prstGeom>
        </p:spPr>
      </p:pic>
      <p:sp>
        <p:nvSpPr>
          <p:cNvPr id="34" name="Shape 22"/>
          <p:cNvSpPr/>
          <p:nvPr/>
        </p:nvSpPr>
        <p:spPr>
          <a:xfrm>
            <a:off x="7502652" y="4251960"/>
            <a:ext cx="402336" cy="402336"/>
          </a:xfrm>
          <a:prstGeom prst="ellipse">
            <a:avLst/>
          </a:prstGeom>
          <a:solidFill>
            <a:srgbClr val="D7DCEF"/>
          </a:solidFill>
          <a:ln/>
        </p:spPr>
      </p:sp>
      <p:pic>
        <p:nvPicPr>
          <p:cNvPr id="35" name="Image 10" descr="C:\Users\Niharika\AppData\Local\Temp\claude\C--Users-Niharika-Linkedout\10362697-8d2a-4530-a202-c572b85676f5\scratchpad\deck\icons\x_white.png">    </p:cNvPr>
          <p:cNvPicPr>
            <a:picLocks noChangeAspect="1"/>
          </p:cNvPicPr>
          <p:nvPr/>
        </p:nvPicPr>
        <p:blipFill>
          <a:blip r:embed="rId11"/>
          <a:stretch>
            <a:fillRect/>
          </a:stretch>
        </p:blipFill>
        <p:spPr>
          <a:xfrm>
            <a:off x="7593178" y="4342486"/>
            <a:ext cx="221285" cy="221285"/>
          </a:xfrm>
          <a:prstGeom prst="rect">
            <a:avLst/>
          </a:prstGeom>
        </p:spPr>
      </p:pic>
      <p:sp>
        <p:nvSpPr>
          <p:cNvPr id="36" name="Shape 23"/>
          <p:cNvSpPr/>
          <p:nvPr/>
        </p:nvSpPr>
        <p:spPr>
          <a:xfrm>
            <a:off x="9742932" y="4251960"/>
            <a:ext cx="402336" cy="402336"/>
          </a:xfrm>
          <a:prstGeom prst="ellipse">
            <a:avLst/>
          </a:prstGeom>
          <a:solidFill>
            <a:srgbClr val="02C39A"/>
          </a:solidFill>
          <a:ln/>
        </p:spPr>
      </p:sp>
      <p:pic>
        <p:nvPicPr>
          <p:cNvPr id="37" name="Image 11" descr="C:\Users\Niharika\AppData\Local\Temp\claude\C--Users-Niharika-Linkedout\10362697-8d2a-4530-a202-c572b85676f5\scratchpad\deck\icons\check_white.png">    </p:cNvPr>
          <p:cNvPicPr>
            <a:picLocks noChangeAspect="1"/>
          </p:cNvPicPr>
          <p:nvPr/>
        </p:nvPicPr>
        <p:blipFill>
          <a:blip r:embed="rId12"/>
          <a:stretch>
            <a:fillRect/>
          </a:stretch>
        </p:blipFill>
        <p:spPr>
          <a:xfrm>
            <a:off x="9823399" y="4332427"/>
            <a:ext cx="241402" cy="241402"/>
          </a:xfrm>
          <a:prstGeom prst="rect">
            <a:avLst/>
          </a:prstGeom>
        </p:spPr>
      </p:pic>
      <p:sp>
        <p:nvSpPr>
          <p:cNvPr id="38" name="Shape 24"/>
          <p:cNvSpPr/>
          <p:nvPr/>
        </p:nvSpPr>
        <p:spPr>
          <a:xfrm>
            <a:off x="640080" y="4690872"/>
            <a:ext cx="10058400" cy="512064"/>
          </a:xfrm>
          <a:prstGeom prst="roundRect">
            <a:avLst>
              <a:gd name="adj" fmla="val 8929"/>
            </a:avLst>
          </a:prstGeom>
          <a:solidFill>
            <a:srgbClr val="F7F9FE"/>
          </a:solidFill>
          <a:ln/>
        </p:spPr>
      </p:sp>
      <p:sp>
        <p:nvSpPr>
          <p:cNvPr id="39" name="Text 25"/>
          <p:cNvSpPr/>
          <p:nvPr/>
        </p:nvSpPr>
        <p:spPr>
          <a:xfrm>
            <a:off x="777240" y="4736592"/>
            <a:ext cx="3566160" cy="566928"/>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Deadline &amp; match alerts</a:t>
            </a:r>
            <a:endParaRPr lang="en-US" sz="1200" dirty="0"/>
          </a:p>
        </p:txBody>
      </p:sp>
      <p:sp>
        <p:nvSpPr>
          <p:cNvPr id="40" name="Shape 26"/>
          <p:cNvSpPr/>
          <p:nvPr/>
        </p:nvSpPr>
        <p:spPr>
          <a:xfrm>
            <a:off x="5262372" y="4818888"/>
            <a:ext cx="402336" cy="402336"/>
          </a:xfrm>
          <a:prstGeom prst="ellipse">
            <a:avLst/>
          </a:prstGeom>
          <a:solidFill>
            <a:srgbClr val="E8A400"/>
          </a:solidFill>
          <a:ln/>
        </p:spPr>
      </p:sp>
      <p:pic>
        <p:nvPicPr>
          <p:cNvPr id="41" name="Image 12" descr="C:\Users\Niharika\AppData\Local\Temp\claude\C--Users-Niharika-Linkedout\10362697-8d2a-4530-a202-c572b85676f5\scratchpad\deck\icons\alert_white.png">    </p:cNvPr>
          <p:cNvPicPr>
            <a:picLocks noChangeAspect="1"/>
          </p:cNvPicPr>
          <p:nvPr/>
        </p:nvPicPr>
        <p:blipFill>
          <a:blip r:embed="rId13"/>
          <a:stretch>
            <a:fillRect/>
          </a:stretch>
        </p:blipFill>
        <p:spPr>
          <a:xfrm>
            <a:off x="5352898" y="4909414"/>
            <a:ext cx="221285" cy="221285"/>
          </a:xfrm>
          <a:prstGeom prst="rect">
            <a:avLst/>
          </a:prstGeom>
        </p:spPr>
      </p:pic>
      <p:sp>
        <p:nvSpPr>
          <p:cNvPr id="42" name="Shape 27"/>
          <p:cNvSpPr/>
          <p:nvPr/>
        </p:nvSpPr>
        <p:spPr>
          <a:xfrm>
            <a:off x="7502652" y="4818888"/>
            <a:ext cx="402336" cy="402336"/>
          </a:xfrm>
          <a:prstGeom prst="ellipse">
            <a:avLst/>
          </a:prstGeom>
          <a:solidFill>
            <a:srgbClr val="D7DCEF"/>
          </a:solidFill>
          <a:ln/>
        </p:spPr>
      </p:sp>
      <p:pic>
        <p:nvPicPr>
          <p:cNvPr id="43" name="Image 13" descr="C:\Users\Niharika\AppData\Local\Temp\claude\C--Users-Niharika-Linkedout\10362697-8d2a-4530-a202-c572b85676f5\scratchpad\deck\icons\x_white.png">    </p:cNvPr>
          <p:cNvPicPr>
            <a:picLocks noChangeAspect="1"/>
          </p:cNvPicPr>
          <p:nvPr/>
        </p:nvPicPr>
        <p:blipFill>
          <a:blip r:embed="rId14"/>
          <a:stretch>
            <a:fillRect/>
          </a:stretch>
        </p:blipFill>
        <p:spPr>
          <a:xfrm>
            <a:off x="7593178" y="4909414"/>
            <a:ext cx="221285" cy="221285"/>
          </a:xfrm>
          <a:prstGeom prst="rect">
            <a:avLst/>
          </a:prstGeom>
        </p:spPr>
      </p:pic>
      <p:sp>
        <p:nvSpPr>
          <p:cNvPr id="44" name="Shape 28"/>
          <p:cNvSpPr/>
          <p:nvPr/>
        </p:nvSpPr>
        <p:spPr>
          <a:xfrm>
            <a:off x="9742932" y="4818888"/>
            <a:ext cx="402336" cy="402336"/>
          </a:xfrm>
          <a:prstGeom prst="ellipse">
            <a:avLst/>
          </a:prstGeom>
          <a:solidFill>
            <a:srgbClr val="02C39A"/>
          </a:solidFill>
          <a:ln/>
        </p:spPr>
      </p:sp>
      <p:pic>
        <p:nvPicPr>
          <p:cNvPr id="45" name="Image 14" descr="C:\Users\Niharika\AppData\Local\Temp\claude\C--Users-Niharika-Linkedout\10362697-8d2a-4530-a202-c572b85676f5\scratchpad\deck\icons\check_white.png">    </p:cNvPr>
          <p:cNvPicPr>
            <a:picLocks noChangeAspect="1"/>
          </p:cNvPicPr>
          <p:nvPr/>
        </p:nvPicPr>
        <p:blipFill>
          <a:blip r:embed="rId15"/>
          <a:stretch>
            <a:fillRect/>
          </a:stretch>
        </p:blipFill>
        <p:spPr>
          <a:xfrm>
            <a:off x="9823399" y="4899355"/>
            <a:ext cx="241402" cy="241402"/>
          </a:xfrm>
          <a:prstGeom prst="rect">
            <a:avLst/>
          </a:prstGeom>
        </p:spPr>
      </p:pic>
      <p:sp>
        <p:nvSpPr>
          <p:cNvPr id="46" name="Text 29"/>
          <p:cNvSpPr/>
          <p:nvPr/>
        </p:nvSpPr>
        <p:spPr>
          <a:xfrm>
            <a:off x="777240" y="5303520"/>
            <a:ext cx="3566160" cy="566928"/>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Admin-tunable &amp; auditable</a:t>
            </a:r>
            <a:endParaRPr lang="en-US" sz="1200" dirty="0"/>
          </a:p>
        </p:txBody>
      </p:sp>
      <p:sp>
        <p:nvSpPr>
          <p:cNvPr id="47" name="Shape 30"/>
          <p:cNvSpPr/>
          <p:nvPr/>
        </p:nvSpPr>
        <p:spPr>
          <a:xfrm>
            <a:off x="5262372" y="5385816"/>
            <a:ext cx="402336" cy="402336"/>
          </a:xfrm>
          <a:prstGeom prst="ellipse">
            <a:avLst/>
          </a:prstGeom>
          <a:solidFill>
            <a:srgbClr val="D7DCEF"/>
          </a:solidFill>
          <a:ln/>
        </p:spPr>
      </p:sp>
      <p:pic>
        <p:nvPicPr>
          <p:cNvPr id="48" name="Image 15" descr="C:\Users\Niharika\AppData\Local\Temp\claude\C--Users-Niharika-Linkedout\10362697-8d2a-4530-a202-c572b85676f5\scratchpad\deck\icons\x_white.png">    </p:cNvPr>
          <p:cNvPicPr>
            <a:picLocks noChangeAspect="1"/>
          </p:cNvPicPr>
          <p:nvPr/>
        </p:nvPicPr>
        <p:blipFill>
          <a:blip r:embed="rId16"/>
          <a:stretch>
            <a:fillRect/>
          </a:stretch>
        </p:blipFill>
        <p:spPr>
          <a:xfrm>
            <a:off x="5352898" y="5476342"/>
            <a:ext cx="221285" cy="221285"/>
          </a:xfrm>
          <a:prstGeom prst="rect">
            <a:avLst/>
          </a:prstGeom>
        </p:spPr>
      </p:pic>
      <p:sp>
        <p:nvSpPr>
          <p:cNvPr id="49" name="Shape 31"/>
          <p:cNvSpPr/>
          <p:nvPr/>
        </p:nvSpPr>
        <p:spPr>
          <a:xfrm>
            <a:off x="7502652" y="5385816"/>
            <a:ext cx="402336" cy="402336"/>
          </a:xfrm>
          <a:prstGeom prst="ellipse">
            <a:avLst/>
          </a:prstGeom>
          <a:solidFill>
            <a:srgbClr val="D7DCEF"/>
          </a:solidFill>
          <a:ln/>
        </p:spPr>
      </p:sp>
      <p:pic>
        <p:nvPicPr>
          <p:cNvPr id="50" name="Image 16" descr="C:\Users\Niharika\AppData\Local\Temp\claude\C--Users-Niharika-Linkedout\10362697-8d2a-4530-a202-c572b85676f5\scratchpad\deck\icons\x_white.png">    </p:cNvPr>
          <p:cNvPicPr>
            <a:picLocks noChangeAspect="1"/>
          </p:cNvPicPr>
          <p:nvPr/>
        </p:nvPicPr>
        <p:blipFill>
          <a:blip r:embed="rId17"/>
          <a:stretch>
            <a:fillRect/>
          </a:stretch>
        </p:blipFill>
        <p:spPr>
          <a:xfrm>
            <a:off x="7593178" y="5476342"/>
            <a:ext cx="221285" cy="221285"/>
          </a:xfrm>
          <a:prstGeom prst="rect">
            <a:avLst/>
          </a:prstGeom>
        </p:spPr>
      </p:pic>
      <p:sp>
        <p:nvSpPr>
          <p:cNvPr id="51" name="Shape 32"/>
          <p:cNvSpPr/>
          <p:nvPr/>
        </p:nvSpPr>
        <p:spPr>
          <a:xfrm>
            <a:off x="9742932" y="5385816"/>
            <a:ext cx="402336" cy="402336"/>
          </a:xfrm>
          <a:prstGeom prst="ellipse">
            <a:avLst/>
          </a:prstGeom>
          <a:solidFill>
            <a:srgbClr val="02C39A"/>
          </a:solidFill>
          <a:ln/>
        </p:spPr>
      </p:sp>
      <p:pic>
        <p:nvPicPr>
          <p:cNvPr id="52" name="Image 17" descr="C:\Users\Niharika\AppData\Local\Temp\claude\C--Users-Niharika-Linkedout\10362697-8d2a-4530-a202-c572b85676f5\scratchpad\deck\icons\check_white.png">    </p:cNvPr>
          <p:cNvPicPr>
            <a:picLocks noChangeAspect="1"/>
          </p:cNvPicPr>
          <p:nvPr/>
        </p:nvPicPr>
        <p:blipFill>
          <a:blip r:embed="rId18"/>
          <a:stretch>
            <a:fillRect/>
          </a:stretch>
        </p:blipFill>
        <p:spPr>
          <a:xfrm>
            <a:off x="9823399" y="5466283"/>
            <a:ext cx="241402" cy="241402"/>
          </a:xfrm>
          <a:prstGeom prst="rect">
            <a:avLst/>
          </a:prstGeom>
        </p:spPr>
      </p:pic>
      <p:sp>
        <p:nvSpPr>
          <p:cNvPr id="53" name="Text 33"/>
          <p:cNvSpPr/>
          <p:nvPr/>
        </p:nvSpPr>
        <p:spPr>
          <a:xfrm>
            <a:off x="640080" y="6007608"/>
            <a:ext cx="10881360" cy="457200"/>
          </a:xfrm>
          <a:prstGeom prst="rect">
            <a:avLst/>
          </a:prstGeom>
          <a:noFill/>
          <a:ln/>
        </p:spPr>
        <p:txBody>
          <a:bodyPr wrap="square" rtlCol="0" anchor="ctr"/>
          <a:lstStyle/>
          <a:p>
            <a:pPr indent="0" marL="0">
              <a:buNone/>
            </a:pPr>
            <a:r>
              <a:rPr lang="en-US" sz="1250" i="1" dirty="0">
                <a:solidFill>
                  <a:srgbClr val="454B6B"/>
                </a:solidFill>
                <a:latin typeface="Calibri" pitchFamily="34" charset="0"/>
                <a:ea typeface="Calibri" pitchFamily="34" charset="-122"/>
                <a:cs typeface="Calibri" pitchFamily="34" charset="-120"/>
              </a:rPr>
              <a:t>Aggregators solve reach, not trust or fit. Our college has neither. LinkedOut is built to close both gaps for one campus first.</a:t>
            </a:r>
            <a:endParaRPr lang="en-US" sz="1250" dirty="0"/>
          </a:p>
        </p:txBody>
      </p:sp>
      <p:sp>
        <p:nvSpPr>
          <p:cNvPr id="55" name="Text 34"/>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56" name="Text 3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01200" y="3840480"/>
            <a:ext cx="4572000" cy="4572000"/>
          </a:xfrm>
          <a:prstGeom prst="ellipse">
            <a:avLst/>
          </a:prstGeom>
          <a:solidFill>
            <a:srgbClr val="273080"/>
          </a:solidFill>
          <a:ln/>
        </p:spPr>
      </p:sp>
      <p:sp>
        <p:nvSpPr>
          <p:cNvPr id="3" name="Text 1"/>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OUR SOLUTION</a:t>
            </a:r>
            <a:endParaRPr lang="en-US" sz="1300" dirty="0"/>
          </a:p>
        </p:txBody>
      </p:sp>
      <p:sp>
        <p:nvSpPr>
          <p:cNvPr id="4" name="Text 2"/>
          <p:cNvSpPr txBox="1"/>
          <p:nvPr/>
        </p:nvSpPr>
        <p:spPr>
          <a:xfrm>
            <a:off x="640080" y="777240"/>
            <a:ext cx="10789920" cy="868680"/>
          </a:xfrm>
          <a:prstGeom prst="rect">
            <a:avLst/>
          </a:prstGeom>
          <a:noFill/>
          <a:ln/>
        </p:spPr>
        <p:txBody>
          <a:bodyPr wrap="square"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One feed. Screened for scams. Scored for fit.</a:t>
            </a:r>
            <a:endParaRPr lang="en-US" sz="3000" dirty="0"/>
          </a:p>
        </p:txBody>
      </p:sp>
      <p:sp>
        <p:nvSpPr>
          <p:cNvPr id="5" name="Text 3"/>
          <p:cNvSpPr/>
          <p:nvPr/>
        </p:nvSpPr>
        <p:spPr>
          <a:xfrm>
            <a:off x="640080" y="1691640"/>
            <a:ext cx="7863840" cy="1051560"/>
          </a:xfrm>
          <a:prstGeom prst="rect">
            <a:avLst/>
          </a:prstGeom>
          <a:noFill/>
          <a:ln/>
        </p:spPr>
        <p:txBody>
          <a:bodyPr wrap="square" rtlCol="0" anchor="ctr"/>
          <a:lstStyle/>
          <a:p>
            <a:pPr indent="0" marL="0">
              <a:lnSpc>
                <a:spcPct val="130000"/>
              </a:lnSpc>
              <a:buNone/>
            </a:pPr>
            <a:r>
              <a:rPr lang="en-US" sz="1350" dirty="0">
                <a:solidFill>
                  <a:srgbClr val="CADCFC"/>
                </a:solidFill>
                <a:latin typeface="Calibri" pitchFamily="34" charset="0"/>
                <a:ea typeface="Calibri" pitchFamily="34" charset="-122"/>
                <a:cs typeface="Calibri" pitchFamily="34" charset="-120"/>
              </a:rPr>
              <a:t>LinkedOut aggregates internships automatically and manually, runs every scraped listing through an explainable trust filter before a student ever sees it, and computes a personalized match score with a recommended learning path — then manages the full application lifecycle end to end.</a:t>
            </a:r>
            <a:endParaRPr lang="en-US" sz="1350" dirty="0"/>
          </a:p>
        </p:txBody>
      </p:sp>
      <p:sp>
        <p:nvSpPr>
          <p:cNvPr id="6" name="Shape 4"/>
          <p:cNvSpPr/>
          <p:nvPr/>
        </p:nvSpPr>
        <p:spPr>
          <a:xfrm>
            <a:off x="640080" y="2971800"/>
            <a:ext cx="2606040" cy="2651760"/>
          </a:xfrm>
          <a:prstGeom prst="roundRect">
            <a:avLst>
              <a:gd name="adj" fmla="val 2807"/>
            </a:avLst>
          </a:prstGeom>
          <a:solidFill>
            <a:srgbClr val="273080"/>
          </a:solidFill>
          <a:ln w="12700">
            <a:solidFill>
              <a:srgbClr val="3A44A0"/>
            </a:solidFill>
            <a:prstDash val="solid"/>
          </a:ln>
        </p:spPr>
      </p:sp>
      <p:sp>
        <p:nvSpPr>
          <p:cNvPr id="7" name="Shape 5"/>
          <p:cNvSpPr/>
          <p:nvPr/>
        </p:nvSpPr>
        <p:spPr>
          <a:xfrm>
            <a:off x="896112" y="3209544"/>
            <a:ext cx="457200" cy="457200"/>
          </a:xfrm>
          <a:prstGeom prst="ellipse">
            <a:avLst/>
          </a:prstGeom>
          <a:solidFill>
            <a:srgbClr val="02C39A"/>
          </a:solidFill>
          <a:ln/>
        </p:spPr>
      </p:sp>
      <p:pic>
        <p:nvPicPr>
          <p:cNvPr id="8" name="Image 0" descr="C:\Users\Niharika\AppData\Local\Temp\claude\C--Users-Niharika-Linkedout\10362697-8d2a-4530-a202-c572b85676f5\scratchpad\deck\icons\upload_white.png">    </p:cNvPr>
          <p:cNvPicPr>
            <a:picLocks noChangeAspect="1"/>
          </p:cNvPicPr>
          <p:nvPr/>
        </p:nvPicPr>
        <p:blipFill>
          <a:blip r:embed="rId1"/>
          <a:stretch>
            <a:fillRect/>
          </a:stretch>
        </p:blipFill>
        <p:spPr>
          <a:xfrm>
            <a:off x="998982" y="3312414"/>
            <a:ext cx="251460" cy="251460"/>
          </a:xfrm>
          <a:prstGeom prst="rect">
            <a:avLst/>
          </a:prstGeom>
        </p:spPr>
      </p:pic>
      <p:sp>
        <p:nvSpPr>
          <p:cNvPr id="9" name="Text 6"/>
          <p:cNvSpPr/>
          <p:nvPr/>
        </p:nvSpPr>
        <p:spPr>
          <a:xfrm>
            <a:off x="1517904" y="3172968"/>
            <a:ext cx="15453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Aggregate</a:t>
            </a:r>
            <a:endParaRPr lang="en-US" sz="1400" dirty="0"/>
          </a:p>
        </p:txBody>
      </p:sp>
      <p:sp>
        <p:nvSpPr>
          <p:cNvPr id="10" name="Text 7"/>
          <p:cNvSpPr/>
          <p:nvPr/>
        </p:nvSpPr>
        <p:spPr>
          <a:xfrm>
            <a:off x="896112" y="3739896"/>
            <a:ext cx="2093976" cy="162763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Scrapers + manual admin entry feed one collection, deduplicated automatically.</a:t>
            </a:r>
            <a:endParaRPr lang="en-US" sz="1100" dirty="0"/>
          </a:p>
        </p:txBody>
      </p:sp>
      <p:sp>
        <p:nvSpPr>
          <p:cNvPr id="11" name="Shape 8"/>
          <p:cNvSpPr/>
          <p:nvPr/>
        </p:nvSpPr>
        <p:spPr>
          <a:xfrm>
            <a:off x="3474720" y="2971800"/>
            <a:ext cx="2606040" cy="2651760"/>
          </a:xfrm>
          <a:prstGeom prst="roundRect">
            <a:avLst>
              <a:gd name="adj" fmla="val 2807"/>
            </a:avLst>
          </a:prstGeom>
          <a:solidFill>
            <a:srgbClr val="273080"/>
          </a:solidFill>
          <a:ln w="12700">
            <a:solidFill>
              <a:srgbClr val="3A44A0"/>
            </a:solidFill>
            <a:prstDash val="solid"/>
          </a:ln>
        </p:spPr>
      </p:sp>
      <p:sp>
        <p:nvSpPr>
          <p:cNvPr id="12" name="Shape 9"/>
          <p:cNvSpPr/>
          <p:nvPr/>
        </p:nvSpPr>
        <p:spPr>
          <a:xfrm>
            <a:off x="3730752" y="3209544"/>
            <a:ext cx="457200" cy="457200"/>
          </a:xfrm>
          <a:prstGeom prst="ellipse">
            <a:avLst/>
          </a:prstGeom>
          <a:solidFill>
            <a:srgbClr val="02C39A"/>
          </a:solidFill>
          <a:ln/>
        </p:spPr>
      </p:sp>
      <p:pic>
        <p:nvPicPr>
          <p:cNvPr id="13" name="Image 1" descr="C:\Users\Niharika\AppData\Local\Temp\claude\C--Users-Niharika-Linkedout\10362697-8d2a-4530-a202-c572b85676f5\scratchpad\deck\icons\shield_white.png">    </p:cNvPr>
          <p:cNvPicPr>
            <a:picLocks noChangeAspect="1"/>
          </p:cNvPicPr>
          <p:nvPr/>
        </p:nvPicPr>
        <p:blipFill>
          <a:blip r:embed="rId2"/>
          <a:stretch>
            <a:fillRect/>
          </a:stretch>
        </p:blipFill>
        <p:spPr>
          <a:xfrm>
            <a:off x="3833622" y="3312414"/>
            <a:ext cx="251460" cy="251460"/>
          </a:xfrm>
          <a:prstGeom prst="rect">
            <a:avLst/>
          </a:prstGeom>
        </p:spPr>
      </p:pic>
      <p:sp>
        <p:nvSpPr>
          <p:cNvPr id="14" name="Text 10"/>
          <p:cNvSpPr/>
          <p:nvPr/>
        </p:nvSpPr>
        <p:spPr>
          <a:xfrm>
            <a:off x="4352544" y="3172968"/>
            <a:ext cx="15453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Screen</a:t>
            </a:r>
            <a:endParaRPr lang="en-US" sz="1400" dirty="0"/>
          </a:p>
        </p:txBody>
      </p:sp>
      <p:sp>
        <p:nvSpPr>
          <p:cNvPr id="15" name="Text 11"/>
          <p:cNvSpPr/>
          <p:nvPr/>
        </p:nvSpPr>
        <p:spPr>
          <a:xfrm>
            <a:off x="3730752" y="3739896"/>
            <a:ext cx="2093976" cy="162763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A weighted, admin-tunable trust score decides publish, review, or reject — never a blind gate.</a:t>
            </a:r>
            <a:endParaRPr lang="en-US" sz="1100" dirty="0"/>
          </a:p>
        </p:txBody>
      </p:sp>
      <p:sp>
        <p:nvSpPr>
          <p:cNvPr id="16" name="Shape 12"/>
          <p:cNvSpPr/>
          <p:nvPr/>
        </p:nvSpPr>
        <p:spPr>
          <a:xfrm>
            <a:off x="6309360" y="2971800"/>
            <a:ext cx="2606040" cy="2651760"/>
          </a:xfrm>
          <a:prstGeom prst="roundRect">
            <a:avLst>
              <a:gd name="adj" fmla="val 2807"/>
            </a:avLst>
          </a:prstGeom>
          <a:solidFill>
            <a:srgbClr val="273080"/>
          </a:solidFill>
          <a:ln w="12700">
            <a:solidFill>
              <a:srgbClr val="3A44A0"/>
            </a:solidFill>
            <a:prstDash val="solid"/>
          </a:ln>
        </p:spPr>
      </p:sp>
      <p:sp>
        <p:nvSpPr>
          <p:cNvPr id="17" name="Shape 13"/>
          <p:cNvSpPr/>
          <p:nvPr/>
        </p:nvSpPr>
        <p:spPr>
          <a:xfrm>
            <a:off x="6565392" y="3209544"/>
            <a:ext cx="457200" cy="457200"/>
          </a:xfrm>
          <a:prstGeom prst="ellipse">
            <a:avLst/>
          </a:prstGeom>
          <a:solidFill>
            <a:srgbClr val="02C39A"/>
          </a:solidFill>
          <a:ln/>
        </p:spPr>
      </p:sp>
      <p:pic>
        <p:nvPicPr>
          <p:cNvPr id="18" name="Image 2" descr="C:\Users\Niharika\AppData\Local\Temp\claude\C--Users-Niharika-Linkedout\10362697-8d2a-4530-a202-c572b85676f5\scratchpad\deck\icons\target_white.png">    </p:cNvPr>
          <p:cNvPicPr>
            <a:picLocks noChangeAspect="1"/>
          </p:cNvPicPr>
          <p:nvPr/>
        </p:nvPicPr>
        <p:blipFill>
          <a:blip r:embed="rId3"/>
          <a:stretch>
            <a:fillRect/>
          </a:stretch>
        </p:blipFill>
        <p:spPr>
          <a:xfrm>
            <a:off x="6668262" y="3312414"/>
            <a:ext cx="251460" cy="251460"/>
          </a:xfrm>
          <a:prstGeom prst="rect">
            <a:avLst/>
          </a:prstGeom>
        </p:spPr>
      </p:pic>
      <p:sp>
        <p:nvSpPr>
          <p:cNvPr id="19" name="Text 14"/>
          <p:cNvSpPr/>
          <p:nvPr/>
        </p:nvSpPr>
        <p:spPr>
          <a:xfrm>
            <a:off x="7187184" y="3172968"/>
            <a:ext cx="15453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20" name="Text 15"/>
          <p:cNvSpPr/>
          <p:nvPr/>
        </p:nvSpPr>
        <p:spPr>
          <a:xfrm>
            <a:off x="6565392" y="3739896"/>
            <a:ext cx="2093976" cy="162763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Resume + profile vs. each listing's requirements, eligibility, and location — as a live percentage.</a:t>
            </a:r>
            <a:endParaRPr lang="en-US" sz="1100" dirty="0"/>
          </a:p>
        </p:txBody>
      </p:sp>
      <p:sp>
        <p:nvSpPr>
          <p:cNvPr id="21" name="Shape 16"/>
          <p:cNvSpPr/>
          <p:nvPr/>
        </p:nvSpPr>
        <p:spPr>
          <a:xfrm>
            <a:off x="9144000" y="2971800"/>
            <a:ext cx="2606040" cy="2651760"/>
          </a:xfrm>
          <a:prstGeom prst="roundRect">
            <a:avLst>
              <a:gd name="adj" fmla="val 2807"/>
            </a:avLst>
          </a:prstGeom>
          <a:solidFill>
            <a:srgbClr val="273080"/>
          </a:solidFill>
          <a:ln w="12700">
            <a:solidFill>
              <a:srgbClr val="3A44A0"/>
            </a:solidFill>
            <a:prstDash val="solid"/>
          </a:ln>
        </p:spPr>
      </p:sp>
      <p:sp>
        <p:nvSpPr>
          <p:cNvPr id="22" name="Shape 17"/>
          <p:cNvSpPr/>
          <p:nvPr/>
        </p:nvSpPr>
        <p:spPr>
          <a:xfrm>
            <a:off x="9400032" y="3209544"/>
            <a:ext cx="457200" cy="457200"/>
          </a:xfrm>
          <a:prstGeom prst="ellipse">
            <a:avLst/>
          </a:prstGeom>
          <a:solidFill>
            <a:srgbClr val="02C39A"/>
          </a:solidFill>
          <a:ln/>
        </p:spPr>
      </p:sp>
      <p:pic>
        <p:nvPicPr>
          <p:cNvPr id="23" name="Image 3" descr="C:\Users\Niharika\AppData\Local\Temp\claude\C--Users-Niharika-Linkedout\10362697-8d2a-4530-a202-c572b85676f5\scratchpad\deck\icons\bell_white.png">    </p:cNvPr>
          <p:cNvPicPr>
            <a:picLocks noChangeAspect="1"/>
          </p:cNvPicPr>
          <p:nvPr/>
        </p:nvPicPr>
        <p:blipFill>
          <a:blip r:embed="rId4"/>
          <a:stretch>
            <a:fillRect/>
          </a:stretch>
        </p:blipFill>
        <p:spPr>
          <a:xfrm>
            <a:off x="9502902" y="3312414"/>
            <a:ext cx="251460" cy="251460"/>
          </a:xfrm>
          <a:prstGeom prst="rect">
            <a:avLst/>
          </a:prstGeom>
        </p:spPr>
      </p:pic>
      <p:sp>
        <p:nvSpPr>
          <p:cNvPr id="24" name="Text 18"/>
          <p:cNvSpPr/>
          <p:nvPr/>
        </p:nvSpPr>
        <p:spPr>
          <a:xfrm>
            <a:off x="10021824" y="3172968"/>
            <a:ext cx="15453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Manage</a:t>
            </a:r>
            <a:endParaRPr lang="en-US" sz="1400" dirty="0"/>
          </a:p>
        </p:txBody>
      </p:sp>
      <p:sp>
        <p:nvSpPr>
          <p:cNvPr id="25" name="Text 19"/>
          <p:cNvSpPr/>
          <p:nvPr/>
        </p:nvSpPr>
        <p:spPr>
          <a:xfrm>
            <a:off x="9400032" y="3739896"/>
            <a:ext cx="2093976" cy="162763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Apply, track, get notified, and — for the placement cell — see the skill-gap picture across everyone.</a:t>
            </a:r>
            <a:endParaRPr lang="en-US" sz="1100" dirty="0"/>
          </a:p>
        </p:txBody>
      </p:sp>
      <p:sp>
        <p:nvSpPr>
          <p:cNvPr id="27" name="Text 20"/>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8A93C7"/>
                </a:solidFill>
                <a:latin typeface="Calibri" pitchFamily="34" charset="0"/>
                <a:ea typeface="Calibri" pitchFamily="34" charset="-122"/>
                <a:cs typeface="Calibri" pitchFamily="34" charset="-120"/>
              </a:rPr>
              <a:t>LinkedOut</a:t>
            </a:r>
            <a:endParaRPr lang="en-US" sz="900" dirty="0"/>
          </a:p>
        </p:txBody>
      </p:sp>
      <p:sp>
        <p:nvSpPr>
          <p:cNvPr id="28" name="Text 21"/>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A93C7"/>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FEATURES — STUDENT</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Everything a student needs, in one place</a:t>
            </a:r>
            <a:endParaRPr lang="en-US" sz="3000" dirty="0"/>
          </a:p>
        </p:txBody>
      </p:sp>
      <p:sp>
        <p:nvSpPr>
          <p:cNvPr id="4" name="Shape 2"/>
          <p:cNvSpPr/>
          <p:nvPr/>
        </p:nvSpPr>
        <p:spPr>
          <a:xfrm>
            <a:off x="640080"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896112" y="2020824"/>
            <a:ext cx="457200" cy="457200"/>
          </a:xfrm>
          <a:prstGeom prst="ellipse">
            <a:avLst/>
          </a:prstGeom>
          <a:solidFill>
            <a:srgbClr val="02C39A"/>
          </a:solidFill>
          <a:ln/>
        </p:spPr>
      </p:sp>
      <p:pic>
        <p:nvPicPr>
          <p:cNvPr id="6" name="Image 0" descr="C:\Users\Niharika\AppData\Local\Temp\claude\C--Users-Niharika-Linkedout\10362697-8d2a-4530-a202-c572b85676f5\scratchpad\deck\icons\search_white.png">    </p:cNvPr>
          <p:cNvPicPr>
            <a:picLocks noChangeAspect="1"/>
          </p:cNvPicPr>
          <p:nvPr/>
        </p:nvPicPr>
        <p:blipFill>
          <a:blip r:embed="rId1"/>
          <a:stretch>
            <a:fillRect/>
          </a:stretch>
        </p:blipFill>
        <p:spPr>
          <a:xfrm>
            <a:off x="998982" y="2123694"/>
            <a:ext cx="251460" cy="251460"/>
          </a:xfrm>
          <a:prstGeom prst="rect">
            <a:avLst/>
          </a:prstGeom>
        </p:spPr>
      </p:pic>
      <p:sp>
        <p:nvSpPr>
          <p:cNvPr id="7" name="Text 4"/>
          <p:cNvSpPr/>
          <p:nvPr/>
        </p:nvSpPr>
        <p:spPr>
          <a:xfrm>
            <a:off x="1517904"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Browse &amp; filter</a:t>
            </a:r>
            <a:endParaRPr lang="en-US" sz="1400" dirty="0"/>
          </a:p>
        </p:txBody>
      </p:sp>
      <p:sp>
        <p:nvSpPr>
          <p:cNvPr id="8" name="Text 5"/>
          <p:cNvSpPr/>
          <p:nvPr/>
        </p:nvSpPr>
        <p:spPr>
          <a:xfrm>
            <a:off x="896112"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Location, domain, stipend, deadline, remote/hybrid/onsite — paginated, published listings only.</a:t>
            </a:r>
            <a:endParaRPr lang="en-US" sz="1100" dirty="0"/>
          </a:p>
        </p:txBody>
      </p:sp>
      <p:sp>
        <p:nvSpPr>
          <p:cNvPr id="9" name="Shape 6"/>
          <p:cNvSpPr/>
          <p:nvPr/>
        </p:nvSpPr>
        <p:spPr>
          <a:xfrm>
            <a:off x="3465576"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0" name="Shape 7"/>
          <p:cNvSpPr/>
          <p:nvPr/>
        </p:nvSpPr>
        <p:spPr>
          <a:xfrm>
            <a:off x="3721608" y="2020824"/>
            <a:ext cx="457200" cy="457200"/>
          </a:xfrm>
          <a:prstGeom prst="ellipse">
            <a:avLst/>
          </a:prstGeom>
          <a:solidFill>
            <a:srgbClr val="02C39A"/>
          </a:solidFill>
          <a:ln/>
        </p:spPr>
      </p:sp>
      <p:pic>
        <p:nvPicPr>
          <p:cNvPr id="11" name="Image 1" descr="C:\Users\Niharika\AppData\Local\Temp\claude\C--Users-Niharika-Linkedout\10362697-8d2a-4530-a202-c572b85676f5\scratchpad\deck\icons\target_white.png">    </p:cNvPr>
          <p:cNvPicPr>
            <a:picLocks noChangeAspect="1"/>
          </p:cNvPicPr>
          <p:nvPr/>
        </p:nvPicPr>
        <p:blipFill>
          <a:blip r:embed="rId2"/>
          <a:stretch>
            <a:fillRect/>
          </a:stretch>
        </p:blipFill>
        <p:spPr>
          <a:xfrm>
            <a:off x="3824478" y="2123694"/>
            <a:ext cx="251460" cy="251460"/>
          </a:xfrm>
          <a:prstGeom prst="rect">
            <a:avLst/>
          </a:prstGeom>
        </p:spPr>
      </p:pic>
      <p:sp>
        <p:nvSpPr>
          <p:cNvPr id="12" name="Text 8"/>
          <p:cNvSpPr/>
          <p:nvPr/>
        </p:nvSpPr>
        <p:spPr>
          <a:xfrm>
            <a:off x="4343400"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Match score &amp; gap</a:t>
            </a:r>
            <a:endParaRPr lang="en-US" sz="1400" dirty="0"/>
          </a:p>
        </p:txBody>
      </p:sp>
      <p:sp>
        <p:nvSpPr>
          <p:cNvPr id="13" name="Text 9"/>
          <p:cNvSpPr/>
          <p:nvPr/>
        </p:nvSpPr>
        <p:spPr>
          <a:xfrm>
            <a:off x="3721608"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Per-listing % fit plus the exact missing skills and a recommended learning path for each.</a:t>
            </a:r>
            <a:endParaRPr lang="en-US" sz="1100" dirty="0"/>
          </a:p>
        </p:txBody>
      </p:sp>
      <p:sp>
        <p:nvSpPr>
          <p:cNvPr id="14" name="Shape 10"/>
          <p:cNvSpPr/>
          <p:nvPr/>
        </p:nvSpPr>
        <p:spPr>
          <a:xfrm>
            <a:off x="6291072"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5" name="Shape 11"/>
          <p:cNvSpPr/>
          <p:nvPr/>
        </p:nvSpPr>
        <p:spPr>
          <a:xfrm>
            <a:off x="6547104" y="2020824"/>
            <a:ext cx="457200" cy="457200"/>
          </a:xfrm>
          <a:prstGeom prst="ellipse">
            <a:avLst/>
          </a:prstGeom>
          <a:solidFill>
            <a:srgbClr val="02C39A"/>
          </a:solidFill>
          <a:ln/>
        </p:spPr>
      </p:sp>
      <p:pic>
        <p:nvPicPr>
          <p:cNvPr id="16" name="Image 2" descr="C:\Users\Niharika\AppData\Local\Temp\claude\C--Users-Niharika-Linkedout\10362697-8d2a-4530-a202-c572b85676f5\scratchpad\deck\icons\fileText_white.png">    </p:cNvPr>
          <p:cNvPicPr>
            <a:picLocks noChangeAspect="1"/>
          </p:cNvPicPr>
          <p:nvPr/>
        </p:nvPicPr>
        <p:blipFill>
          <a:blip r:embed="rId3"/>
          <a:stretch>
            <a:fillRect/>
          </a:stretch>
        </p:blipFill>
        <p:spPr>
          <a:xfrm>
            <a:off x="6649974" y="2123694"/>
            <a:ext cx="251460" cy="251460"/>
          </a:xfrm>
          <a:prstGeom prst="rect">
            <a:avLst/>
          </a:prstGeom>
        </p:spPr>
      </p:pic>
      <p:sp>
        <p:nvSpPr>
          <p:cNvPr id="17" name="Text 12"/>
          <p:cNvSpPr/>
          <p:nvPr/>
        </p:nvSpPr>
        <p:spPr>
          <a:xfrm>
            <a:off x="7168896"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Resume auto-parse</a:t>
            </a:r>
            <a:endParaRPr lang="en-US" sz="1400" dirty="0"/>
          </a:p>
        </p:txBody>
      </p:sp>
      <p:sp>
        <p:nvSpPr>
          <p:cNvPr id="18" name="Text 13"/>
          <p:cNvSpPr/>
          <p:nvPr/>
        </p:nvSpPr>
        <p:spPr>
          <a:xfrm>
            <a:off x="6547104"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Upload a PDF; detected skills merge into your profile additively — manual edits always win.</a:t>
            </a:r>
            <a:endParaRPr lang="en-US" sz="1100" dirty="0"/>
          </a:p>
        </p:txBody>
      </p:sp>
      <p:sp>
        <p:nvSpPr>
          <p:cNvPr id="19" name="Shape 14"/>
          <p:cNvSpPr/>
          <p:nvPr/>
        </p:nvSpPr>
        <p:spPr>
          <a:xfrm>
            <a:off x="9116568"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0" name="Shape 15"/>
          <p:cNvSpPr/>
          <p:nvPr/>
        </p:nvSpPr>
        <p:spPr>
          <a:xfrm>
            <a:off x="9372600" y="2020824"/>
            <a:ext cx="457200" cy="457200"/>
          </a:xfrm>
          <a:prstGeom prst="ellipse">
            <a:avLst/>
          </a:prstGeom>
          <a:solidFill>
            <a:srgbClr val="02C39A"/>
          </a:solidFill>
          <a:ln/>
        </p:spPr>
      </p:sp>
      <p:pic>
        <p:nvPicPr>
          <p:cNvPr id="21" name="Image 3" descr="C:\Users\Niharika\AppData\Local\Temp\claude\C--Users-Niharika-Linkedout\10362697-8d2a-4530-a202-c572b85676f5\scratchpad\deck\icons\award_white.png">    </p:cNvPr>
          <p:cNvPicPr>
            <a:picLocks noChangeAspect="1"/>
          </p:cNvPicPr>
          <p:nvPr/>
        </p:nvPicPr>
        <p:blipFill>
          <a:blip r:embed="rId4"/>
          <a:stretch>
            <a:fillRect/>
          </a:stretch>
        </p:blipFill>
        <p:spPr>
          <a:xfrm>
            <a:off x="9475470" y="2123694"/>
            <a:ext cx="251460" cy="251460"/>
          </a:xfrm>
          <a:prstGeom prst="rect">
            <a:avLst/>
          </a:prstGeom>
        </p:spPr>
      </p:pic>
      <p:sp>
        <p:nvSpPr>
          <p:cNvPr id="22" name="Text 16"/>
          <p:cNvSpPr/>
          <p:nvPr/>
        </p:nvSpPr>
        <p:spPr>
          <a:xfrm>
            <a:off x="9994392"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Save &amp; shortlist</a:t>
            </a:r>
            <a:endParaRPr lang="en-US" sz="1400" dirty="0"/>
          </a:p>
        </p:txBody>
      </p:sp>
      <p:sp>
        <p:nvSpPr>
          <p:cNvPr id="23" name="Text 17"/>
          <p:cNvSpPr/>
          <p:nvPr/>
        </p:nvSpPr>
        <p:spPr>
          <a:xfrm>
            <a:off x="9372600"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Bookmark listings to a personal saved list, revisit anytime.</a:t>
            </a:r>
            <a:endParaRPr lang="en-US" sz="1100" dirty="0"/>
          </a:p>
        </p:txBody>
      </p:sp>
      <p:sp>
        <p:nvSpPr>
          <p:cNvPr id="24" name="Shape 18"/>
          <p:cNvSpPr/>
          <p:nvPr/>
        </p:nvSpPr>
        <p:spPr>
          <a:xfrm>
            <a:off x="640080"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5" name="Shape 19"/>
          <p:cNvSpPr/>
          <p:nvPr/>
        </p:nvSpPr>
        <p:spPr>
          <a:xfrm>
            <a:off x="896112" y="4370832"/>
            <a:ext cx="457200" cy="457200"/>
          </a:xfrm>
          <a:prstGeom prst="ellipse">
            <a:avLst/>
          </a:prstGeom>
          <a:solidFill>
            <a:srgbClr val="02C39A"/>
          </a:solidFill>
          <a:ln/>
        </p:spPr>
      </p:sp>
      <p:pic>
        <p:nvPicPr>
          <p:cNvPr id="26" name="Image 4" descr="C:\Users\Niharika\AppData\Local\Temp\claude\C--Users-Niharika-Linkedout\10362697-8d2a-4530-a202-c572b85676f5\scratchpad\deck\icons\clock_white.png">    </p:cNvPr>
          <p:cNvPicPr>
            <a:picLocks noChangeAspect="1"/>
          </p:cNvPicPr>
          <p:nvPr/>
        </p:nvPicPr>
        <p:blipFill>
          <a:blip r:embed="rId5"/>
          <a:stretch>
            <a:fillRect/>
          </a:stretch>
        </p:blipFill>
        <p:spPr>
          <a:xfrm>
            <a:off x="998982" y="4473702"/>
            <a:ext cx="251460" cy="251460"/>
          </a:xfrm>
          <a:prstGeom prst="rect">
            <a:avLst/>
          </a:prstGeom>
        </p:spPr>
      </p:pic>
      <p:sp>
        <p:nvSpPr>
          <p:cNvPr id="27" name="Text 20"/>
          <p:cNvSpPr/>
          <p:nvPr/>
        </p:nvSpPr>
        <p:spPr>
          <a:xfrm>
            <a:off x="1517904"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Apply &amp; track</a:t>
            </a:r>
            <a:endParaRPr lang="en-US" sz="1400" dirty="0"/>
          </a:p>
        </p:txBody>
      </p:sp>
      <p:sp>
        <p:nvSpPr>
          <p:cNvPr id="28" name="Text 21"/>
          <p:cNvSpPr/>
          <p:nvPr/>
        </p:nvSpPr>
        <p:spPr>
          <a:xfrm>
            <a:off x="896112"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One active application per listing; a full status timeline: Applied → Shortlisted / Rejected / Selected.</a:t>
            </a:r>
            <a:endParaRPr lang="en-US" sz="1100" dirty="0"/>
          </a:p>
        </p:txBody>
      </p:sp>
      <p:sp>
        <p:nvSpPr>
          <p:cNvPr id="29" name="Shape 22"/>
          <p:cNvSpPr/>
          <p:nvPr/>
        </p:nvSpPr>
        <p:spPr>
          <a:xfrm>
            <a:off x="3465576"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0" name="Shape 23"/>
          <p:cNvSpPr/>
          <p:nvPr/>
        </p:nvSpPr>
        <p:spPr>
          <a:xfrm>
            <a:off x="3721608" y="4370832"/>
            <a:ext cx="457200" cy="457200"/>
          </a:xfrm>
          <a:prstGeom prst="ellipse">
            <a:avLst/>
          </a:prstGeom>
          <a:solidFill>
            <a:srgbClr val="02C39A"/>
          </a:solidFill>
          <a:ln/>
        </p:spPr>
      </p:sp>
      <p:pic>
        <p:nvPicPr>
          <p:cNvPr id="31" name="Image 5" descr="C:\Users\Niharika\AppData\Local\Temp\claude\C--Users-Niharika-Linkedout\10362697-8d2a-4530-a202-c572b85676f5\scratchpad\deck\icons\flag_white.png">    </p:cNvPr>
          <p:cNvPicPr>
            <a:picLocks noChangeAspect="1"/>
          </p:cNvPicPr>
          <p:nvPr/>
        </p:nvPicPr>
        <p:blipFill>
          <a:blip r:embed="rId6"/>
          <a:stretch>
            <a:fillRect/>
          </a:stretch>
        </p:blipFill>
        <p:spPr>
          <a:xfrm>
            <a:off x="3824478" y="4473702"/>
            <a:ext cx="251460" cy="251460"/>
          </a:xfrm>
          <a:prstGeom prst="rect">
            <a:avLst/>
          </a:prstGeom>
        </p:spPr>
      </p:pic>
      <p:sp>
        <p:nvSpPr>
          <p:cNvPr id="32" name="Text 24"/>
          <p:cNvSpPr/>
          <p:nvPr/>
        </p:nvSpPr>
        <p:spPr>
          <a:xfrm>
            <a:off x="4343400"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Report a scam</a:t>
            </a:r>
            <a:endParaRPr lang="en-US" sz="1400" dirty="0"/>
          </a:p>
        </p:txBody>
      </p:sp>
      <p:sp>
        <p:nvSpPr>
          <p:cNvPr id="33" name="Text 25"/>
          <p:cNvSpPr/>
          <p:nvPr/>
        </p:nvSpPr>
        <p:spPr>
          <a:xfrm>
            <a:off x="3721608"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Flag a live listing — payment request, sensitive info ask, shady contact, fake company, other.</a:t>
            </a:r>
            <a:endParaRPr lang="en-US" sz="1100" dirty="0"/>
          </a:p>
        </p:txBody>
      </p:sp>
      <p:sp>
        <p:nvSpPr>
          <p:cNvPr id="34" name="Shape 26"/>
          <p:cNvSpPr/>
          <p:nvPr/>
        </p:nvSpPr>
        <p:spPr>
          <a:xfrm>
            <a:off x="6291072"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5" name="Shape 27"/>
          <p:cNvSpPr/>
          <p:nvPr/>
        </p:nvSpPr>
        <p:spPr>
          <a:xfrm>
            <a:off x="6547104" y="4370832"/>
            <a:ext cx="457200" cy="457200"/>
          </a:xfrm>
          <a:prstGeom prst="ellipse">
            <a:avLst/>
          </a:prstGeom>
          <a:solidFill>
            <a:srgbClr val="02C39A"/>
          </a:solidFill>
          <a:ln/>
        </p:spPr>
      </p:sp>
      <p:pic>
        <p:nvPicPr>
          <p:cNvPr id="36" name="Image 6" descr="C:\Users\Niharika\AppData\Local\Temp\claude\C--Users-Niharika-Linkedout\10362697-8d2a-4530-a202-c572b85676f5\scratchpad\deck\icons\bell_white.png">    </p:cNvPr>
          <p:cNvPicPr>
            <a:picLocks noChangeAspect="1"/>
          </p:cNvPicPr>
          <p:nvPr/>
        </p:nvPicPr>
        <p:blipFill>
          <a:blip r:embed="rId7"/>
          <a:stretch>
            <a:fillRect/>
          </a:stretch>
        </p:blipFill>
        <p:spPr>
          <a:xfrm>
            <a:off x="6649974" y="4473702"/>
            <a:ext cx="251460" cy="251460"/>
          </a:xfrm>
          <a:prstGeom prst="rect">
            <a:avLst/>
          </a:prstGeom>
        </p:spPr>
      </p:pic>
      <p:sp>
        <p:nvSpPr>
          <p:cNvPr id="37" name="Text 28"/>
          <p:cNvSpPr/>
          <p:nvPr/>
        </p:nvSpPr>
        <p:spPr>
          <a:xfrm>
            <a:off x="7168896"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Smart alerts</a:t>
            </a:r>
            <a:endParaRPr lang="en-US" sz="1400" dirty="0"/>
          </a:p>
        </p:txBody>
      </p:sp>
      <p:sp>
        <p:nvSpPr>
          <p:cNvPr id="38" name="Text 29"/>
          <p:cNvSpPr/>
          <p:nvPr/>
        </p:nvSpPr>
        <p:spPr>
          <a:xfrm>
            <a:off x="6547104"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Deadline reminders and “this is a great match” alerts — in-app and pushed live via Socket.IO.</a:t>
            </a:r>
            <a:endParaRPr lang="en-US" sz="1100" dirty="0"/>
          </a:p>
        </p:txBody>
      </p:sp>
      <p:sp>
        <p:nvSpPr>
          <p:cNvPr id="39" name="Shape 30"/>
          <p:cNvSpPr/>
          <p:nvPr/>
        </p:nvSpPr>
        <p:spPr>
          <a:xfrm>
            <a:off x="9116568"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0" name="Shape 31"/>
          <p:cNvSpPr/>
          <p:nvPr/>
        </p:nvSpPr>
        <p:spPr>
          <a:xfrm>
            <a:off x="9372600" y="4370832"/>
            <a:ext cx="457200" cy="457200"/>
          </a:xfrm>
          <a:prstGeom prst="ellipse">
            <a:avLst/>
          </a:prstGeom>
          <a:solidFill>
            <a:srgbClr val="02C39A"/>
          </a:solidFill>
          <a:ln/>
        </p:spPr>
      </p:sp>
      <p:pic>
        <p:nvPicPr>
          <p:cNvPr id="41" name="Image 7" descr="C:\Users\Niharika\AppData\Local\Temp\claude\C--Users-Niharika-Linkedout\10362697-8d2a-4530-a202-c572b85676f5\scratchpad\deck\icons\users_white.png">    </p:cNvPr>
          <p:cNvPicPr>
            <a:picLocks noChangeAspect="1"/>
          </p:cNvPicPr>
          <p:nvPr/>
        </p:nvPicPr>
        <p:blipFill>
          <a:blip r:embed="rId8"/>
          <a:stretch>
            <a:fillRect/>
          </a:stretch>
        </p:blipFill>
        <p:spPr>
          <a:xfrm>
            <a:off x="9475470" y="4473702"/>
            <a:ext cx="251460" cy="251460"/>
          </a:xfrm>
          <a:prstGeom prst="rect">
            <a:avLst/>
          </a:prstGeom>
        </p:spPr>
      </p:pic>
      <p:sp>
        <p:nvSpPr>
          <p:cNvPr id="42" name="Text 32"/>
          <p:cNvSpPr/>
          <p:nvPr/>
        </p:nvSpPr>
        <p:spPr>
          <a:xfrm>
            <a:off x="9994392"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Full profile control</a:t>
            </a:r>
            <a:endParaRPr lang="en-US" sz="1400" dirty="0"/>
          </a:p>
        </p:txBody>
      </p:sp>
      <p:sp>
        <p:nvSpPr>
          <p:cNvPr id="43" name="Text 33"/>
          <p:cNvSpPr/>
          <p:nvPr/>
        </p:nvSpPr>
        <p:spPr>
          <a:xfrm>
            <a:off x="9372600"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Skills, branch, year, CGPA, and location preference — editable anytime, feeds every score.</a:t>
            </a:r>
            <a:endParaRPr lang="en-US" sz="1100" dirty="0"/>
          </a:p>
        </p:txBody>
      </p:sp>
      <p:sp>
        <p:nvSpPr>
          <p:cNvPr id="45" name="Text 34"/>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46" name="Text 3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FEATURES — ADMIN &amp; PLACEMENT CELL</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3000" b="1" dirty="0">
                <a:solidFill>
                  <a:srgbClr val="1E2761"/>
                </a:solidFill>
                <a:latin typeface="Cambria" pitchFamily="34" charset="0"/>
                <a:ea typeface="Cambria" pitchFamily="34" charset="-122"/>
                <a:cs typeface="Cambria" pitchFamily="34" charset="-120"/>
              </a:rPr>
              <a:t>Curation power, not just a CRUD dashboard</a:t>
            </a:r>
            <a:endParaRPr lang="en-US" sz="3000" dirty="0"/>
          </a:p>
        </p:txBody>
      </p:sp>
      <p:sp>
        <p:nvSpPr>
          <p:cNvPr id="4" name="Shape 2"/>
          <p:cNvSpPr/>
          <p:nvPr/>
        </p:nvSpPr>
        <p:spPr>
          <a:xfrm>
            <a:off x="640080"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896112" y="2020824"/>
            <a:ext cx="457200" cy="457200"/>
          </a:xfrm>
          <a:prstGeom prst="ellipse">
            <a:avLst/>
          </a:prstGeom>
          <a:solidFill>
            <a:srgbClr val="1E2761"/>
          </a:solidFill>
          <a:ln/>
        </p:spPr>
      </p:sp>
      <p:pic>
        <p:nvPicPr>
          <p:cNvPr id="6" name="Image 0" descr="C:\Users\Niharika\AppData\Local\Temp\claude\C--Users-Niharika-Linkedout\10362697-8d2a-4530-a202-c572b85676f5\scratchpad\deck\icons\eye_white.png">    </p:cNvPr>
          <p:cNvPicPr>
            <a:picLocks noChangeAspect="1"/>
          </p:cNvPicPr>
          <p:nvPr/>
        </p:nvPicPr>
        <p:blipFill>
          <a:blip r:embed="rId1"/>
          <a:stretch>
            <a:fillRect/>
          </a:stretch>
        </p:blipFill>
        <p:spPr>
          <a:xfrm>
            <a:off x="998982" y="2123694"/>
            <a:ext cx="251460" cy="251460"/>
          </a:xfrm>
          <a:prstGeom prst="rect">
            <a:avLst/>
          </a:prstGeom>
        </p:spPr>
      </p:pic>
      <p:sp>
        <p:nvSpPr>
          <p:cNvPr id="7" name="Text 4"/>
          <p:cNvSpPr/>
          <p:nvPr/>
        </p:nvSpPr>
        <p:spPr>
          <a:xfrm>
            <a:off x="1517904"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Review queue</a:t>
            </a:r>
            <a:endParaRPr lang="en-US" sz="1400" dirty="0"/>
          </a:p>
        </p:txBody>
      </p:sp>
      <p:sp>
        <p:nvSpPr>
          <p:cNvPr id="8" name="Text 5"/>
          <p:cNvSpPr/>
          <p:nvPr/>
        </p:nvSpPr>
        <p:spPr>
          <a:xfrm>
            <a:off x="896112"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Every flagged listing shown with its full score breakdown and which signals fired.</a:t>
            </a:r>
            <a:endParaRPr lang="en-US" sz="1100" dirty="0"/>
          </a:p>
        </p:txBody>
      </p:sp>
      <p:sp>
        <p:nvSpPr>
          <p:cNvPr id="9" name="Shape 6"/>
          <p:cNvSpPr/>
          <p:nvPr/>
        </p:nvSpPr>
        <p:spPr>
          <a:xfrm>
            <a:off x="3465576"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0" name="Shape 7"/>
          <p:cNvSpPr/>
          <p:nvPr/>
        </p:nvSpPr>
        <p:spPr>
          <a:xfrm>
            <a:off x="3721608" y="2020824"/>
            <a:ext cx="457200" cy="457200"/>
          </a:xfrm>
          <a:prstGeom prst="ellipse">
            <a:avLst/>
          </a:prstGeom>
          <a:solidFill>
            <a:srgbClr val="1E2761"/>
          </a:solidFill>
          <a:ln/>
        </p:spPr>
      </p:sp>
      <p:pic>
        <p:nvPicPr>
          <p:cNvPr id="11" name="Image 1" descr="C:\Users\Niharika\AppData\Local\Temp\claude\C--Users-Niharika-Linkedout\10362697-8d2a-4530-a202-c572b85676f5\scratchpad\deck\icons\check_white.png">    </p:cNvPr>
          <p:cNvPicPr>
            <a:picLocks noChangeAspect="1"/>
          </p:cNvPicPr>
          <p:nvPr/>
        </p:nvPicPr>
        <p:blipFill>
          <a:blip r:embed="rId2"/>
          <a:stretch>
            <a:fillRect/>
          </a:stretch>
        </p:blipFill>
        <p:spPr>
          <a:xfrm>
            <a:off x="3824478" y="2123694"/>
            <a:ext cx="251460" cy="251460"/>
          </a:xfrm>
          <a:prstGeom prst="rect">
            <a:avLst/>
          </a:prstGeom>
        </p:spPr>
      </p:pic>
      <p:sp>
        <p:nvSpPr>
          <p:cNvPr id="12" name="Text 8"/>
          <p:cNvSpPr/>
          <p:nvPr/>
        </p:nvSpPr>
        <p:spPr>
          <a:xfrm>
            <a:off x="4343400"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Approve / edit / reject</a:t>
            </a:r>
            <a:endParaRPr lang="en-US" sz="1400" dirty="0"/>
          </a:p>
        </p:txBody>
      </p:sp>
      <p:sp>
        <p:nvSpPr>
          <p:cNvPr id="13" name="Text 9"/>
          <p:cNvSpPr/>
          <p:nvPr/>
        </p:nvSpPr>
        <p:spPr>
          <a:xfrm>
            <a:off x="3721608"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Publish as-is, fix-then-publish, or reject — rejects seed the duplicate-scam pattern table.</a:t>
            </a:r>
            <a:endParaRPr lang="en-US" sz="1100" dirty="0"/>
          </a:p>
        </p:txBody>
      </p:sp>
      <p:sp>
        <p:nvSpPr>
          <p:cNvPr id="14" name="Shape 10"/>
          <p:cNvSpPr/>
          <p:nvPr/>
        </p:nvSpPr>
        <p:spPr>
          <a:xfrm>
            <a:off x="6291072"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5" name="Shape 11"/>
          <p:cNvSpPr/>
          <p:nvPr/>
        </p:nvSpPr>
        <p:spPr>
          <a:xfrm>
            <a:off x="6547104" y="2020824"/>
            <a:ext cx="457200" cy="457200"/>
          </a:xfrm>
          <a:prstGeom prst="ellipse">
            <a:avLst/>
          </a:prstGeom>
          <a:solidFill>
            <a:srgbClr val="1E2761"/>
          </a:solidFill>
          <a:ln/>
        </p:spPr>
      </p:sp>
      <p:pic>
        <p:nvPicPr>
          <p:cNvPr id="16" name="Image 2" descr="C:\Users\Niharika\AppData\Local\Temp\claude\C--Users-Niharika-Linkedout\10362697-8d2a-4530-a202-c572b85676f5\scratchpad\deck\icons\slider_white.png">    </p:cNvPr>
          <p:cNvPicPr>
            <a:picLocks noChangeAspect="1"/>
          </p:cNvPicPr>
          <p:nvPr/>
        </p:nvPicPr>
        <p:blipFill>
          <a:blip r:embed="rId3"/>
          <a:stretch>
            <a:fillRect/>
          </a:stretch>
        </p:blipFill>
        <p:spPr>
          <a:xfrm>
            <a:off x="6649974" y="2123694"/>
            <a:ext cx="251460" cy="251460"/>
          </a:xfrm>
          <a:prstGeom prst="rect">
            <a:avLst/>
          </a:prstGeom>
        </p:spPr>
      </p:pic>
      <p:sp>
        <p:nvSpPr>
          <p:cNvPr id="17" name="Text 12"/>
          <p:cNvSpPr/>
          <p:nvPr/>
        </p:nvSpPr>
        <p:spPr>
          <a:xfrm>
            <a:off x="7168896"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Tune trust weights live</a:t>
            </a:r>
            <a:endParaRPr lang="en-US" sz="1400" dirty="0"/>
          </a:p>
        </p:txBody>
      </p:sp>
      <p:sp>
        <p:nvSpPr>
          <p:cNvPr id="18" name="Text 13"/>
          <p:cNvSpPr/>
          <p:nvPr/>
        </p:nvSpPr>
        <p:spPr>
          <a:xfrm>
            <a:off x="6547104"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Adjust signal weights and critical keywords via API — no redeploy needed.</a:t>
            </a:r>
            <a:endParaRPr lang="en-US" sz="1100" dirty="0"/>
          </a:p>
        </p:txBody>
      </p:sp>
      <p:sp>
        <p:nvSpPr>
          <p:cNvPr id="19" name="Shape 14"/>
          <p:cNvSpPr/>
          <p:nvPr/>
        </p:nvSpPr>
        <p:spPr>
          <a:xfrm>
            <a:off x="9116568" y="1783080"/>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0" name="Shape 15"/>
          <p:cNvSpPr/>
          <p:nvPr/>
        </p:nvSpPr>
        <p:spPr>
          <a:xfrm>
            <a:off x="9372600" y="2020824"/>
            <a:ext cx="457200" cy="457200"/>
          </a:xfrm>
          <a:prstGeom prst="ellipse">
            <a:avLst/>
          </a:prstGeom>
          <a:solidFill>
            <a:srgbClr val="1E2761"/>
          </a:solidFill>
          <a:ln/>
        </p:spPr>
      </p:sp>
      <p:pic>
        <p:nvPicPr>
          <p:cNvPr id="21" name="Image 3" descr="C:\Users\Niharika\AppData\Local\Temp\claude\C--Users-Niharika-Linkedout\10362697-8d2a-4530-a202-c572b85676f5\scratchpad\deck\icons\book_white.png">    </p:cNvPr>
          <p:cNvPicPr>
            <a:picLocks noChangeAspect="1"/>
          </p:cNvPicPr>
          <p:nvPr/>
        </p:nvPicPr>
        <p:blipFill>
          <a:blip r:embed="rId4"/>
          <a:stretch>
            <a:fillRect/>
          </a:stretch>
        </p:blipFill>
        <p:spPr>
          <a:xfrm>
            <a:off x="9475470" y="2123694"/>
            <a:ext cx="251460" cy="251460"/>
          </a:xfrm>
          <a:prstGeom prst="rect">
            <a:avLst/>
          </a:prstGeom>
        </p:spPr>
      </p:pic>
      <p:sp>
        <p:nvSpPr>
          <p:cNvPr id="22" name="Text 16"/>
          <p:cNvSpPr/>
          <p:nvPr/>
        </p:nvSpPr>
        <p:spPr>
          <a:xfrm>
            <a:off x="9994392" y="1984248"/>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Learning resource map</a:t>
            </a:r>
            <a:endParaRPr lang="en-US" sz="1400" dirty="0"/>
          </a:p>
        </p:txBody>
      </p:sp>
      <p:sp>
        <p:nvSpPr>
          <p:cNvPr id="23" name="Text 17"/>
          <p:cNvSpPr/>
          <p:nvPr/>
        </p:nvSpPr>
        <p:spPr>
          <a:xfrm>
            <a:off x="9372600" y="2551176"/>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Curate the skill → course/article mapping students see as their gap-closing plan.</a:t>
            </a:r>
            <a:endParaRPr lang="en-US" sz="1100" dirty="0"/>
          </a:p>
        </p:txBody>
      </p:sp>
      <p:sp>
        <p:nvSpPr>
          <p:cNvPr id="24" name="Shape 18"/>
          <p:cNvSpPr/>
          <p:nvPr/>
        </p:nvSpPr>
        <p:spPr>
          <a:xfrm>
            <a:off x="640080"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5" name="Shape 19"/>
          <p:cNvSpPr/>
          <p:nvPr/>
        </p:nvSpPr>
        <p:spPr>
          <a:xfrm>
            <a:off x="896112" y="4370832"/>
            <a:ext cx="457200" cy="457200"/>
          </a:xfrm>
          <a:prstGeom prst="ellipse">
            <a:avLst/>
          </a:prstGeom>
          <a:solidFill>
            <a:srgbClr val="1E2761"/>
          </a:solidFill>
          <a:ln/>
        </p:spPr>
      </p:sp>
      <p:pic>
        <p:nvPicPr>
          <p:cNvPr id="26" name="Image 4" descr="C:\Users\Niharika\AppData\Local\Temp\claude\C--Users-Niharika-Linkedout\10362697-8d2a-4530-a202-c572b85676f5\scratchpad\deck\icons\barchart_white.png">    </p:cNvPr>
          <p:cNvPicPr>
            <a:picLocks noChangeAspect="1"/>
          </p:cNvPicPr>
          <p:nvPr/>
        </p:nvPicPr>
        <p:blipFill>
          <a:blip r:embed="rId5"/>
          <a:stretch>
            <a:fillRect/>
          </a:stretch>
        </p:blipFill>
        <p:spPr>
          <a:xfrm>
            <a:off x="998982" y="4473702"/>
            <a:ext cx="251460" cy="251460"/>
          </a:xfrm>
          <a:prstGeom prst="rect">
            <a:avLst/>
          </a:prstGeom>
        </p:spPr>
      </p:pic>
      <p:sp>
        <p:nvSpPr>
          <p:cNvPr id="27" name="Text 20"/>
          <p:cNvSpPr/>
          <p:nvPr/>
        </p:nvSpPr>
        <p:spPr>
          <a:xfrm>
            <a:off x="1517904"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Skill-gap analytics</a:t>
            </a:r>
            <a:endParaRPr lang="en-US" sz="1400" dirty="0"/>
          </a:p>
        </p:txBody>
      </p:sp>
      <p:sp>
        <p:nvSpPr>
          <p:cNvPr id="28" name="Text 21"/>
          <p:cNvSpPr/>
          <p:nvPr/>
        </p:nvSpPr>
        <p:spPr>
          <a:xfrm>
            <a:off x="896112"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Top missing skills, demand vs. supply, and trend over time — filterable by branch/year.</a:t>
            </a:r>
            <a:endParaRPr lang="en-US" sz="1100" dirty="0"/>
          </a:p>
        </p:txBody>
      </p:sp>
      <p:sp>
        <p:nvSpPr>
          <p:cNvPr id="29" name="Shape 22"/>
          <p:cNvSpPr/>
          <p:nvPr/>
        </p:nvSpPr>
        <p:spPr>
          <a:xfrm>
            <a:off x="3465576"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0" name="Shape 23"/>
          <p:cNvSpPr/>
          <p:nvPr/>
        </p:nvSpPr>
        <p:spPr>
          <a:xfrm>
            <a:off x="3721608" y="4370832"/>
            <a:ext cx="457200" cy="457200"/>
          </a:xfrm>
          <a:prstGeom prst="ellipse">
            <a:avLst/>
          </a:prstGeom>
          <a:solidFill>
            <a:srgbClr val="1E2761"/>
          </a:solidFill>
          <a:ln/>
        </p:spPr>
      </p:sp>
      <p:pic>
        <p:nvPicPr>
          <p:cNvPr id="31" name="Image 5" descr="C:\Users\Niharika\AppData\Local\Temp\claude\C--Users-Niharika-Linkedout\10362697-8d2a-4530-a202-c572b85676f5\scratchpad\deck\icons\briefcase_white.png">    </p:cNvPr>
          <p:cNvPicPr>
            <a:picLocks noChangeAspect="1"/>
          </p:cNvPicPr>
          <p:nvPr/>
        </p:nvPicPr>
        <p:blipFill>
          <a:blip r:embed="rId6"/>
          <a:stretch>
            <a:fillRect/>
          </a:stretch>
        </p:blipFill>
        <p:spPr>
          <a:xfrm>
            <a:off x="3824478" y="4473702"/>
            <a:ext cx="251460" cy="251460"/>
          </a:xfrm>
          <a:prstGeom prst="rect">
            <a:avLst/>
          </a:prstGeom>
        </p:spPr>
      </p:pic>
      <p:sp>
        <p:nvSpPr>
          <p:cNvPr id="32" name="Text 24"/>
          <p:cNvSpPr/>
          <p:nvPr/>
        </p:nvSpPr>
        <p:spPr>
          <a:xfrm>
            <a:off x="4343400"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Application management</a:t>
            </a:r>
            <a:endParaRPr lang="en-US" sz="1400" dirty="0"/>
          </a:p>
        </p:txBody>
      </p:sp>
      <p:sp>
        <p:nvSpPr>
          <p:cNvPr id="33" name="Text 25"/>
          <p:cNvSpPr/>
          <p:nvPr/>
        </p:nvSpPr>
        <p:spPr>
          <a:xfrm>
            <a:off x="3721608"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View and update every application's status across all students and listings.</a:t>
            </a:r>
            <a:endParaRPr lang="en-US" sz="1100" dirty="0"/>
          </a:p>
        </p:txBody>
      </p:sp>
      <p:sp>
        <p:nvSpPr>
          <p:cNvPr id="34" name="Shape 26"/>
          <p:cNvSpPr/>
          <p:nvPr/>
        </p:nvSpPr>
        <p:spPr>
          <a:xfrm>
            <a:off x="6291072"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5" name="Shape 27"/>
          <p:cNvSpPr/>
          <p:nvPr/>
        </p:nvSpPr>
        <p:spPr>
          <a:xfrm>
            <a:off x="6547104" y="4370832"/>
            <a:ext cx="457200" cy="457200"/>
          </a:xfrm>
          <a:prstGeom prst="ellipse">
            <a:avLst/>
          </a:prstGeom>
          <a:solidFill>
            <a:srgbClr val="1E2761"/>
          </a:solidFill>
          <a:ln/>
        </p:spPr>
      </p:sp>
      <p:pic>
        <p:nvPicPr>
          <p:cNvPr id="36" name="Image 6" descr="C:\Users\Niharika\AppData\Local\Temp\claude\C--Users-Niharika-Linkedout\10362697-8d2a-4530-a202-c572b85676f5\scratchpad\deck\icons\lock_white.png">    </p:cNvPr>
          <p:cNvPicPr>
            <a:picLocks noChangeAspect="1"/>
          </p:cNvPicPr>
          <p:nvPr/>
        </p:nvPicPr>
        <p:blipFill>
          <a:blip r:embed="rId7"/>
          <a:stretch>
            <a:fillRect/>
          </a:stretch>
        </p:blipFill>
        <p:spPr>
          <a:xfrm>
            <a:off x="6649974" y="4473702"/>
            <a:ext cx="251460" cy="251460"/>
          </a:xfrm>
          <a:prstGeom prst="rect">
            <a:avLst/>
          </a:prstGeom>
        </p:spPr>
      </p:pic>
      <p:sp>
        <p:nvSpPr>
          <p:cNvPr id="37" name="Text 28"/>
          <p:cNvSpPr/>
          <p:nvPr/>
        </p:nvSpPr>
        <p:spPr>
          <a:xfrm>
            <a:off x="7168896"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Session revocation</a:t>
            </a:r>
            <a:endParaRPr lang="en-US" sz="1400" dirty="0"/>
          </a:p>
        </p:txBody>
      </p:sp>
      <p:sp>
        <p:nvSpPr>
          <p:cNvPr id="38" name="Text 29"/>
          <p:cNvSpPr/>
          <p:nvPr/>
        </p:nvSpPr>
        <p:spPr>
          <a:xfrm>
            <a:off x="6547104"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Force-invalidate a specific user's tokens instantly on suspected compromise.</a:t>
            </a:r>
            <a:endParaRPr lang="en-US" sz="1100" dirty="0"/>
          </a:p>
        </p:txBody>
      </p:sp>
      <p:sp>
        <p:nvSpPr>
          <p:cNvPr id="39" name="Shape 30"/>
          <p:cNvSpPr/>
          <p:nvPr/>
        </p:nvSpPr>
        <p:spPr>
          <a:xfrm>
            <a:off x="9116568" y="4133088"/>
            <a:ext cx="26060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0" name="Shape 31"/>
          <p:cNvSpPr/>
          <p:nvPr/>
        </p:nvSpPr>
        <p:spPr>
          <a:xfrm>
            <a:off x="9372600" y="4370832"/>
            <a:ext cx="457200" cy="457200"/>
          </a:xfrm>
          <a:prstGeom prst="ellipse">
            <a:avLst/>
          </a:prstGeom>
          <a:solidFill>
            <a:srgbClr val="1E2761"/>
          </a:solidFill>
          <a:ln/>
        </p:spPr>
      </p:sp>
      <p:pic>
        <p:nvPicPr>
          <p:cNvPr id="41" name="Image 7" descr="C:\Users\Niharika\AppData\Local\Temp\claude\C--Users-Niharika-Linkedout\10362697-8d2a-4530-a202-c572b85676f5\scratchpad\deck\icons\gitbranch_white.png">    </p:cNvPr>
          <p:cNvPicPr>
            <a:picLocks noChangeAspect="1"/>
          </p:cNvPicPr>
          <p:nvPr/>
        </p:nvPicPr>
        <p:blipFill>
          <a:blip r:embed="rId8"/>
          <a:stretch>
            <a:fillRect/>
          </a:stretch>
        </p:blipFill>
        <p:spPr>
          <a:xfrm>
            <a:off x="9475470" y="4473702"/>
            <a:ext cx="251460" cy="251460"/>
          </a:xfrm>
          <a:prstGeom prst="rect">
            <a:avLst/>
          </a:prstGeom>
        </p:spPr>
      </p:pic>
      <p:sp>
        <p:nvSpPr>
          <p:cNvPr id="42" name="Text 32"/>
          <p:cNvSpPr/>
          <p:nvPr/>
        </p:nvSpPr>
        <p:spPr>
          <a:xfrm>
            <a:off x="9994392" y="4334256"/>
            <a:ext cx="15453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Manual listing entry</a:t>
            </a:r>
            <a:endParaRPr lang="en-US" sz="1400" dirty="0"/>
          </a:p>
        </p:txBody>
      </p:sp>
      <p:sp>
        <p:nvSpPr>
          <p:cNvPr id="43" name="Text 33"/>
          <p:cNvSpPr/>
          <p:nvPr/>
        </p:nvSpPr>
        <p:spPr>
          <a:xfrm>
            <a:off x="9372600" y="4901184"/>
            <a:ext cx="2093976" cy="112471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Add LinkedIn or any off-scraper role directly — always published immediately.</a:t>
            </a:r>
            <a:endParaRPr lang="en-US" sz="1100" dirty="0"/>
          </a:p>
        </p:txBody>
      </p:sp>
      <p:sp>
        <p:nvSpPr>
          <p:cNvPr id="45" name="Text 34"/>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46" name="Text 3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Every request passes four gates before it touches data</a:t>
            </a:r>
            <a:endParaRPr lang="en-US" sz="2600" dirty="0"/>
          </a:p>
        </p:txBody>
      </p:sp>
      <p:sp>
        <p:nvSpPr>
          <p:cNvPr id="4" name="Shape 2"/>
          <p:cNvSpPr/>
          <p:nvPr/>
        </p:nvSpPr>
        <p:spPr>
          <a:xfrm>
            <a:off x="502920"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877824" y="2103120"/>
            <a:ext cx="548640" cy="548640"/>
          </a:xfrm>
          <a:prstGeom prst="ellipse">
            <a:avLst/>
          </a:prstGeom>
          <a:solidFill>
            <a:srgbClr val="02C39A"/>
          </a:solidFill>
          <a:ln/>
        </p:spPr>
      </p:sp>
      <p:pic>
        <p:nvPicPr>
          <p:cNvPr id="6" name="Image 0" descr="C:\Users\Niharika\AppData\Local\Temp\claude\C--Users-Niharika-Linkedout\10362697-8d2a-4530-a202-c572b85676f5\scratchpad\deck\icons\globe_white.png">    </p:cNvPr>
          <p:cNvPicPr>
            <a:picLocks noChangeAspect="1"/>
          </p:cNvPicPr>
          <p:nvPr/>
        </p:nvPicPr>
        <p:blipFill>
          <a:blip r:embed="rId1"/>
          <a:stretch>
            <a:fillRect/>
          </a:stretch>
        </p:blipFill>
        <p:spPr>
          <a:xfrm>
            <a:off x="1001268" y="2226564"/>
            <a:ext cx="301752" cy="301752"/>
          </a:xfrm>
          <a:prstGeom prst="rect">
            <a:avLst/>
          </a:prstGeom>
        </p:spPr>
      </p:pic>
      <p:sp>
        <p:nvSpPr>
          <p:cNvPr id="7" name="Text 4"/>
          <p:cNvSpPr/>
          <p:nvPr/>
        </p:nvSpPr>
        <p:spPr>
          <a:xfrm>
            <a:off x="576072"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Client</a:t>
            </a:r>
            <a:endParaRPr lang="en-US" sz="1200" dirty="0"/>
          </a:p>
        </p:txBody>
      </p:sp>
      <p:sp>
        <p:nvSpPr>
          <p:cNvPr id="8" name="Text 5"/>
          <p:cNvSpPr/>
          <p:nvPr/>
        </p:nvSpPr>
        <p:spPr>
          <a:xfrm>
            <a:off x="576072"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Browser / Postman</a:t>
            </a:r>
            <a:endParaRPr lang="en-US" sz="950" dirty="0"/>
          </a:p>
        </p:txBody>
      </p:sp>
      <p:sp>
        <p:nvSpPr>
          <p:cNvPr id="9" name="Shape 6"/>
          <p:cNvSpPr/>
          <p:nvPr/>
        </p:nvSpPr>
        <p:spPr>
          <a:xfrm>
            <a:off x="1810512" y="2619756"/>
            <a:ext cx="105156" cy="201168"/>
          </a:xfrm>
          <a:prstGeom prst="rightArrow">
            <a:avLst/>
          </a:prstGeom>
          <a:solidFill>
            <a:srgbClr val="B9C2E8"/>
          </a:solidFill>
          <a:ln/>
        </p:spPr>
      </p:sp>
      <p:sp>
        <p:nvSpPr>
          <p:cNvPr id="10" name="Shape 7"/>
          <p:cNvSpPr/>
          <p:nvPr/>
        </p:nvSpPr>
        <p:spPr>
          <a:xfrm>
            <a:off x="1924812"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1" name="Shape 8"/>
          <p:cNvSpPr/>
          <p:nvPr/>
        </p:nvSpPr>
        <p:spPr>
          <a:xfrm>
            <a:off x="2299716" y="2103120"/>
            <a:ext cx="548640" cy="548640"/>
          </a:xfrm>
          <a:prstGeom prst="ellipse">
            <a:avLst/>
          </a:prstGeom>
          <a:solidFill>
            <a:srgbClr val="02C39A"/>
          </a:solidFill>
          <a:ln/>
        </p:spPr>
      </p:sp>
      <p:pic>
        <p:nvPicPr>
          <p:cNvPr id="12" name="Image 1" descr="C:\Users\Niharika\AppData\Local\Temp\claude\C--Users-Niharika-Linkedout\10362697-8d2a-4530-a202-c572b85676f5\scratchpad\deck\icons\gitbranch_white.png">    </p:cNvPr>
          <p:cNvPicPr>
            <a:picLocks noChangeAspect="1"/>
          </p:cNvPicPr>
          <p:nvPr/>
        </p:nvPicPr>
        <p:blipFill>
          <a:blip r:embed="rId2"/>
          <a:stretch>
            <a:fillRect/>
          </a:stretch>
        </p:blipFill>
        <p:spPr>
          <a:xfrm>
            <a:off x="2423160" y="2226564"/>
            <a:ext cx="301752" cy="301752"/>
          </a:xfrm>
          <a:prstGeom prst="rect">
            <a:avLst/>
          </a:prstGeom>
        </p:spPr>
      </p:pic>
      <p:sp>
        <p:nvSpPr>
          <p:cNvPr id="13" name="Text 9"/>
          <p:cNvSpPr/>
          <p:nvPr/>
        </p:nvSpPr>
        <p:spPr>
          <a:xfrm>
            <a:off x="1997964"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Router</a:t>
            </a:r>
            <a:endParaRPr lang="en-US" sz="1200" dirty="0"/>
          </a:p>
        </p:txBody>
      </p:sp>
      <p:sp>
        <p:nvSpPr>
          <p:cNvPr id="14" name="Text 10"/>
          <p:cNvSpPr/>
          <p:nvPr/>
        </p:nvSpPr>
        <p:spPr>
          <a:xfrm>
            <a:off x="1997964"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Express route</a:t>
            </a:r>
            <a:endParaRPr lang="en-US" sz="950" dirty="0"/>
          </a:p>
        </p:txBody>
      </p:sp>
      <p:sp>
        <p:nvSpPr>
          <p:cNvPr id="15" name="Shape 11"/>
          <p:cNvSpPr/>
          <p:nvPr/>
        </p:nvSpPr>
        <p:spPr>
          <a:xfrm>
            <a:off x="3232404" y="2619756"/>
            <a:ext cx="105156" cy="201168"/>
          </a:xfrm>
          <a:prstGeom prst="rightArrow">
            <a:avLst/>
          </a:prstGeom>
          <a:solidFill>
            <a:srgbClr val="B9C2E8"/>
          </a:solidFill>
          <a:ln/>
        </p:spPr>
      </p:sp>
      <p:sp>
        <p:nvSpPr>
          <p:cNvPr id="16" name="Shape 12"/>
          <p:cNvSpPr/>
          <p:nvPr/>
        </p:nvSpPr>
        <p:spPr>
          <a:xfrm>
            <a:off x="3346704"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7" name="Shape 13"/>
          <p:cNvSpPr/>
          <p:nvPr/>
        </p:nvSpPr>
        <p:spPr>
          <a:xfrm>
            <a:off x="3721608" y="2103120"/>
            <a:ext cx="548640" cy="548640"/>
          </a:xfrm>
          <a:prstGeom prst="ellipse">
            <a:avLst/>
          </a:prstGeom>
          <a:solidFill>
            <a:srgbClr val="02C39A"/>
          </a:solidFill>
          <a:ln/>
        </p:spPr>
      </p:sp>
      <p:pic>
        <p:nvPicPr>
          <p:cNvPr id="18" name="Image 2" descr="C:\Users\Niharika\AppData\Local\Temp\claude\C--Users-Niharika-Linkedout\10362697-8d2a-4530-a202-c572b85676f5\scratchpad\deck\icons\lock_white.png">    </p:cNvPr>
          <p:cNvPicPr>
            <a:picLocks noChangeAspect="1"/>
          </p:cNvPicPr>
          <p:nvPr/>
        </p:nvPicPr>
        <p:blipFill>
          <a:blip r:embed="rId3"/>
          <a:stretch>
            <a:fillRect/>
          </a:stretch>
        </p:blipFill>
        <p:spPr>
          <a:xfrm>
            <a:off x="3845052" y="2226564"/>
            <a:ext cx="301752" cy="301752"/>
          </a:xfrm>
          <a:prstGeom prst="rect">
            <a:avLst/>
          </a:prstGeom>
        </p:spPr>
      </p:pic>
      <p:sp>
        <p:nvSpPr>
          <p:cNvPr id="19" name="Text 14"/>
          <p:cNvSpPr/>
          <p:nvPr/>
        </p:nvSpPr>
        <p:spPr>
          <a:xfrm>
            <a:off x="3419856"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verifyToken</a:t>
            </a:r>
            <a:endParaRPr lang="en-US" sz="1200" dirty="0"/>
          </a:p>
        </p:txBody>
      </p:sp>
      <p:sp>
        <p:nvSpPr>
          <p:cNvPr id="20" name="Text 15"/>
          <p:cNvSpPr/>
          <p:nvPr/>
        </p:nvSpPr>
        <p:spPr>
          <a:xfrm>
            <a:off x="3419856"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JWT cookie + tokenVersion check</a:t>
            </a:r>
            <a:endParaRPr lang="en-US" sz="950" dirty="0"/>
          </a:p>
        </p:txBody>
      </p:sp>
      <p:sp>
        <p:nvSpPr>
          <p:cNvPr id="21" name="Shape 16"/>
          <p:cNvSpPr/>
          <p:nvPr/>
        </p:nvSpPr>
        <p:spPr>
          <a:xfrm>
            <a:off x="4654296" y="2619756"/>
            <a:ext cx="105156" cy="201168"/>
          </a:xfrm>
          <a:prstGeom prst="rightArrow">
            <a:avLst/>
          </a:prstGeom>
          <a:solidFill>
            <a:srgbClr val="B9C2E8"/>
          </a:solidFill>
          <a:ln/>
        </p:spPr>
      </p:sp>
      <p:sp>
        <p:nvSpPr>
          <p:cNvPr id="22" name="Shape 17"/>
          <p:cNvSpPr/>
          <p:nvPr/>
        </p:nvSpPr>
        <p:spPr>
          <a:xfrm>
            <a:off x="4768596"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3" name="Shape 18"/>
          <p:cNvSpPr/>
          <p:nvPr/>
        </p:nvSpPr>
        <p:spPr>
          <a:xfrm>
            <a:off x="5143500" y="2103120"/>
            <a:ext cx="548640" cy="548640"/>
          </a:xfrm>
          <a:prstGeom prst="ellipse">
            <a:avLst/>
          </a:prstGeom>
          <a:solidFill>
            <a:srgbClr val="02C39A"/>
          </a:solidFill>
          <a:ln/>
        </p:spPr>
      </p:sp>
      <p:pic>
        <p:nvPicPr>
          <p:cNvPr id="24" name="Image 3" descr="C:\Users\Niharika\AppData\Local\Temp\claude\C--Users-Niharika-Linkedout\10362697-8d2a-4530-a202-c572b85676f5\scratchpad\deck\icons\users_white.png">    </p:cNvPr>
          <p:cNvPicPr>
            <a:picLocks noChangeAspect="1"/>
          </p:cNvPicPr>
          <p:nvPr/>
        </p:nvPicPr>
        <p:blipFill>
          <a:blip r:embed="rId4"/>
          <a:stretch>
            <a:fillRect/>
          </a:stretch>
        </p:blipFill>
        <p:spPr>
          <a:xfrm>
            <a:off x="5266944" y="2226564"/>
            <a:ext cx="301752" cy="301752"/>
          </a:xfrm>
          <a:prstGeom prst="rect">
            <a:avLst/>
          </a:prstGeom>
        </p:spPr>
      </p:pic>
      <p:sp>
        <p:nvSpPr>
          <p:cNvPr id="25" name="Text 19"/>
          <p:cNvSpPr/>
          <p:nvPr/>
        </p:nvSpPr>
        <p:spPr>
          <a:xfrm>
            <a:off x="4841748"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requireRole</a:t>
            </a:r>
            <a:endParaRPr lang="en-US" sz="1200" dirty="0"/>
          </a:p>
        </p:txBody>
      </p:sp>
      <p:sp>
        <p:nvSpPr>
          <p:cNvPr id="26" name="Text 20"/>
          <p:cNvSpPr/>
          <p:nvPr/>
        </p:nvSpPr>
        <p:spPr>
          <a:xfrm>
            <a:off x="4841748"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RBAC allow-list</a:t>
            </a:r>
            <a:endParaRPr lang="en-US" sz="950" dirty="0"/>
          </a:p>
        </p:txBody>
      </p:sp>
      <p:sp>
        <p:nvSpPr>
          <p:cNvPr id="27" name="Shape 21"/>
          <p:cNvSpPr/>
          <p:nvPr/>
        </p:nvSpPr>
        <p:spPr>
          <a:xfrm>
            <a:off x="6076188" y="2619756"/>
            <a:ext cx="105156" cy="201168"/>
          </a:xfrm>
          <a:prstGeom prst="rightArrow">
            <a:avLst/>
          </a:prstGeom>
          <a:solidFill>
            <a:srgbClr val="B9C2E8"/>
          </a:solidFill>
          <a:ln/>
        </p:spPr>
      </p:sp>
      <p:sp>
        <p:nvSpPr>
          <p:cNvPr id="28" name="Shape 22"/>
          <p:cNvSpPr/>
          <p:nvPr/>
        </p:nvSpPr>
        <p:spPr>
          <a:xfrm>
            <a:off x="6190488"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9" name="Shape 23"/>
          <p:cNvSpPr/>
          <p:nvPr/>
        </p:nvSpPr>
        <p:spPr>
          <a:xfrm>
            <a:off x="6565392" y="2103120"/>
            <a:ext cx="548640" cy="548640"/>
          </a:xfrm>
          <a:prstGeom prst="ellipse">
            <a:avLst/>
          </a:prstGeom>
          <a:solidFill>
            <a:srgbClr val="02C39A"/>
          </a:solidFill>
          <a:ln/>
        </p:spPr>
      </p:sp>
      <p:pic>
        <p:nvPicPr>
          <p:cNvPr id="30" name="Image 4" descr="C:\Users\Niharika\AppData\Local\Temp\claude\C--Users-Niharika-Linkedout\10362697-8d2a-4530-a202-c572b85676f5\scratchpad\deck\icons\check_white.png">    </p:cNvPr>
          <p:cNvPicPr>
            <a:picLocks noChangeAspect="1"/>
          </p:cNvPicPr>
          <p:nvPr/>
        </p:nvPicPr>
        <p:blipFill>
          <a:blip r:embed="rId5"/>
          <a:stretch>
            <a:fillRect/>
          </a:stretch>
        </p:blipFill>
        <p:spPr>
          <a:xfrm>
            <a:off x="6688836" y="2226564"/>
            <a:ext cx="301752" cy="301752"/>
          </a:xfrm>
          <a:prstGeom prst="rect">
            <a:avLst/>
          </a:prstGeom>
        </p:spPr>
      </p:pic>
      <p:sp>
        <p:nvSpPr>
          <p:cNvPr id="31" name="Text 24"/>
          <p:cNvSpPr/>
          <p:nvPr/>
        </p:nvSpPr>
        <p:spPr>
          <a:xfrm>
            <a:off x="6263640"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validate()</a:t>
            </a:r>
            <a:endParaRPr lang="en-US" sz="1200" dirty="0"/>
          </a:p>
        </p:txBody>
      </p:sp>
      <p:sp>
        <p:nvSpPr>
          <p:cNvPr id="32" name="Text 25"/>
          <p:cNvSpPr/>
          <p:nvPr/>
        </p:nvSpPr>
        <p:spPr>
          <a:xfrm>
            <a:off x="6263640"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Zod schema, 400 on failure</a:t>
            </a:r>
            <a:endParaRPr lang="en-US" sz="950" dirty="0"/>
          </a:p>
        </p:txBody>
      </p:sp>
      <p:sp>
        <p:nvSpPr>
          <p:cNvPr id="33" name="Shape 26"/>
          <p:cNvSpPr/>
          <p:nvPr/>
        </p:nvSpPr>
        <p:spPr>
          <a:xfrm>
            <a:off x="7498080" y="2619756"/>
            <a:ext cx="105156" cy="201168"/>
          </a:xfrm>
          <a:prstGeom prst="rightArrow">
            <a:avLst/>
          </a:prstGeom>
          <a:solidFill>
            <a:srgbClr val="B9C2E8"/>
          </a:solidFill>
          <a:ln/>
        </p:spPr>
      </p:sp>
      <p:sp>
        <p:nvSpPr>
          <p:cNvPr id="34" name="Shape 27"/>
          <p:cNvSpPr/>
          <p:nvPr/>
        </p:nvSpPr>
        <p:spPr>
          <a:xfrm>
            <a:off x="7612380"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5" name="Shape 28"/>
          <p:cNvSpPr/>
          <p:nvPr/>
        </p:nvSpPr>
        <p:spPr>
          <a:xfrm>
            <a:off x="7987284" y="2103120"/>
            <a:ext cx="548640" cy="548640"/>
          </a:xfrm>
          <a:prstGeom prst="ellipse">
            <a:avLst/>
          </a:prstGeom>
          <a:solidFill>
            <a:srgbClr val="02C39A"/>
          </a:solidFill>
          <a:ln/>
        </p:spPr>
      </p:sp>
      <p:pic>
        <p:nvPicPr>
          <p:cNvPr id="36" name="Image 5" descr="C:\Users\Niharika\AppData\Local\Temp\claude\C--Users-Niharika-Linkedout\10362697-8d2a-4530-a202-c572b85676f5\scratchpad\deck\icons\code_white.png">    </p:cNvPr>
          <p:cNvPicPr>
            <a:picLocks noChangeAspect="1"/>
          </p:cNvPicPr>
          <p:nvPr/>
        </p:nvPicPr>
        <p:blipFill>
          <a:blip r:embed="rId6"/>
          <a:stretch>
            <a:fillRect/>
          </a:stretch>
        </p:blipFill>
        <p:spPr>
          <a:xfrm>
            <a:off x="8110728" y="2226564"/>
            <a:ext cx="301752" cy="301752"/>
          </a:xfrm>
          <a:prstGeom prst="rect">
            <a:avLst/>
          </a:prstGeom>
        </p:spPr>
      </p:pic>
      <p:sp>
        <p:nvSpPr>
          <p:cNvPr id="37" name="Text 29"/>
          <p:cNvSpPr/>
          <p:nvPr/>
        </p:nvSpPr>
        <p:spPr>
          <a:xfrm>
            <a:off x="7685532"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Controller</a:t>
            </a:r>
            <a:endParaRPr lang="en-US" sz="1200" dirty="0"/>
          </a:p>
        </p:txBody>
      </p:sp>
      <p:sp>
        <p:nvSpPr>
          <p:cNvPr id="38" name="Text 30"/>
          <p:cNvSpPr/>
          <p:nvPr/>
        </p:nvSpPr>
        <p:spPr>
          <a:xfrm>
            <a:off x="7685532"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Request handling</a:t>
            </a:r>
            <a:endParaRPr lang="en-US" sz="950" dirty="0"/>
          </a:p>
        </p:txBody>
      </p:sp>
      <p:sp>
        <p:nvSpPr>
          <p:cNvPr id="39" name="Shape 31"/>
          <p:cNvSpPr/>
          <p:nvPr/>
        </p:nvSpPr>
        <p:spPr>
          <a:xfrm>
            <a:off x="8919972" y="2619756"/>
            <a:ext cx="105156" cy="201168"/>
          </a:xfrm>
          <a:prstGeom prst="rightArrow">
            <a:avLst/>
          </a:prstGeom>
          <a:solidFill>
            <a:srgbClr val="B9C2E8"/>
          </a:solidFill>
          <a:ln/>
        </p:spPr>
      </p:sp>
      <p:sp>
        <p:nvSpPr>
          <p:cNvPr id="40" name="Shape 32"/>
          <p:cNvSpPr/>
          <p:nvPr/>
        </p:nvSpPr>
        <p:spPr>
          <a:xfrm>
            <a:off x="9034272"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1" name="Shape 33"/>
          <p:cNvSpPr/>
          <p:nvPr/>
        </p:nvSpPr>
        <p:spPr>
          <a:xfrm>
            <a:off x="9409176" y="2103120"/>
            <a:ext cx="548640" cy="548640"/>
          </a:xfrm>
          <a:prstGeom prst="ellipse">
            <a:avLst/>
          </a:prstGeom>
          <a:solidFill>
            <a:srgbClr val="02C39A"/>
          </a:solidFill>
          <a:ln/>
        </p:spPr>
      </p:sp>
      <p:pic>
        <p:nvPicPr>
          <p:cNvPr id="42" name="Image 6" descr="C:\Users\Niharika\AppData\Local\Temp\claude\C--Users-Niharika-Linkedout\10362697-8d2a-4530-a202-c572b85676f5\scratchpad\deck\icons\cpu_white.png">    </p:cNvPr>
          <p:cNvPicPr>
            <a:picLocks noChangeAspect="1"/>
          </p:cNvPicPr>
          <p:nvPr/>
        </p:nvPicPr>
        <p:blipFill>
          <a:blip r:embed="rId7"/>
          <a:stretch>
            <a:fillRect/>
          </a:stretch>
        </p:blipFill>
        <p:spPr>
          <a:xfrm>
            <a:off x="9532620" y="2226564"/>
            <a:ext cx="301752" cy="301752"/>
          </a:xfrm>
          <a:prstGeom prst="rect">
            <a:avLst/>
          </a:prstGeom>
        </p:spPr>
      </p:pic>
      <p:sp>
        <p:nvSpPr>
          <p:cNvPr id="43" name="Text 34"/>
          <p:cNvSpPr/>
          <p:nvPr/>
        </p:nvSpPr>
        <p:spPr>
          <a:xfrm>
            <a:off x="9107424"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Service / Model</a:t>
            </a:r>
            <a:endParaRPr lang="en-US" sz="1200" dirty="0"/>
          </a:p>
        </p:txBody>
      </p:sp>
      <p:sp>
        <p:nvSpPr>
          <p:cNvPr id="44" name="Text 35"/>
          <p:cNvSpPr/>
          <p:nvPr/>
        </p:nvSpPr>
        <p:spPr>
          <a:xfrm>
            <a:off x="9107424"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Business logic</a:t>
            </a:r>
            <a:endParaRPr lang="en-US" sz="950" dirty="0"/>
          </a:p>
        </p:txBody>
      </p:sp>
      <p:sp>
        <p:nvSpPr>
          <p:cNvPr id="45" name="Shape 36"/>
          <p:cNvSpPr/>
          <p:nvPr/>
        </p:nvSpPr>
        <p:spPr>
          <a:xfrm>
            <a:off x="10341864" y="2619756"/>
            <a:ext cx="105156" cy="201168"/>
          </a:xfrm>
          <a:prstGeom prst="rightArrow">
            <a:avLst/>
          </a:prstGeom>
          <a:solidFill>
            <a:srgbClr val="B9C2E8"/>
          </a:solidFill>
          <a:ln/>
        </p:spPr>
      </p:sp>
      <p:sp>
        <p:nvSpPr>
          <p:cNvPr id="46" name="Shape 37"/>
          <p:cNvSpPr/>
          <p:nvPr/>
        </p:nvSpPr>
        <p:spPr>
          <a:xfrm>
            <a:off x="10456164" y="1920240"/>
            <a:ext cx="1298448" cy="1600200"/>
          </a:xfrm>
          <a:prstGeom prst="roundRect">
            <a:avLst>
              <a:gd name="adj" fmla="val 7042"/>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7" name="Shape 38"/>
          <p:cNvSpPr/>
          <p:nvPr/>
        </p:nvSpPr>
        <p:spPr>
          <a:xfrm>
            <a:off x="10831068" y="2103120"/>
            <a:ext cx="548640" cy="548640"/>
          </a:xfrm>
          <a:prstGeom prst="ellipse">
            <a:avLst/>
          </a:prstGeom>
          <a:solidFill>
            <a:srgbClr val="02C39A"/>
          </a:solidFill>
          <a:ln/>
        </p:spPr>
      </p:sp>
      <p:pic>
        <p:nvPicPr>
          <p:cNvPr id="48" name="Image 7" descr="C:\Users\Niharika\AppData\Local\Temp\claude\C--Users-Niharika-Linkedout\10362697-8d2a-4530-a202-c572b85676f5\scratchpad\deck\icons\database_white.png">    </p:cNvPr>
          <p:cNvPicPr>
            <a:picLocks noChangeAspect="1"/>
          </p:cNvPicPr>
          <p:nvPr/>
        </p:nvPicPr>
        <p:blipFill>
          <a:blip r:embed="rId8"/>
          <a:stretch>
            <a:fillRect/>
          </a:stretch>
        </p:blipFill>
        <p:spPr>
          <a:xfrm>
            <a:off x="10954512" y="2226564"/>
            <a:ext cx="301752" cy="301752"/>
          </a:xfrm>
          <a:prstGeom prst="rect">
            <a:avLst/>
          </a:prstGeom>
        </p:spPr>
      </p:pic>
      <p:sp>
        <p:nvSpPr>
          <p:cNvPr id="49" name="Text 39"/>
          <p:cNvSpPr/>
          <p:nvPr/>
        </p:nvSpPr>
        <p:spPr>
          <a:xfrm>
            <a:off x="10529316" y="2761488"/>
            <a:ext cx="1152144"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MongoDB</a:t>
            </a:r>
            <a:endParaRPr lang="en-US" sz="1200" dirty="0"/>
          </a:p>
        </p:txBody>
      </p:sp>
      <p:sp>
        <p:nvSpPr>
          <p:cNvPr id="50" name="Text 40"/>
          <p:cNvSpPr/>
          <p:nvPr/>
        </p:nvSpPr>
        <p:spPr>
          <a:xfrm>
            <a:off x="10529316" y="3108960"/>
            <a:ext cx="1152144" cy="32004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Persisted + indexed</a:t>
            </a:r>
            <a:endParaRPr lang="en-US" sz="950" dirty="0"/>
          </a:p>
        </p:txBody>
      </p:sp>
      <p:sp>
        <p:nvSpPr>
          <p:cNvPr id="51" name="Shape 41"/>
          <p:cNvSpPr/>
          <p:nvPr/>
        </p:nvSpPr>
        <p:spPr>
          <a:xfrm>
            <a:off x="502920" y="3977640"/>
            <a:ext cx="1120140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2" name="Text 42"/>
          <p:cNvSpPr/>
          <p:nvPr/>
        </p:nvSpPr>
        <p:spPr>
          <a:xfrm>
            <a:off x="777240" y="4160520"/>
            <a:ext cx="457200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Centralized error handling</a:t>
            </a:r>
            <a:endParaRPr lang="en-US" sz="1300" dirty="0"/>
          </a:p>
        </p:txBody>
      </p:sp>
      <p:sp>
        <p:nvSpPr>
          <p:cNvPr id="53" name="Text 43"/>
          <p:cNvSpPr/>
          <p:nvPr/>
        </p:nvSpPr>
        <p:spPr>
          <a:xfrm>
            <a:off x="777240" y="4480560"/>
            <a:ext cx="10652760" cy="822960"/>
          </a:xfrm>
          <a:prstGeom prst="rect">
            <a:avLst/>
          </a:prstGeom>
          <a:noFill/>
          <a:ln/>
        </p:spPr>
        <p:txBody>
          <a:bodyPr wrap="square" rtlCol="0" anchor="ctr"/>
          <a:lstStyle/>
          <a:p>
            <a:pPr indent="0" marL="0">
              <a:lnSpc>
                <a:spcPct val="125000"/>
              </a:lnSpc>
              <a:buNone/>
            </a:pPr>
            <a:r>
              <a:rPr lang="en-US" sz="1150" dirty="0">
                <a:solidFill>
                  <a:srgbClr val="454B6B"/>
                </a:solidFill>
                <a:latin typeface="Calibri" pitchFamily="34" charset="0"/>
                <a:ea typeface="Calibri" pitchFamily="34" charset="-122"/>
                <a:cs typeface="Calibri" pitchFamily="34" charset="-120"/>
              </a:rPr>
              <a:t>A single errorHandler middleware normalizes every thrown error — Mongoose validation/cast errors, duplicate-key errors, JWT errors, Multer errors, explicit ApiErrors — into one consistent { success, message, errors? } envelope with the correct HTTP status. No ad-hoc try/catch response shapes scattered across controllers.</a:t>
            </a:r>
            <a:endParaRPr lang="en-US" sz="1150" dirty="0"/>
          </a:p>
        </p:txBody>
      </p:sp>
      <p:sp>
        <p:nvSpPr>
          <p:cNvPr id="54" name="Shape 44"/>
          <p:cNvSpPr/>
          <p:nvPr/>
        </p:nvSpPr>
        <p:spPr>
          <a:xfrm>
            <a:off x="502920" y="5532120"/>
            <a:ext cx="11201400" cy="777240"/>
          </a:xfrm>
          <a:prstGeom prst="roundRect">
            <a:avLst>
              <a:gd name="adj" fmla="val 9412"/>
            </a:avLst>
          </a:prstGeom>
          <a:solidFill>
            <a:srgbClr val="1E2761"/>
          </a:solidFill>
          <a:ln w="12700">
            <a:solidFill>
              <a:srgbClr val="1E2761"/>
            </a:solidFill>
            <a:prstDash val="solid"/>
          </a:ln>
        </p:spPr>
      </p:sp>
      <p:sp>
        <p:nvSpPr>
          <p:cNvPr id="55" name="Text 45"/>
          <p:cNvSpPr/>
          <p:nvPr/>
        </p:nvSpPr>
        <p:spPr>
          <a:xfrm>
            <a:off x="777240" y="5532120"/>
            <a:ext cx="10652760" cy="7772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Ownership checks return 404, not 403 </a:t>
            </a:r>
            <a:pPr indent="0" marL="0">
              <a:buNone/>
            </a:pPr>
            <a:r>
              <a:rPr lang="en-US" sz="1200" dirty="0">
                <a:solidFill>
                  <a:srgbClr val="CADCFC"/>
                </a:solidFill>
                <a:latin typeface="Calibri" pitchFamily="34" charset="0"/>
                <a:ea typeface="Calibri" pitchFamily="34" charset="-122"/>
                <a:cs typeface="Calibri" pitchFamily="34" charset="-120"/>
              </a:rPr>
              <a:t>on another user's resource — so a request can't even confirm it exists.</a:t>
            </a:r>
            <a:endParaRPr lang="en-US" sz="1200" dirty="0"/>
          </a:p>
        </p:txBody>
      </p:sp>
      <p:sp>
        <p:nvSpPr>
          <p:cNvPr id="57" name="Text 46"/>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58" name="Text 4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ARCHITECTURE</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From scraped HTML to a trusted listing</a:t>
            </a:r>
            <a:endParaRPr lang="en-US" sz="2800" dirty="0"/>
          </a:p>
        </p:txBody>
      </p:sp>
      <p:sp>
        <p:nvSpPr>
          <p:cNvPr id="4" name="Shape 2"/>
          <p:cNvSpPr/>
          <p:nvPr/>
        </p:nvSpPr>
        <p:spPr>
          <a:xfrm>
            <a:off x="640080" y="1828800"/>
            <a:ext cx="2468880" cy="1737360"/>
          </a:xfrm>
          <a:prstGeom prst="roundRect">
            <a:avLst>
              <a:gd name="adj" fmla="val 5263"/>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1600200" y="2011680"/>
            <a:ext cx="548640" cy="548640"/>
          </a:xfrm>
          <a:prstGeom prst="ellipse">
            <a:avLst/>
          </a:prstGeom>
          <a:solidFill>
            <a:srgbClr val="02C39A"/>
          </a:solidFill>
          <a:ln/>
        </p:spPr>
      </p:sp>
      <p:pic>
        <p:nvPicPr>
          <p:cNvPr id="6" name="Image 0" descr="C:\Users\Niharika\AppData\Local\Temp\claude\C--Users-Niharika-Linkedout\10362697-8d2a-4530-a202-c572b85676f5\scratchpad\deck\icons\cloud_white.png">    </p:cNvPr>
          <p:cNvPicPr>
            <a:picLocks noChangeAspect="1"/>
          </p:cNvPicPr>
          <p:nvPr/>
        </p:nvPicPr>
        <p:blipFill>
          <a:blip r:embed="rId1"/>
          <a:stretch>
            <a:fillRect/>
          </a:stretch>
        </p:blipFill>
        <p:spPr>
          <a:xfrm>
            <a:off x="1723644" y="2135124"/>
            <a:ext cx="301752" cy="301752"/>
          </a:xfrm>
          <a:prstGeom prst="rect">
            <a:avLst/>
          </a:prstGeom>
        </p:spPr>
      </p:pic>
      <p:sp>
        <p:nvSpPr>
          <p:cNvPr id="7" name="Text 4"/>
          <p:cNvSpPr/>
          <p:nvPr/>
        </p:nvSpPr>
        <p:spPr>
          <a:xfrm>
            <a:off x="713232" y="2670048"/>
            <a:ext cx="2322576"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Scrape</a:t>
            </a:r>
            <a:endParaRPr lang="en-US" sz="1200" dirty="0"/>
          </a:p>
        </p:txBody>
      </p:sp>
      <p:sp>
        <p:nvSpPr>
          <p:cNvPr id="8" name="Text 5"/>
          <p:cNvSpPr/>
          <p:nvPr/>
        </p:nvSpPr>
        <p:spPr>
          <a:xfrm>
            <a:off x="713232" y="3017520"/>
            <a:ext cx="2322576" cy="45720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cheerio (static) or Puppeteer (JS-rendered), per-source adapter</a:t>
            </a:r>
            <a:endParaRPr lang="en-US" sz="950" dirty="0"/>
          </a:p>
        </p:txBody>
      </p:sp>
      <p:sp>
        <p:nvSpPr>
          <p:cNvPr id="9" name="Shape 6"/>
          <p:cNvSpPr/>
          <p:nvPr/>
        </p:nvSpPr>
        <p:spPr>
          <a:xfrm>
            <a:off x="3136392" y="2596896"/>
            <a:ext cx="265176" cy="201168"/>
          </a:xfrm>
          <a:prstGeom prst="rightArrow">
            <a:avLst/>
          </a:prstGeom>
          <a:solidFill>
            <a:srgbClr val="02C39A"/>
          </a:solidFill>
          <a:ln/>
        </p:spPr>
      </p:sp>
      <p:sp>
        <p:nvSpPr>
          <p:cNvPr id="10" name="Shape 7"/>
          <p:cNvSpPr/>
          <p:nvPr/>
        </p:nvSpPr>
        <p:spPr>
          <a:xfrm>
            <a:off x="3429000" y="1828800"/>
            <a:ext cx="2468880" cy="1737360"/>
          </a:xfrm>
          <a:prstGeom prst="roundRect">
            <a:avLst>
              <a:gd name="adj" fmla="val 5263"/>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1" name="Shape 8"/>
          <p:cNvSpPr/>
          <p:nvPr/>
        </p:nvSpPr>
        <p:spPr>
          <a:xfrm>
            <a:off x="4389120" y="2011680"/>
            <a:ext cx="548640" cy="548640"/>
          </a:xfrm>
          <a:prstGeom prst="ellipse">
            <a:avLst/>
          </a:prstGeom>
          <a:solidFill>
            <a:srgbClr val="02C39A"/>
          </a:solidFill>
          <a:ln/>
        </p:spPr>
      </p:sp>
      <p:pic>
        <p:nvPicPr>
          <p:cNvPr id="12" name="Image 1" descr="C:\Users\Niharika\AppData\Local\Temp\claude\C--Users-Niharika-Linkedout\10362697-8d2a-4530-a202-c572b85676f5\scratchpad\deck\icons\layers_white.png">    </p:cNvPr>
          <p:cNvPicPr>
            <a:picLocks noChangeAspect="1"/>
          </p:cNvPicPr>
          <p:nvPr/>
        </p:nvPicPr>
        <p:blipFill>
          <a:blip r:embed="rId2"/>
          <a:stretch>
            <a:fillRect/>
          </a:stretch>
        </p:blipFill>
        <p:spPr>
          <a:xfrm>
            <a:off x="4512564" y="2135124"/>
            <a:ext cx="301752" cy="301752"/>
          </a:xfrm>
          <a:prstGeom prst="rect">
            <a:avLst/>
          </a:prstGeom>
        </p:spPr>
      </p:pic>
      <p:sp>
        <p:nvSpPr>
          <p:cNvPr id="13" name="Text 9"/>
          <p:cNvSpPr/>
          <p:nvPr/>
        </p:nvSpPr>
        <p:spPr>
          <a:xfrm>
            <a:off x="3502152" y="2670048"/>
            <a:ext cx="2322576"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Normalize</a:t>
            </a:r>
            <a:endParaRPr lang="en-US" sz="1200" dirty="0"/>
          </a:p>
        </p:txBody>
      </p:sp>
      <p:sp>
        <p:nvSpPr>
          <p:cNvPr id="14" name="Text 10"/>
          <p:cNvSpPr/>
          <p:nvPr/>
        </p:nvSpPr>
        <p:spPr>
          <a:xfrm>
            <a:off x="3502152" y="3017520"/>
            <a:ext cx="2322576" cy="45720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normalizeListing() — one shared shape for scraped + manual</a:t>
            </a:r>
            <a:endParaRPr lang="en-US" sz="950" dirty="0"/>
          </a:p>
        </p:txBody>
      </p:sp>
      <p:sp>
        <p:nvSpPr>
          <p:cNvPr id="15" name="Shape 11"/>
          <p:cNvSpPr/>
          <p:nvPr/>
        </p:nvSpPr>
        <p:spPr>
          <a:xfrm>
            <a:off x="5925312" y="2596896"/>
            <a:ext cx="265176" cy="201168"/>
          </a:xfrm>
          <a:prstGeom prst="rightArrow">
            <a:avLst/>
          </a:prstGeom>
          <a:solidFill>
            <a:srgbClr val="02C39A"/>
          </a:solidFill>
          <a:ln/>
        </p:spPr>
      </p:sp>
      <p:sp>
        <p:nvSpPr>
          <p:cNvPr id="16" name="Shape 12"/>
          <p:cNvSpPr/>
          <p:nvPr/>
        </p:nvSpPr>
        <p:spPr>
          <a:xfrm>
            <a:off x="6217920" y="1828800"/>
            <a:ext cx="2468880" cy="1737360"/>
          </a:xfrm>
          <a:prstGeom prst="roundRect">
            <a:avLst>
              <a:gd name="adj" fmla="val 5263"/>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7" name="Shape 13"/>
          <p:cNvSpPr/>
          <p:nvPr/>
        </p:nvSpPr>
        <p:spPr>
          <a:xfrm>
            <a:off x="7178040" y="2011680"/>
            <a:ext cx="548640" cy="548640"/>
          </a:xfrm>
          <a:prstGeom prst="ellipse">
            <a:avLst/>
          </a:prstGeom>
          <a:solidFill>
            <a:srgbClr val="02C39A"/>
          </a:solidFill>
          <a:ln/>
        </p:spPr>
      </p:sp>
      <p:pic>
        <p:nvPicPr>
          <p:cNvPr id="18" name="Image 2" descr="C:\Users\Niharika\AppData\Local\Temp\claude\C--Users-Niharika-Linkedout\10362697-8d2a-4530-a202-c572b85676f5\scratchpad\deck\icons\refresh_white.png">    </p:cNvPr>
          <p:cNvPicPr>
            <a:picLocks noChangeAspect="1"/>
          </p:cNvPicPr>
          <p:nvPr/>
        </p:nvPicPr>
        <p:blipFill>
          <a:blip r:embed="rId3"/>
          <a:stretch>
            <a:fillRect/>
          </a:stretch>
        </p:blipFill>
        <p:spPr>
          <a:xfrm>
            <a:off x="7301484" y="2135124"/>
            <a:ext cx="301752" cy="301752"/>
          </a:xfrm>
          <a:prstGeom prst="rect">
            <a:avLst/>
          </a:prstGeom>
        </p:spPr>
      </p:pic>
      <p:sp>
        <p:nvSpPr>
          <p:cNvPr id="19" name="Text 14"/>
          <p:cNvSpPr/>
          <p:nvPr/>
        </p:nvSpPr>
        <p:spPr>
          <a:xfrm>
            <a:off x="6291072" y="2670048"/>
            <a:ext cx="2322576"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Dedup</a:t>
            </a:r>
            <a:endParaRPr lang="en-US" sz="1200" dirty="0"/>
          </a:p>
        </p:txBody>
      </p:sp>
      <p:sp>
        <p:nvSpPr>
          <p:cNvPr id="20" name="Text 15"/>
          <p:cNvSpPr/>
          <p:nvPr/>
        </p:nvSpPr>
        <p:spPr>
          <a:xfrm>
            <a:off x="6291072" y="3017520"/>
            <a:ext cx="2322576" cy="45720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Fuzzy Dice-coefficient similarity vs. same-company listings</a:t>
            </a:r>
            <a:endParaRPr lang="en-US" sz="950" dirty="0"/>
          </a:p>
        </p:txBody>
      </p:sp>
      <p:sp>
        <p:nvSpPr>
          <p:cNvPr id="21" name="Shape 16"/>
          <p:cNvSpPr/>
          <p:nvPr/>
        </p:nvSpPr>
        <p:spPr>
          <a:xfrm>
            <a:off x="8714232" y="2596896"/>
            <a:ext cx="265176" cy="201168"/>
          </a:xfrm>
          <a:prstGeom prst="rightArrow">
            <a:avLst/>
          </a:prstGeom>
          <a:solidFill>
            <a:srgbClr val="02C39A"/>
          </a:solidFill>
          <a:ln/>
        </p:spPr>
      </p:sp>
      <p:sp>
        <p:nvSpPr>
          <p:cNvPr id="22" name="Shape 17"/>
          <p:cNvSpPr/>
          <p:nvPr/>
        </p:nvSpPr>
        <p:spPr>
          <a:xfrm>
            <a:off x="9006840" y="1828800"/>
            <a:ext cx="2468880" cy="1737360"/>
          </a:xfrm>
          <a:prstGeom prst="roundRect">
            <a:avLst>
              <a:gd name="adj" fmla="val 5263"/>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3" name="Shape 18"/>
          <p:cNvSpPr/>
          <p:nvPr/>
        </p:nvSpPr>
        <p:spPr>
          <a:xfrm>
            <a:off x="9966960" y="2011680"/>
            <a:ext cx="548640" cy="548640"/>
          </a:xfrm>
          <a:prstGeom prst="ellipse">
            <a:avLst/>
          </a:prstGeom>
          <a:solidFill>
            <a:srgbClr val="02C39A"/>
          </a:solidFill>
          <a:ln/>
        </p:spPr>
      </p:sp>
      <p:pic>
        <p:nvPicPr>
          <p:cNvPr id="24" name="Image 3" descr="C:\Users\Niharika\AppData\Local\Temp\claude\C--Users-Niharika-Linkedout\10362697-8d2a-4530-a202-c572b85676f5\scratchpad\deck\icons\shield_white.png">    </p:cNvPr>
          <p:cNvPicPr>
            <a:picLocks noChangeAspect="1"/>
          </p:cNvPicPr>
          <p:nvPr/>
        </p:nvPicPr>
        <p:blipFill>
          <a:blip r:embed="rId4"/>
          <a:stretch>
            <a:fillRect/>
          </a:stretch>
        </p:blipFill>
        <p:spPr>
          <a:xfrm>
            <a:off x="10090404" y="2135124"/>
            <a:ext cx="301752" cy="301752"/>
          </a:xfrm>
          <a:prstGeom prst="rect">
            <a:avLst/>
          </a:prstGeom>
        </p:spPr>
      </p:pic>
      <p:sp>
        <p:nvSpPr>
          <p:cNvPr id="25" name="Text 19"/>
          <p:cNvSpPr/>
          <p:nvPr/>
        </p:nvSpPr>
        <p:spPr>
          <a:xfrm>
            <a:off x="9079992" y="2670048"/>
            <a:ext cx="2322576" cy="36576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Trust score</a:t>
            </a:r>
            <a:endParaRPr lang="en-US" sz="1200" dirty="0"/>
          </a:p>
        </p:txBody>
      </p:sp>
      <p:sp>
        <p:nvSpPr>
          <p:cNvPr id="26" name="Text 20"/>
          <p:cNvSpPr/>
          <p:nvPr/>
        </p:nvSpPr>
        <p:spPr>
          <a:xfrm>
            <a:off x="9079992" y="3017520"/>
            <a:ext cx="2322576" cy="457200"/>
          </a:xfrm>
          <a:prstGeom prst="rect">
            <a:avLst/>
          </a:prstGeom>
          <a:noFill/>
          <a:ln/>
        </p:spPr>
        <p:txBody>
          <a:bodyPr wrap="square" rtlCol="0" anchor="t"/>
          <a:lstStyle/>
          <a:p>
            <a:pPr algn="ctr" indent="0" marL="0">
              <a:buNone/>
            </a:pPr>
            <a:r>
              <a:rPr lang="en-US" sz="950" dirty="0">
                <a:solidFill>
                  <a:srgbClr val="7B81A3"/>
                </a:solidFill>
                <a:latin typeface="Calibri" pitchFamily="34" charset="0"/>
                <a:ea typeface="Calibri" pitchFamily="34" charset="-122"/>
                <a:cs typeface="Calibri" pitchFamily="34" charset="-120"/>
              </a:rPr>
              <a:t>9 weighted signals → 0–100, admin-tunable</a:t>
            </a:r>
            <a:endParaRPr lang="en-US" sz="950" dirty="0"/>
          </a:p>
        </p:txBody>
      </p:sp>
      <p:sp>
        <p:nvSpPr>
          <p:cNvPr id="27" name="Shape 21"/>
          <p:cNvSpPr/>
          <p:nvPr/>
        </p:nvSpPr>
        <p:spPr>
          <a:xfrm>
            <a:off x="640080" y="3886200"/>
            <a:ext cx="35204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8" name="Shape 22"/>
          <p:cNvSpPr/>
          <p:nvPr/>
        </p:nvSpPr>
        <p:spPr>
          <a:xfrm>
            <a:off x="868680" y="4114800"/>
            <a:ext cx="457200" cy="457200"/>
          </a:xfrm>
          <a:prstGeom prst="ellipse">
            <a:avLst/>
          </a:prstGeom>
          <a:solidFill>
            <a:srgbClr val="02C39A"/>
          </a:solidFill>
          <a:ln/>
        </p:spPr>
      </p:sp>
      <p:pic>
        <p:nvPicPr>
          <p:cNvPr id="29" name="Image 4" descr="C:\Users\Niharika\AppData\Local\Temp\claude\C--Users-Niharika-Linkedout\10362697-8d2a-4530-a202-c572b85676f5\scratchpad\deck\icons\check_white.png">    </p:cNvPr>
          <p:cNvPicPr>
            <a:picLocks noChangeAspect="1"/>
          </p:cNvPicPr>
          <p:nvPr/>
        </p:nvPicPr>
        <p:blipFill>
          <a:blip r:embed="rId5"/>
          <a:stretch>
            <a:fillRect/>
          </a:stretch>
        </p:blipFill>
        <p:spPr>
          <a:xfrm>
            <a:off x="971550" y="4217670"/>
            <a:ext cx="251460" cy="251460"/>
          </a:xfrm>
          <a:prstGeom prst="rect">
            <a:avLst/>
          </a:prstGeom>
        </p:spPr>
      </p:pic>
      <p:sp>
        <p:nvSpPr>
          <p:cNvPr id="30" name="Text 23"/>
          <p:cNvSpPr/>
          <p:nvPr/>
        </p:nvSpPr>
        <p:spPr>
          <a:xfrm>
            <a:off x="1463040" y="4087368"/>
            <a:ext cx="2514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Auto-published immediately</a:t>
            </a:r>
            <a:endParaRPr lang="en-US" sz="1300" dirty="0"/>
          </a:p>
        </p:txBody>
      </p:sp>
      <p:sp>
        <p:nvSpPr>
          <p:cNvPr id="31" name="Text 24"/>
          <p:cNvSpPr/>
          <p:nvPr/>
        </p:nvSpPr>
        <p:spPr>
          <a:xfrm>
            <a:off x="868680" y="4663440"/>
            <a:ext cx="3063240" cy="548640"/>
          </a:xfrm>
          <a:prstGeom prst="rect">
            <a:avLst/>
          </a:prstGeom>
          <a:noFill/>
          <a:ln/>
        </p:spPr>
        <p:txBody>
          <a:bodyPr wrap="square" rtlCol="0" anchor="ctr"/>
          <a:lstStyle/>
          <a:p>
            <a:pPr indent="0" marL="0">
              <a:lnSpc>
                <a:spcPct val="115000"/>
              </a:lnSpc>
              <a:buNone/>
            </a:pPr>
            <a:r>
              <a:rPr lang="en-US" sz="1050" dirty="0">
                <a:solidFill>
                  <a:srgbClr val="454B6B"/>
                </a:solidFill>
                <a:latin typeface="Calibri" pitchFamily="34" charset="0"/>
                <a:ea typeface="Calibri" pitchFamily="34" charset="-122"/>
                <a:cs typeface="Calibri" pitchFamily="34" charset="-120"/>
              </a:rPr>
              <a:t>≥ 70, no critical flag</a:t>
            </a:r>
            <a:endParaRPr lang="en-US" sz="1050" dirty="0"/>
          </a:p>
        </p:txBody>
      </p:sp>
      <p:sp>
        <p:nvSpPr>
          <p:cNvPr id="32" name="Shape 25"/>
          <p:cNvSpPr/>
          <p:nvPr/>
        </p:nvSpPr>
        <p:spPr>
          <a:xfrm>
            <a:off x="4480560" y="3886200"/>
            <a:ext cx="35204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3" name="Shape 26"/>
          <p:cNvSpPr/>
          <p:nvPr/>
        </p:nvSpPr>
        <p:spPr>
          <a:xfrm>
            <a:off x="4709160" y="4114800"/>
            <a:ext cx="457200" cy="457200"/>
          </a:xfrm>
          <a:prstGeom prst="ellipse">
            <a:avLst/>
          </a:prstGeom>
          <a:solidFill>
            <a:srgbClr val="E8A400"/>
          </a:solidFill>
          <a:ln/>
        </p:spPr>
      </p:sp>
      <p:pic>
        <p:nvPicPr>
          <p:cNvPr id="34" name="Image 5" descr="C:\Users\Niharika\AppData\Local\Temp\claude\C--Users-Niharika-Linkedout\10362697-8d2a-4530-a202-c572b85676f5\scratchpad\deck\icons\alert_white.png">    </p:cNvPr>
          <p:cNvPicPr>
            <a:picLocks noChangeAspect="1"/>
          </p:cNvPicPr>
          <p:nvPr/>
        </p:nvPicPr>
        <p:blipFill>
          <a:blip r:embed="rId6"/>
          <a:stretch>
            <a:fillRect/>
          </a:stretch>
        </p:blipFill>
        <p:spPr>
          <a:xfrm>
            <a:off x="4812030" y="4217670"/>
            <a:ext cx="251460" cy="251460"/>
          </a:xfrm>
          <a:prstGeom prst="rect">
            <a:avLst/>
          </a:prstGeom>
        </p:spPr>
      </p:pic>
      <p:sp>
        <p:nvSpPr>
          <p:cNvPr id="35" name="Text 27"/>
          <p:cNvSpPr/>
          <p:nvPr/>
        </p:nvSpPr>
        <p:spPr>
          <a:xfrm>
            <a:off x="5303520" y="4087368"/>
            <a:ext cx="2514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Queued for admin review</a:t>
            </a:r>
            <a:endParaRPr lang="en-US" sz="1300" dirty="0"/>
          </a:p>
        </p:txBody>
      </p:sp>
      <p:sp>
        <p:nvSpPr>
          <p:cNvPr id="36" name="Text 28"/>
          <p:cNvSpPr/>
          <p:nvPr/>
        </p:nvSpPr>
        <p:spPr>
          <a:xfrm>
            <a:off x="4709160" y="4663440"/>
            <a:ext cx="3063240" cy="548640"/>
          </a:xfrm>
          <a:prstGeom prst="rect">
            <a:avLst/>
          </a:prstGeom>
          <a:noFill/>
          <a:ln/>
        </p:spPr>
        <p:txBody>
          <a:bodyPr wrap="square" rtlCol="0" anchor="ctr"/>
          <a:lstStyle/>
          <a:p>
            <a:pPr indent="0" marL="0">
              <a:lnSpc>
                <a:spcPct val="115000"/>
              </a:lnSpc>
              <a:buNone/>
            </a:pPr>
            <a:r>
              <a:rPr lang="en-US" sz="1050" dirty="0">
                <a:solidFill>
                  <a:srgbClr val="454B6B"/>
                </a:solidFill>
                <a:latin typeface="Calibri" pitchFamily="34" charset="0"/>
                <a:ea typeface="Calibri" pitchFamily="34" charset="-122"/>
                <a:cs typeface="Calibri" pitchFamily="34" charset="-120"/>
              </a:rPr>
              <a:t>40–69, or critical keyword, or low-confidence eligibility</a:t>
            </a:r>
            <a:endParaRPr lang="en-US" sz="1050" dirty="0"/>
          </a:p>
        </p:txBody>
      </p:sp>
      <p:sp>
        <p:nvSpPr>
          <p:cNvPr id="37" name="Shape 29"/>
          <p:cNvSpPr/>
          <p:nvPr/>
        </p:nvSpPr>
        <p:spPr>
          <a:xfrm>
            <a:off x="8321040" y="3886200"/>
            <a:ext cx="35204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8" name="Shape 30"/>
          <p:cNvSpPr/>
          <p:nvPr/>
        </p:nvSpPr>
        <p:spPr>
          <a:xfrm>
            <a:off x="8549640" y="4114800"/>
            <a:ext cx="457200" cy="457200"/>
          </a:xfrm>
          <a:prstGeom prst="ellipse">
            <a:avLst/>
          </a:prstGeom>
          <a:solidFill>
            <a:srgbClr val="F96167"/>
          </a:solidFill>
          <a:ln/>
        </p:spPr>
      </p:sp>
      <p:pic>
        <p:nvPicPr>
          <p:cNvPr id="39" name="Image 6" descr="C:\Users\Niharika\AppData\Local\Temp\claude\C--Users-Niharika-Linkedout\10362697-8d2a-4530-a202-c572b85676f5\scratchpad\deck\icons\x_white.png">    </p:cNvPr>
          <p:cNvPicPr>
            <a:picLocks noChangeAspect="1"/>
          </p:cNvPicPr>
          <p:nvPr/>
        </p:nvPicPr>
        <p:blipFill>
          <a:blip r:embed="rId7"/>
          <a:stretch>
            <a:fillRect/>
          </a:stretch>
        </p:blipFill>
        <p:spPr>
          <a:xfrm>
            <a:off x="8652510" y="4217670"/>
            <a:ext cx="251460" cy="251460"/>
          </a:xfrm>
          <a:prstGeom prst="rect">
            <a:avLst/>
          </a:prstGeom>
        </p:spPr>
      </p:pic>
      <p:sp>
        <p:nvSpPr>
          <p:cNvPr id="40" name="Text 31"/>
          <p:cNvSpPr/>
          <p:nvPr/>
        </p:nvSpPr>
        <p:spPr>
          <a:xfrm>
            <a:off x="9144000" y="4087368"/>
            <a:ext cx="2514600" cy="5029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Auto-rejected (logged, reversible)</a:t>
            </a:r>
            <a:endParaRPr lang="en-US" sz="1300" dirty="0"/>
          </a:p>
        </p:txBody>
      </p:sp>
      <p:sp>
        <p:nvSpPr>
          <p:cNvPr id="41" name="Text 32"/>
          <p:cNvSpPr/>
          <p:nvPr/>
        </p:nvSpPr>
        <p:spPr>
          <a:xfrm>
            <a:off x="8549640" y="4663440"/>
            <a:ext cx="3063240" cy="548640"/>
          </a:xfrm>
          <a:prstGeom prst="rect">
            <a:avLst/>
          </a:prstGeom>
          <a:noFill/>
          <a:ln/>
        </p:spPr>
        <p:txBody>
          <a:bodyPr wrap="square" rtlCol="0" anchor="ctr"/>
          <a:lstStyle/>
          <a:p>
            <a:pPr indent="0" marL="0">
              <a:lnSpc>
                <a:spcPct val="115000"/>
              </a:lnSpc>
              <a:buNone/>
            </a:pPr>
            <a:r>
              <a:rPr lang="en-US" sz="1050" dirty="0">
                <a:solidFill>
                  <a:srgbClr val="454B6B"/>
                </a:solidFill>
                <a:latin typeface="Calibri" pitchFamily="34" charset="0"/>
                <a:ea typeface="Calibri" pitchFamily="34" charset="-122"/>
                <a:cs typeface="Calibri" pitchFamily="34" charset="-120"/>
              </a:rPr>
              <a:t>&lt; 40, no critical flag</a:t>
            </a:r>
            <a:endParaRPr lang="en-US" sz="1050" dirty="0"/>
          </a:p>
        </p:txBody>
      </p:sp>
      <p:sp>
        <p:nvSpPr>
          <p:cNvPr id="42" name="Shape 33"/>
          <p:cNvSpPr/>
          <p:nvPr/>
        </p:nvSpPr>
        <p:spPr>
          <a:xfrm>
            <a:off x="640080" y="5532120"/>
            <a:ext cx="10835640" cy="777240"/>
          </a:xfrm>
          <a:prstGeom prst="roundRect">
            <a:avLst>
              <a:gd name="adj" fmla="val 9412"/>
            </a:avLst>
          </a:prstGeom>
          <a:solidFill>
            <a:srgbClr val="1E2761"/>
          </a:solidFill>
          <a:ln w="12700">
            <a:solidFill>
              <a:srgbClr val="1E2761"/>
            </a:solidFill>
            <a:prstDash val="solid"/>
          </a:ln>
        </p:spPr>
      </p:sp>
      <p:sp>
        <p:nvSpPr>
          <p:cNvPr id="43" name="Text 34"/>
          <p:cNvSpPr/>
          <p:nvPr/>
        </p:nvSpPr>
        <p:spPr>
          <a:xfrm>
            <a:off x="914400" y="5532120"/>
            <a:ext cx="10287000" cy="7772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Community reports close the loop: </a:t>
            </a:r>
            <a:pPr indent="0" marL="0">
              <a:buNone/>
            </a:pPr>
            <a:r>
              <a:rPr lang="en-US" sz="1200" dirty="0">
                <a:solidFill>
                  <a:srgbClr val="CADCFC"/>
                </a:solidFill>
                <a:latin typeface="Calibri" pitchFamily="34" charset="0"/>
                <a:ea typeface="Calibri" pitchFamily="34" charset="-122"/>
                <a:cs typeface="Calibri" pitchFamily="34" charset="-120"/>
              </a:rPr>
              <a:t>3+ distinct-user reports force a published listing straight back to review, regardless of its original score.</a:t>
            </a:r>
            <a:endParaRPr lang="en-US" sz="1200" dirty="0"/>
          </a:p>
        </p:txBody>
      </p:sp>
      <p:sp>
        <p:nvSpPr>
          <p:cNvPr id="45" name="Text 35"/>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46" name="Text 36"/>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DEEP DIVE — TRUST SCORE ENGINE</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Explainable and tunable, not a black box</a:t>
            </a:r>
            <a:endParaRPr lang="en-US" sz="2800" dirty="0"/>
          </a:p>
        </p:txBody>
      </p:sp>
      <p:sp>
        <p:nvSpPr>
          <p:cNvPr id="4" name="Shape 2"/>
          <p:cNvSpPr/>
          <p:nvPr/>
        </p:nvSpPr>
        <p:spPr>
          <a:xfrm>
            <a:off x="640080" y="1673352"/>
            <a:ext cx="7315200" cy="342900"/>
          </a:xfrm>
          <a:prstGeom prst="roundRect">
            <a:avLst>
              <a:gd name="adj" fmla="val 10667"/>
            </a:avLst>
          </a:prstGeom>
          <a:solidFill>
            <a:srgbClr val="F7F9FE"/>
          </a:solidFill>
          <a:ln/>
        </p:spPr>
      </p:sp>
      <p:sp>
        <p:nvSpPr>
          <p:cNvPr id="5" name="Text 3"/>
          <p:cNvSpPr/>
          <p:nvPr/>
        </p:nvSpPr>
        <p:spPr>
          <a:xfrm>
            <a:off x="777240" y="16916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Source domain reputation</a:t>
            </a:r>
            <a:endParaRPr lang="en-US" sz="1050" dirty="0"/>
          </a:p>
        </p:txBody>
      </p:sp>
      <p:sp>
        <p:nvSpPr>
          <p:cNvPr id="6" name="Text 4"/>
          <p:cNvSpPr/>
          <p:nvPr/>
        </p:nvSpPr>
        <p:spPr>
          <a:xfrm>
            <a:off x="3931920" y="1691640"/>
            <a:ext cx="868680" cy="342900"/>
          </a:xfrm>
          <a:prstGeom prst="rect">
            <a:avLst/>
          </a:prstGeom>
          <a:noFill/>
          <a:ln/>
        </p:spPr>
        <p:txBody>
          <a:bodyPr wrap="square" rtlCol="0" anchor="ctr"/>
          <a:lstStyle/>
          <a:p>
            <a:pPr indent="0" marL="0">
              <a:buNone/>
            </a:pPr>
            <a:r>
              <a:rPr lang="en-US" sz="950" b="1" dirty="0">
                <a:solidFill>
                  <a:srgbClr val="C77B00"/>
                </a:solidFill>
                <a:latin typeface="Calibri" pitchFamily="34" charset="0"/>
                <a:ea typeface="Calibri" pitchFamily="34" charset="-122"/>
                <a:cs typeface="Calibri" pitchFamily="34" charset="-120"/>
              </a:rPr>
              <a:t>High</a:t>
            </a:r>
            <a:endParaRPr lang="en-US" sz="950" dirty="0"/>
          </a:p>
        </p:txBody>
      </p:sp>
      <p:sp>
        <p:nvSpPr>
          <p:cNvPr id="7" name="Text 5"/>
          <p:cNvSpPr/>
          <p:nvPr/>
        </p:nvSpPr>
        <p:spPr>
          <a:xfrm>
            <a:off x="4846320" y="16916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Known platform/company domain → high; free/suspicious TLD or form-builder link → low</a:t>
            </a:r>
            <a:endParaRPr lang="en-US" sz="900" dirty="0"/>
          </a:p>
        </p:txBody>
      </p:sp>
      <p:sp>
        <p:nvSpPr>
          <p:cNvPr id="8" name="Text 6"/>
          <p:cNvSpPr/>
          <p:nvPr/>
        </p:nvSpPr>
        <p:spPr>
          <a:xfrm>
            <a:off x="777240" y="20345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Payment / fee request</a:t>
            </a:r>
            <a:endParaRPr lang="en-US" sz="1050" dirty="0"/>
          </a:p>
        </p:txBody>
      </p:sp>
      <p:sp>
        <p:nvSpPr>
          <p:cNvPr id="9" name="Text 7"/>
          <p:cNvSpPr/>
          <p:nvPr/>
        </p:nvSpPr>
        <p:spPr>
          <a:xfrm>
            <a:off x="3931920" y="2034540"/>
            <a:ext cx="868680" cy="34290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Critical</a:t>
            </a:r>
            <a:endParaRPr lang="en-US" sz="950" dirty="0"/>
          </a:p>
        </p:txBody>
      </p:sp>
      <p:sp>
        <p:nvSpPr>
          <p:cNvPr id="10" name="Text 8"/>
          <p:cNvSpPr/>
          <p:nvPr/>
        </p:nvSpPr>
        <p:spPr>
          <a:xfrm>
            <a:off x="4846320" y="20345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“pay”, “fee”, “deposit”, “refundable” → forces human review</a:t>
            </a:r>
            <a:endParaRPr lang="en-US" sz="900" dirty="0"/>
          </a:p>
        </p:txBody>
      </p:sp>
      <p:sp>
        <p:nvSpPr>
          <p:cNvPr id="11" name="Shape 9"/>
          <p:cNvSpPr/>
          <p:nvPr/>
        </p:nvSpPr>
        <p:spPr>
          <a:xfrm>
            <a:off x="640080" y="2359152"/>
            <a:ext cx="7315200" cy="342900"/>
          </a:xfrm>
          <a:prstGeom prst="roundRect">
            <a:avLst>
              <a:gd name="adj" fmla="val 10667"/>
            </a:avLst>
          </a:prstGeom>
          <a:solidFill>
            <a:srgbClr val="F7F9FE"/>
          </a:solidFill>
          <a:ln/>
        </p:spPr>
      </p:sp>
      <p:sp>
        <p:nvSpPr>
          <p:cNvPr id="12" name="Text 10"/>
          <p:cNvSpPr/>
          <p:nvPr/>
        </p:nvSpPr>
        <p:spPr>
          <a:xfrm>
            <a:off x="777240" y="23774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Sensitive info request</a:t>
            </a:r>
            <a:endParaRPr lang="en-US" sz="1050" dirty="0"/>
          </a:p>
        </p:txBody>
      </p:sp>
      <p:sp>
        <p:nvSpPr>
          <p:cNvPr id="13" name="Text 11"/>
          <p:cNvSpPr/>
          <p:nvPr/>
        </p:nvSpPr>
        <p:spPr>
          <a:xfrm>
            <a:off x="3931920" y="2377440"/>
            <a:ext cx="868680" cy="34290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Critical</a:t>
            </a:r>
            <a:endParaRPr lang="en-US" sz="950" dirty="0"/>
          </a:p>
        </p:txBody>
      </p:sp>
      <p:sp>
        <p:nvSpPr>
          <p:cNvPr id="14" name="Text 12"/>
          <p:cNvSpPr/>
          <p:nvPr/>
        </p:nvSpPr>
        <p:spPr>
          <a:xfrm>
            <a:off x="4846320" y="23774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“bank details”, “Aadhaar”, “OTP” before any offer stage → forces human review</a:t>
            </a:r>
            <a:endParaRPr lang="en-US" sz="900" dirty="0"/>
          </a:p>
        </p:txBody>
      </p:sp>
      <p:sp>
        <p:nvSpPr>
          <p:cNvPr id="15" name="Text 13"/>
          <p:cNvSpPr/>
          <p:nvPr/>
        </p:nvSpPr>
        <p:spPr>
          <a:xfrm>
            <a:off x="777240" y="27203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Contact channel</a:t>
            </a:r>
            <a:endParaRPr lang="en-US" sz="1050" dirty="0"/>
          </a:p>
        </p:txBody>
      </p:sp>
      <p:sp>
        <p:nvSpPr>
          <p:cNvPr id="16" name="Text 14"/>
          <p:cNvSpPr/>
          <p:nvPr/>
        </p:nvSpPr>
        <p:spPr>
          <a:xfrm>
            <a:off x="3931920" y="2720340"/>
            <a:ext cx="868680" cy="342900"/>
          </a:xfrm>
          <a:prstGeom prst="rect">
            <a:avLst/>
          </a:prstGeom>
          <a:noFill/>
          <a:ln/>
        </p:spPr>
        <p:txBody>
          <a:bodyPr wrap="square" rtlCol="0" anchor="ctr"/>
          <a:lstStyle/>
          <a:p>
            <a:pPr indent="0" marL="0">
              <a:buNone/>
            </a:pPr>
            <a:r>
              <a:rPr lang="en-US" sz="950" b="1" dirty="0">
                <a:solidFill>
                  <a:srgbClr val="7B81A3"/>
                </a:solidFill>
                <a:latin typeface="Calibri" pitchFamily="34" charset="0"/>
                <a:ea typeface="Calibri" pitchFamily="34" charset="-122"/>
                <a:cs typeface="Calibri" pitchFamily="34" charset="-120"/>
              </a:rPr>
              <a:t>Medium</a:t>
            </a:r>
            <a:endParaRPr lang="en-US" sz="950" dirty="0"/>
          </a:p>
        </p:txBody>
      </p:sp>
      <p:sp>
        <p:nvSpPr>
          <p:cNvPr id="17" name="Text 15"/>
          <p:cNvSpPr/>
          <p:nvPr/>
        </p:nvSpPr>
        <p:spPr>
          <a:xfrm>
            <a:off x="4846320" y="27203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Only a personal WhatsApp/Telegram, no company email → lowers score</a:t>
            </a:r>
            <a:endParaRPr lang="en-US" sz="900" dirty="0"/>
          </a:p>
        </p:txBody>
      </p:sp>
      <p:sp>
        <p:nvSpPr>
          <p:cNvPr id="18" name="Shape 16"/>
          <p:cNvSpPr/>
          <p:nvPr/>
        </p:nvSpPr>
        <p:spPr>
          <a:xfrm>
            <a:off x="640080" y="3044952"/>
            <a:ext cx="7315200" cy="342900"/>
          </a:xfrm>
          <a:prstGeom prst="roundRect">
            <a:avLst>
              <a:gd name="adj" fmla="val 10667"/>
            </a:avLst>
          </a:prstGeom>
          <a:solidFill>
            <a:srgbClr val="F7F9FE"/>
          </a:solidFill>
          <a:ln/>
        </p:spPr>
      </p:sp>
      <p:sp>
        <p:nvSpPr>
          <p:cNvPr id="19" name="Text 17"/>
          <p:cNvSpPr/>
          <p:nvPr/>
        </p:nvSpPr>
        <p:spPr>
          <a:xfrm>
            <a:off x="777240" y="30632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Description quality</a:t>
            </a:r>
            <a:endParaRPr lang="en-US" sz="1050" dirty="0"/>
          </a:p>
        </p:txBody>
      </p:sp>
      <p:sp>
        <p:nvSpPr>
          <p:cNvPr id="20" name="Text 18"/>
          <p:cNvSpPr/>
          <p:nvPr/>
        </p:nvSpPr>
        <p:spPr>
          <a:xfrm>
            <a:off x="3931920" y="3063240"/>
            <a:ext cx="868680" cy="342900"/>
          </a:xfrm>
          <a:prstGeom prst="rect">
            <a:avLst/>
          </a:prstGeom>
          <a:noFill/>
          <a:ln/>
        </p:spPr>
        <p:txBody>
          <a:bodyPr wrap="square" rtlCol="0" anchor="ctr"/>
          <a:lstStyle/>
          <a:p>
            <a:pPr indent="0" marL="0">
              <a:buNone/>
            </a:pPr>
            <a:r>
              <a:rPr lang="en-US" sz="950" b="1" dirty="0">
                <a:solidFill>
                  <a:srgbClr val="7B81A3"/>
                </a:solidFill>
                <a:latin typeface="Calibri" pitchFamily="34" charset="0"/>
                <a:ea typeface="Calibri" pitchFamily="34" charset="-122"/>
                <a:cs typeface="Calibri" pitchFamily="34" charset="-120"/>
              </a:rPr>
              <a:t>Medium</a:t>
            </a:r>
            <a:endParaRPr lang="en-US" sz="950" dirty="0"/>
          </a:p>
        </p:txBody>
      </p:sp>
      <p:sp>
        <p:nvSpPr>
          <p:cNvPr id="21" name="Text 19"/>
          <p:cNvSpPr/>
          <p:nvPr/>
        </p:nvSpPr>
        <p:spPr>
          <a:xfrm>
            <a:off x="4846320" y="30632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Under 50 words / generic → scaled down</a:t>
            </a:r>
            <a:endParaRPr lang="en-US" sz="900" dirty="0"/>
          </a:p>
        </p:txBody>
      </p:sp>
      <p:sp>
        <p:nvSpPr>
          <p:cNvPr id="22" name="Text 20"/>
          <p:cNvSpPr/>
          <p:nvPr/>
        </p:nvSpPr>
        <p:spPr>
          <a:xfrm>
            <a:off x="777240" y="34061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Stipend vs. role mismatch</a:t>
            </a:r>
            <a:endParaRPr lang="en-US" sz="1050" dirty="0"/>
          </a:p>
        </p:txBody>
      </p:sp>
      <p:sp>
        <p:nvSpPr>
          <p:cNvPr id="23" name="Text 21"/>
          <p:cNvSpPr/>
          <p:nvPr/>
        </p:nvSpPr>
        <p:spPr>
          <a:xfrm>
            <a:off x="3931920" y="3406140"/>
            <a:ext cx="868680" cy="342900"/>
          </a:xfrm>
          <a:prstGeom prst="rect">
            <a:avLst/>
          </a:prstGeom>
          <a:noFill/>
          <a:ln/>
        </p:spPr>
        <p:txBody>
          <a:bodyPr wrap="square" rtlCol="0" anchor="ctr"/>
          <a:lstStyle/>
          <a:p>
            <a:pPr indent="0" marL="0">
              <a:buNone/>
            </a:pPr>
            <a:r>
              <a:rPr lang="en-US" sz="950" b="1" dirty="0">
                <a:solidFill>
                  <a:srgbClr val="7B81A3"/>
                </a:solidFill>
                <a:latin typeface="Calibri" pitchFamily="34" charset="0"/>
                <a:ea typeface="Calibri" pitchFamily="34" charset="-122"/>
                <a:cs typeface="Calibri" pitchFamily="34" charset="-120"/>
              </a:rPr>
              <a:t>Medium</a:t>
            </a:r>
            <a:endParaRPr lang="en-US" sz="950" dirty="0"/>
          </a:p>
        </p:txBody>
      </p:sp>
      <p:sp>
        <p:nvSpPr>
          <p:cNvPr id="24" name="Text 22"/>
          <p:cNvSpPr/>
          <p:nvPr/>
        </p:nvSpPr>
        <p:spPr>
          <a:xfrm>
            <a:off x="4846320" y="34061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Unrealistic stipend for an entry-level role → lowers score</a:t>
            </a:r>
            <a:endParaRPr lang="en-US" sz="900" dirty="0"/>
          </a:p>
        </p:txBody>
      </p:sp>
      <p:sp>
        <p:nvSpPr>
          <p:cNvPr id="25" name="Shape 23"/>
          <p:cNvSpPr/>
          <p:nvPr/>
        </p:nvSpPr>
        <p:spPr>
          <a:xfrm>
            <a:off x="640080" y="3730752"/>
            <a:ext cx="7315200" cy="342900"/>
          </a:xfrm>
          <a:prstGeom prst="roundRect">
            <a:avLst>
              <a:gd name="adj" fmla="val 10667"/>
            </a:avLst>
          </a:prstGeom>
          <a:solidFill>
            <a:srgbClr val="F7F9FE"/>
          </a:solidFill>
          <a:ln/>
        </p:spPr>
      </p:sp>
      <p:sp>
        <p:nvSpPr>
          <p:cNvPr id="26" name="Text 24"/>
          <p:cNvSpPr/>
          <p:nvPr/>
        </p:nvSpPr>
        <p:spPr>
          <a:xfrm>
            <a:off x="777240" y="37490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Deadline plausibility</a:t>
            </a:r>
            <a:endParaRPr lang="en-US" sz="1050" dirty="0"/>
          </a:p>
        </p:txBody>
      </p:sp>
      <p:sp>
        <p:nvSpPr>
          <p:cNvPr id="27" name="Text 25"/>
          <p:cNvSpPr/>
          <p:nvPr/>
        </p:nvSpPr>
        <p:spPr>
          <a:xfrm>
            <a:off x="3931920" y="3749040"/>
            <a:ext cx="868680" cy="342900"/>
          </a:xfrm>
          <a:prstGeom prst="rect">
            <a:avLst/>
          </a:prstGeom>
          <a:noFill/>
          <a:ln/>
        </p:spPr>
        <p:txBody>
          <a:bodyPr wrap="square" rtlCol="0" anchor="ctr"/>
          <a:lstStyle/>
          <a:p>
            <a:pPr indent="0" marL="0">
              <a:buNone/>
            </a:pPr>
            <a:r>
              <a:rPr lang="en-US" sz="950" b="1" dirty="0">
                <a:solidFill>
                  <a:srgbClr val="7B81A3"/>
                </a:solidFill>
                <a:latin typeface="Calibri" pitchFamily="34" charset="0"/>
                <a:ea typeface="Calibri" pitchFamily="34" charset="-122"/>
                <a:cs typeface="Calibri" pitchFamily="34" charset="-120"/>
              </a:rPr>
              <a:t>Low</a:t>
            </a:r>
            <a:endParaRPr lang="en-US" sz="950" dirty="0"/>
          </a:p>
        </p:txBody>
      </p:sp>
      <p:sp>
        <p:nvSpPr>
          <p:cNvPr id="28" name="Text 26"/>
          <p:cNvSpPr/>
          <p:nvPr/>
        </p:nvSpPr>
        <p:spPr>
          <a:xfrm>
            <a:off x="4846320" y="37490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No deadline or extremely long-open → lowers score slightly</a:t>
            </a:r>
            <a:endParaRPr lang="en-US" sz="900" dirty="0"/>
          </a:p>
        </p:txBody>
      </p:sp>
      <p:sp>
        <p:nvSpPr>
          <p:cNvPr id="29" name="Text 27"/>
          <p:cNvSpPr/>
          <p:nvPr/>
        </p:nvSpPr>
        <p:spPr>
          <a:xfrm>
            <a:off x="777240" y="40919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Duplicate scam pattern</a:t>
            </a:r>
            <a:endParaRPr lang="en-US" sz="1050" dirty="0"/>
          </a:p>
        </p:txBody>
      </p:sp>
      <p:sp>
        <p:nvSpPr>
          <p:cNvPr id="30" name="Text 28"/>
          <p:cNvSpPr/>
          <p:nvPr/>
        </p:nvSpPr>
        <p:spPr>
          <a:xfrm>
            <a:off x="3931920" y="4091940"/>
            <a:ext cx="868680" cy="342900"/>
          </a:xfrm>
          <a:prstGeom prst="rect">
            <a:avLst/>
          </a:prstGeom>
          <a:noFill/>
          <a:ln/>
        </p:spPr>
        <p:txBody>
          <a:bodyPr wrap="square" rtlCol="0" anchor="ctr"/>
          <a:lstStyle/>
          <a:p>
            <a:pPr indent="0" marL="0">
              <a:buNone/>
            </a:pPr>
            <a:r>
              <a:rPr lang="en-US" sz="950" b="1" dirty="0">
                <a:solidFill>
                  <a:srgbClr val="C77B00"/>
                </a:solidFill>
                <a:latin typeface="Calibri" pitchFamily="34" charset="0"/>
                <a:ea typeface="Calibri" pitchFamily="34" charset="-122"/>
                <a:cs typeface="Calibri" pitchFamily="34" charset="-120"/>
              </a:rPr>
              <a:t>High</a:t>
            </a:r>
            <a:endParaRPr lang="en-US" sz="950" dirty="0"/>
          </a:p>
        </p:txBody>
      </p:sp>
      <p:sp>
        <p:nvSpPr>
          <p:cNvPr id="31" name="Text 29"/>
          <p:cNvSpPr/>
          <p:nvPr/>
        </p:nvSpPr>
        <p:spPr>
          <a:xfrm>
            <a:off x="4846320" y="40919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Fuzzy match vs. previously admin-rejected listings from same company</a:t>
            </a:r>
            <a:endParaRPr lang="en-US" sz="900" dirty="0"/>
          </a:p>
        </p:txBody>
      </p:sp>
      <p:sp>
        <p:nvSpPr>
          <p:cNvPr id="32" name="Shape 30"/>
          <p:cNvSpPr/>
          <p:nvPr/>
        </p:nvSpPr>
        <p:spPr>
          <a:xfrm>
            <a:off x="640080" y="4416552"/>
            <a:ext cx="7315200" cy="342900"/>
          </a:xfrm>
          <a:prstGeom prst="roundRect">
            <a:avLst>
              <a:gd name="adj" fmla="val 10667"/>
            </a:avLst>
          </a:prstGeom>
          <a:solidFill>
            <a:srgbClr val="F7F9FE"/>
          </a:solidFill>
          <a:ln/>
        </p:spPr>
      </p:sp>
      <p:sp>
        <p:nvSpPr>
          <p:cNvPr id="33" name="Text 31"/>
          <p:cNvSpPr/>
          <p:nvPr/>
        </p:nvSpPr>
        <p:spPr>
          <a:xfrm>
            <a:off x="777240" y="4434840"/>
            <a:ext cx="3108960" cy="342900"/>
          </a:xfrm>
          <a:prstGeom prst="rect">
            <a:avLst/>
          </a:prstGeom>
          <a:noFill/>
          <a:ln/>
        </p:spPr>
        <p:txBody>
          <a:bodyPr wrap="square"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Community reports</a:t>
            </a:r>
            <a:endParaRPr lang="en-US" sz="1050" dirty="0"/>
          </a:p>
        </p:txBody>
      </p:sp>
      <p:sp>
        <p:nvSpPr>
          <p:cNvPr id="34" name="Text 32"/>
          <p:cNvSpPr/>
          <p:nvPr/>
        </p:nvSpPr>
        <p:spPr>
          <a:xfrm>
            <a:off x="3931920" y="4434840"/>
            <a:ext cx="868680" cy="342900"/>
          </a:xfrm>
          <a:prstGeom prst="rect">
            <a:avLst/>
          </a:prstGeom>
          <a:noFill/>
          <a:ln/>
        </p:spPr>
        <p:txBody>
          <a:bodyPr wrap="square" rtlCol="0" anchor="ctr"/>
          <a:lstStyle/>
          <a:p>
            <a:pPr indent="0" marL="0">
              <a:buNone/>
            </a:pPr>
            <a:r>
              <a:rPr lang="en-US" sz="950" b="1" dirty="0">
                <a:solidFill>
                  <a:srgbClr val="C77B00"/>
                </a:solidFill>
                <a:latin typeface="Calibri" pitchFamily="34" charset="0"/>
                <a:ea typeface="Calibri" pitchFamily="34" charset="-122"/>
                <a:cs typeface="Calibri" pitchFamily="34" charset="-120"/>
              </a:rPr>
              <a:t>High</a:t>
            </a:r>
            <a:endParaRPr lang="en-US" sz="950" dirty="0"/>
          </a:p>
        </p:txBody>
      </p:sp>
      <p:sp>
        <p:nvSpPr>
          <p:cNvPr id="35" name="Text 33"/>
          <p:cNvSpPr/>
          <p:nvPr/>
        </p:nvSpPr>
        <p:spPr>
          <a:xfrm>
            <a:off x="4846320" y="4434840"/>
            <a:ext cx="3063240" cy="342900"/>
          </a:xfrm>
          <a:prstGeom prst="rect">
            <a:avLst/>
          </a:prstGeom>
          <a:noFill/>
          <a:ln/>
        </p:spPr>
        <p:txBody>
          <a:bodyPr wrap="square" rtlCol="0" anchor="ctr"/>
          <a:lstStyle/>
          <a:p>
            <a:pPr indent="0" marL="0">
              <a:lnSpc>
                <a:spcPct val="100000"/>
              </a:lnSpc>
              <a:buNone/>
            </a:pPr>
            <a:r>
              <a:rPr lang="en-US" sz="900" dirty="0">
                <a:solidFill>
                  <a:srgbClr val="454B6B"/>
                </a:solidFill>
                <a:latin typeface="Calibri" pitchFamily="34" charset="0"/>
                <a:ea typeface="Calibri" pitchFamily="34" charset="-122"/>
                <a:cs typeface="Calibri" pitchFamily="34" charset="-120"/>
              </a:rPr>
              <a:t>3+ reports on a live listing → forces recheck regardless of score</a:t>
            </a:r>
            <a:endParaRPr lang="en-US" sz="900" dirty="0"/>
          </a:p>
        </p:txBody>
      </p:sp>
      <p:sp>
        <p:nvSpPr>
          <p:cNvPr id="36" name="Shape 34"/>
          <p:cNvSpPr/>
          <p:nvPr/>
        </p:nvSpPr>
        <p:spPr>
          <a:xfrm>
            <a:off x="8275320" y="1691640"/>
            <a:ext cx="3291840" cy="2103120"/>
          </a:xfrm>
          <a:prstGeom prst="roundRect">
            <a:avLst>
              <a:gd name="adj" fmla="val 3478"/>
            </a:avLst>
          </a:prstGeom>
          <a:solidFill>
            <a:srgbClr val="1E2761"/>
          </a:solidFill>
          <a:ln w="12700">
            <a:solidFill>
              <a:srgbClr val="1E2761"/>
            </a:solidFill>
            <a:prstDash val="solid"/>
          </a:ln>
        </p:spPr>
      </p:sp>
      <p:sp>
        <p:nvSpPr>
          <p:cNvPr id="37" name="Text 35"/>
          <p:cNvSpPr/>
          <p:nvPr/>
        </p:nvSpPr>
        <p:spPr>
          <a:xfrm>
            <a:off x="8503920" y="1828800"/>
            <a:ext cx="283464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Decision thresholds</a:t>
            </a:r>
            <a:endParaRPr lang="en-US" sz="1250" dirty="0"/>
          </a:p>
        </p:txBody>
      </p:sp>
      <p:sp>
        <p:nvSpPr>
          <p:cNvPr id="38" name="Text 36"/>
          <p:cNvSpPr/>
          <p:nvPr/>
        </p:nvSpPr>
        <p:spPr>
          <a:xfrm>
            <a:off x="8503920" y="2194560"/>
            <a:ext cx="2834640" cy="1508760"/>
          </a:xfrm>
          <a:prstGeom prst="rect">
            <a:avLst/>
          </a:prstGeom>
          <a:noFill/>
          <a:ln/>
        </p:spPr>
        <p:txBody>
          <a:bodyPr wrap="square" rtlCol="0" anchor="ctr"/>
          <a:lstStyle/>
          <a:p>
            <a:pPr indent="0" marL="0">
              <a:lnSpc>
                <a:spcPct val="135000"/>
              </a:lnSpc>
              <a:buNone/>
            </a:pPr>
            <a:r>
              <a:rPr lang="en-US" sz="1100" b="1" dirty="0">
                <a:solidFill>
                  <a:srgbClr val="02C39A"/>
                </a:solidFill>
                <a:latin typeface="Calibri" pitchFamily="34" charset="0"/>
                <a:ea typeface="Calibri" pitchFamily="34" charset="-122"/>
                <a:cs typeface="Calibri" pitchFamily="34" charset="-120"/>
              </a:rPr>
              <a:t>≥ 70  </a:t>
            </a:r>
            <a:pPr indent="0" marL="0">
              <a:lnSpc>
                <a:spcPct val="135000"/>
              </a:lnSpc>
              <a:buNone/>
            </a:pPr>
            <a:r>
              <a:rPr lang="en-US" sz="1100" dirty="0">
                <a:solidFill>
                  <a:srgbClr val="CADCFC"/>
                </a:solidFill>
                <a:latin typeface="Calibri" pitchFamily="34" charset="0"/>
                <a:ea typeface="Calibri" pitchFamily="34" charset="-122"/>
                <a:cs typeface="Calibri" pitchFamily="34" charset="-120"/>
              </a:rPr>
              <a:t>no critical flag → auto-published
</a:t>
            </a:r>
            <a:pPr indent="0" marL="0">
              <a:lnSpc>
                <a:spcPct val="135000"/>
              </a:lnSpc>
              <a:buNone/>
            </a:pPr>
            <a:r>
              <a:rPr lang="en-US" sz="1100" b="1" dirty="0">
                <a:solidFill>
                  <a:srgbClr val="F5C451"/>
                </a:solidFill>
                <a:latin typeface="Calibri" pitchFamily="34" charset="0"/>
                <a:ea typeface="Calibri" pitchFamily="34" charset="-122"/>
                <a:cs typeface="Calibri" pitchFamily="34" charset="-120"/>
              </a:rPr>
              <a:t>40–69  </a:t>
            </a:r>
            <a:pPr indent="0" marL="0">
              <a:lnSpc>
                <a:spcPct val="135000"/>
              </a:lnSpc>
              <a:buNone/>
            </a:pPr>
            <a:r>
              <a:rPr lang="en-US" sz="1100" dirty="0">
                <a:solidFill>
                  <a:srgbClr val="CADCFC"/>
                </a:solidFill>
                <a:latin typeface="Calibri" pitchFamily="34" charset="0"/>
                <a:ea typeface="Calibri" pitchFamily="34" charset="-122"/>
                <a:cs typeface="Calibri" pitchFamily="34" charset="-120"/>
              </a:rPr>
              <a:t>or critical flag → admin review
</a:t>
            </a:r>
            <a:pPr indent="0" marL="0">
              <a:lnSpc>
                <a:spcPct val="135000"/>
              </a:lnSpc>
              <a:buNone/>
            </a:pPr>
            <a:r>
              <a:rPr lang="en-US" sz="1100" b="1" dirty="0">
                <a:solidFill>
                  <a:srgbClr val="FF8A8F"/>
                </a:solidFill>
                <a:latin typeface="Calibri" pitchFamily="34" charset="0"/>
                <a:ea typeface="Calibri" pitchFamily="34" charset="-122"/>
                <a:cs typeface="Calibri" pitchFamily="34" charset="-120"/>
              </a:rPr>
              <a:t>&lt; 40  </a:t>
            </a:r>
            <a:pPr indent="0" marL="0">
              <a:lnSpc>
                <a:spcPct val="135000"/>
              </a:lnSpc>
              <a:buNone/>
            </a:pPr>
            <a:r>
              <a:rPr lang="en-US" sz="1100" dirty="0">
                <a:solidFill>
                  <a:srgbClr val="CADCFC"/>
                </a:solidFill>
                <a:latin typeface="Calibri" pitchFamily="34" charset="0"/>
                <a:ea typeface="Calibri" pitchFamily="34" charset="-122"/>
                <a:cs typeface="Calibri" pitchFamily="34" charset="-120"/>
              </a:rPr>
              <a:t>no critical flag → auto-rejected</a:t>
            </a:r>
            <a:endParaRPr lang="en-US" sz="1100" dirty="0"/>
          </a:p>
        </p:txBody>
      </p:sp>
      <p:sp>
        <p:nvSpPr>
          <p:cNvPr id="39" name="Shape 37"/>
          <p:cNvSpPr/>
          <p:nvPr/>
        </p:nvSpPr>
        <p:spPr>
          <a:xfrm>
            <a:off x="8275320" y="3931920"/>
            <a:ext cx="3291840" cy="2148840"/>
          </a:xfrm>
          <a:prstGeom prst="roundRect">
            <a:avLst>
              <a:gd name="adj" fmla="val 3404"/>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0" name="Text 38"/>
          <p:cNvSpPr/>
          <p:nvPr/>
        </p:nvSpPr>
        <p:spPr>
          <a:xfrm>
            <a:off x="8503920" y="4069080"/>
            <a:ext cx="2834640" cy="32004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Every score is config-driven</a:t>
            </a:r>
            <a:endParaRPr lang="en-US" sz="1250" dirty="0"/>
          </a:p>
        </p:txBody>
      </p:sp>
      <p:sp>
        <p:nvSpPr>
          <p:cNvPr id="41" name="Text 39"/>
          <p:cNvSpPr/>
          <p:nvPr/>
        </p:nvSpPr>
        <p:spPr>
          <a:xfrm>
            <a:off x="8503920" y="4434840"/>
            <a:ext cx="2834640" cy="1554480"/>
          </a:xfrm>
          <a:prstGeom prst="rect">
            <a:avLst/>
          </a:prstGeom>
          <a:noFill/>
          <a:ln/>
        </p:spPr>
        <p:txBody>
          <a:bodyPr wrap="square" rtlCol="0" anchor="ctr"/>
          <a:lstStyle/>
          <a:p>
            <a:pPr indent="0" marL="0">
              <a:lnSpc>
                <a:spcPct val="125000"/>
              </a:lnSpc>
              <a:buNone/>
            </a:pPr>
            <a:r>
              <a:rPr lang="en-US" sz="1050" dirty="0">
                <a:solidFill>
                  <a:srgbClr val="454B6B"/>
                </a:solidFill>
                <a:latin typeface="Calibri" pitchFamily="34" charset="0"/>
                <a:ea typeface="Calibri" pitchFamily="34" charset="-122"/>
                <a:cs typeface="Calibri" pitchFamily="34" charset="-120"/>
              </a:rPr>
              <a:t>Weights, keywords, and the report threshold live in one TrustScoreConfig document — admins retune them from real scam patterns with a PATCH call, no redeploy. Every automated or human decision is appended to TrustScoreDecisionLog, so false-positive / false-negative rates are auditable, not anecdotal.</a:t>
            </a:r>
            <a:endParaRPr lang="en-US" sz="1050" dirty="0"/>
          </a:p>
        </p:txBody>
      </p:sp>
      <p:sp>
        <p:nvSpPr>
          <p:cNvPr id="42" name="Text 40"/>
          <p:cNvSpPr/>
          <p:nvPr/>
        </p:nvSpPr>
        <p:spPr>
          <a:xfrm>
            <a:off x="640080" y="6172200"/>
            <a:ext cx="10881360" cy="457200"/>
          </a:xfrm>
          <a:prstGeom prst="rect">
            <a:avLst/>
          </a:prstGeom>
          <a:noFill/>
          <a:ln/>
        </p:spPr>
        <p:txBody>
          <a:bodyPr wrap="square" rtlCol="0" anchor="ctr"/>
          <a:lstStyle/>
          <a:p>
            <a:pPr indent="0" marL="0">
              <a:buNone/>
            </a:pPr>
            <a:r>
              <a:rPr lang="en-US" sz="1050" i="1" dirty="0">
                <a:solidFill>
                  <a:srgbClr val="7B81A3"/>
                </a:solidFill>
                <a:latin typeface="Calibri" pitchFamily="34" charset="0"/>
                <a:ea typeface="Calibri" pitchFamily="34" charset="-122"/>
                <a:cs typeface="Calibri" pitchFamily="34" charset="-120"/>
              </a:rPr>
              <a:t>A critical-keyword hit never auto-rejects by itself — a single match without context is a plausible false positive, so it forces a human look instead of silently killing a real posting.</a:t>
            </a:r>
            <a:endParaRPr lang="en-US" sz="1050" dirty="0"/>
          </a:p>
        </p:txBody>
      </p:sp>
      <p:sp>
        <p:nvSpPr>
          <p:cNvPr id="44" name="Text 41"/>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45" name="Text 42"/>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DEEP DIVE — MATCH SCORE &amp; SKILL GAP</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Turning a resume into a percentage, and a study plan</a:t>
            </a:r>
            <a:endParaRPr lang="en-US" sz="2600" dirty="0"/>
          </a:p>
        </p:txBody>
      </p:sp>
      <p:sp>
        <p:nvSpPr>
          <p:cNvPr id="4" name="Shape 2"/>
          <p:cNvSpPr/>
          <p:nvPr/>
        </p:nvSpPr>
        <p:spPr>
          <a:xfrm>
            <a:off x="640080" y="1737360"/>
            <a:ext cx="5486400" cy="1554480"/>
          </a:xfrm>
          <a:prstGeom prst="roundRect">
            <a:avLst>
              <a:gd name="adj" fmla="val 4706"/>
            </a:avLst>
          </a:prstGeom>
          <a:solidFill>
            <a:srgbClr val="1E2761"/>
          </a:solidFill>
          <a:ln w="12700">
            <a:solidFill>
              <a:srgbClr val="1E2761"/>
            </a:solidFill>
            <a:prstDash val="solid"/>
          </a:ln>
        </p:spPr>
      </p:sp>
      <p:sp>
        <p:nvSpPr>
          <p:cNvPr id="5" name="Text 3"/>
          <p:cNvSpPr/>
          <p:nvPr/>
        </p:nvSpPr>
        <p:spPr>
          <a:xfrm>
            <a:off x="868680" y="1874520"/>
            <a:ext cx="5029200" cy="320040"/>
          </a:xfrm>
          <a:prstGeom prst="rect">
            <a:avLst/>
          </a:prstGeom>
          <a:noFill/>
          <a:ln/>
        </p:spPr>
        <p:txBody>
          <a:bodyPr wrap="square" rtlCol="0" anchor="ctr"/>
          <a:lstStyle/>
          <a:p>
            <a:pPr indent="0" marL="0">
              <a:buNone/>
            </a:pPr>
            <a:r>
              <a:rPr lang="en-US" sz="1300" b="1" dirty="0">
                <a:solidFill>
                  <a:srgbClr val="02C39A"/>
                </a:solidFill>
                <a:latin typeface="Courier New" pitchFamily="34" charset="0"/>
                <a:ea typeface="Courier New" pitchFamily="34" charset="-122"/>
                <a:cs typeface="Courier New" pitchFamily="34" charset="-120"/>
              </a:rPr>
              <a:t>matchScore =</a:t>
            </a:r>
            <a:endParaRPr lang="en-US" sz="1300" dirty="0"/>
          </a:p>
        </p:txBody>
      </p:sp>
      <p:sp>
        <p:nvSpPr>
          <p:cNvPr id="6" name="Text 4"/>
          <p:cNvSpPr/>
          <p:nvPr/>
        </p:nvSpPr>
        <p:spPr>
          <a:xfrm>
            <a:off x="868680" y="2194560"/>
            <a:ext cx="5029200" cy="1005840"/>
          </a:xfrm>
          <a:prstGeom prst="rect">
            <a:avLst/>
          </a:prstGeom>
          <a:noFill/>
          <a:ln/>
        </p:spPr>
        <p:txBody>
          <a:bodyPr wrap="square" rtlCol="0" anchor="ctr"/>
          <a:lstStyle/>
          <a:p>
            <a:pPr indent="0" marL="0">
              <a:lnSpc>
                <a:spcPct val="130000"/>
              </a:lnSpc>
              <a:buNone/>
            </a:pPr>
            <a:r>
              <a:rPr lang="en-US" sz="1200" b="1" dirty="0">
                <a:solidFill>
                  <a:srgbClr val="FFFFFF"/>
                </a:solidFill>
                <a:latin typeface="Courier New" pitchFamily="34" charset="0"/>
                <a:ea typeface="Courier New" pitchFamily="34" charset="-122"/>
                <a:cs typeface="Courier New" pitchFamily="34" charset="-120"/>
              </a:rPr>
              <a:t>skillTerm </a:t>
            </a:r>
            <a:pPr indent="0" marL="0">
              <a:lnSpc>
                <a:spcPct val="130000"/>
              </a:lnSpc>
              <a:buNone/>
            </a:pPr>
            <a:r>
              <a:rPr lang="en-US" sz="1200" dirty="0">
                <a:solidFill>
                  <a:srgbClr val="CADCFC"/>
                </a:solidFill>
                <a:latin typeface="Courier New" pitchFamily="34" charset="0"/>
                <a:ea typeface="Courier New" pitchFamily="34" charset="-122"/>
                <a:cs typeface="Courier New" pitchFamily="34" charset="-120"/>
              </a:rPr>
              <a:t>(0–70)
</a:t>
            </a:r>
            <a:pPr indent="0" marL="0">
              <a:lnSpc>
                <a:spcPct val="130000"/>
              </a:lnSpc>
              <a:buNone/>
            </a:pPr>
            <a:r>
              <a:rPr lang="en-US" sz="1200" b="1" dirty="0">
                <a:solidFill>
                  <a:srgbClr val="FFFFFF"/>
                </a:solidFill>
                <a:latin typeface="Courier New" pitchFamily="34" charset="0"/>
                <a:ea typeface="Courier New" pitchFamily="34" charset="-122"/>
                <a:cs typeface="Courier New" pitchFamily="34" charset="-120"/>
              </a:rPr>
              <a:t>+ eligibilityMatch × 20 </a:t>
            </a:r>
            <a:pPr indent="0" marL="0">
              <a:lnSpc>
                <a:spcPct val="130000"/>
              </a:lnSpc>
              <a:buNone/>
            </a:pPr>
            <a:r>
              <a:rPr lang="en-US" sz="1200" dirty="0">
                <a:solidFill>
                  <a:srgbClr val="CADCFC"/>
                </a:solidFill>
                <a:latin typeface="Courier New" pitchFamily="34" charset="0"/>
                <a:ea typeface="Courier New" pitchFamily="34" charset="-122"/>
                <a:cs typeface="Courier New" pitchFamily="34" charset="-120"/>
              </a:rPr>
              <a:t>(0 or 20)
</a:t>
            </a:r>
            <a:pPr indent="0" marL="0">
              <a:lnSpc>
                <a:spcPct val="130000"/>
              </a:lnSpc>
              <a:buNone/>
            </a:pPr>
            <a:r>
              <a:rPr lang="en-US" sz="1200" b="1" dirty="0">
                <a:solidFill>
                  <a:srgbClr val="FFFFFF"/>
                </a:solidFill>
                <a:latin typeface="Courier New" pitchFamily="34" charset="0"/>
                <a:ea typeface="Courier New" pitchFamily="34" charset="-122"/>
                <a:cs typeface="Courier New" pitchFamily="34" charset="-120"/>
              </a:rPr>
              <a:t>+ locationMatch × 10 </a:t>
            </a:r>
            <a:pPr indent="0" marL="0">
              <a:lnSpc>
                <a:spcPct val="130000"/>
              </a:lnSpc>
              <a:buNone/>
            </a:pPr>
            <a:r>
              <a:rPr lang="en-US" sz="1200" dirty="0">
                <a:solidFill>
                  <a:srgbClr val="CADCFC"/>
                </a:solidFill>
                <a:latin typeface="Courier New" pitchFamily="34" charset="0"/>
                <a:ea typeface="Courier New" pitchFamily="34" charset="-122"/>
                <a:cs typeface="Courier New" pitchFamily="34" charset="-120"/>
              </a:rPr>
              <a:t>(0 or 10)</a:t>
            </a:r>
            <a:endParaRPr lang="en-US" sz="1200" dirty="0"/>
          </a:p>
        </p:txBody>
      </p:sp>
      <p:sp>
        <p:nvSpPr>
          <p:cNvPr id="7" name="Shape 5"/>
          <p:cNvSpPr/>
          <p:nvPr/>
        </p:nvSpPr>
        <p:spPr>
          <a:xfrm>
            <a:off x="6309360" y="1737360"/>
            <a:ext cx="5212080" cy="1554480"/>
          </a:xfrm>
          <a:prstGeom prst="roundRect">
            <a:avLst>
              <a:gd name="adj" fmla="val 4706"/>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8" name="Text 6"/>
          <p:cNvSpPr/>
          <p:nvPr/>
        </p:nvSpPr>
        <p:spPr>
          <a:xfrm>
            <a:off x="6537960" y="1874520"/>
            <a:ext cx="475488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skillTerm guard</a:t>
            </a:r>
            <a:endParaRPr lang="en-US" sz="1200" dirty="0"/>
          </a:p>
        </p:txBody>
      </p:sp>
      <p:sp>
        <p:nvSpPr>
          <p:cNvPr id="9" name="Text 7"/>
          <p:cNvSpPr/>
          <p:nvPr/>
        </p:nvSpPr>
        <p:spPr>
          <a:xfrm>
            <a:off x="6537960" y="2194560"/>
            <a:ext cx="4754880" cy="1005840"/>
          </a:xfrm>
          <a:prstGeom prst="rect">
            <a:avLst/>
          </a:prstGeom>
          <a:noFill/>
          <a:ln/>
        </p:spPr>
        <p:txBody>
          <a:bodyPr wrap="square" rtlCol="0" anchor="ctr"/>
          <a:lstStyle/>
          <a:p>
            <a:pPr indent="0" marL="0">
              <a:lnSpc>
                <a:spcPct val="135000"/>
              </a:lnSpc>
              <a:buNone/>
            </a:pPr>
            <a:r>
              <a:rPr lang="en-US" sz="1100" dirty="0">
                <a:solidFill>
                  <a:srgbClr val="454B6B"/>
                </a:solidFill>
                <a:latin typeface="Courier New" pitchFamily="34" charset="0"/>
                <a:ea typeface="Courier New" pitchFamily="34" charset="-122"/>
                <a:cs typeface="Courier New" pitchFamily="34" charset="-120"/>
              </a:rPr>
              <a:t>requiredSkills.length === 0  →  70  (nothing to penalize against)</a:t>
            </a:r>
            <a:endParaRPr lang="en-US" sz="1100" dirty="0"/>
          </a:p>
          <a:p>
            <a:pPr indent="0" marL="0">
              <a:lnSpc>
                <a:spcPct val="135000"/>
              </a:lnSpc>
              <a:buNone/>
            </a:pPr>
            <a:r>
              <a:rPr lang="en-US" sz="1100" dirty="0">
                <a:solidFill>
                  <a:srgbClr val="454B6B"/>
                </a:solidFill>
                <a:latin typeface="Courier New" pitchFamily="34" charset="0"/>
                <a:ea typeface="Courier New" pitchFamily="34" charset="-122"/>
                <a:cs typeface="Courier New" pitchFamily="34" charset="-120"/>
              </a:rPr>
              <a:t>otherwise  →  (matched / required) × 70</a:t>
            </a:r>
            <a:endParaRPr lang="en-US" sz="1100" dirty="0"/>
          </a:p>
        </p:txBody>
      </p:sp>
      <p:sp>
        <p:nvSpPr>
          <p:cNvPr id="10" name="Shape 8"/>
          <p:cNvSpPr/>
          <p:nvPr/>
        </p:nvSpPr>
        <p:spPr>
          <a:xfrm>
            <a:off x="640080" y="3520440"/>
            <a:ext cx="356616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1" name="Shape 9"/>
          <p:cNvSpPr/>
          <p:nvPr/>
        </p:nvSpPr>
        <p:spPr>
          <a:xfrm>
            <a:off x="896112" y="3758184"/>
            <a:ext cx="457200" cy="457200"/>
          </a:xfrm>
          <a:prstGeom prst="ellipse">
            <a:avLst/>
          </a:prstGeom>
          <a:solidFill>
            <a:srgbClr val="02C39A"/>
          </a:solidFill>
          <a:ln/>
        </p:spPr>
      </p:sp>
      <p:pic>
        <p:nvPicPr>
          <p:cNvPr id="12" name="Image 0" descr="C:\Users\Niharika\AppData\Local\Temp\claude\C--Users-Niharika-Linkedout\10362697-8d2a-4530-a202-c572b85676f5\scratchpad\deck\icons\layers_white.png">    </p:cNvPr>
          <p:cNvPicPr>
            <a:picLocks noChangeAspect="1"/>
          </p:cNvPicPr>
          <p:nvPr/>
        </p:nvPicPr>
        <p:blipFill>
          <a:blip r:embed="rId1"/>
          <a:stretch>
            <a:fillRect/>
          </a:stretch>
        </p:blipFill>
        <p:spPr>
          <a:xfrm>
            <a:off x="998982" y="3861054"/>
            <a:ext cx="251460" cy="251460"/>
          </a:xfrm>
          <a:prstGeom prst="rect">
            <a:avLst/>
          </a:prstGeom>
        </p:spPr>
      </p:pic>
      <p:sp>
        <p:nvSpPr>
          <p:cNvPr id="13" name="Text 10"/>
          <p:cNvSpPr/>
          <p:nvPr/>
        </p:nvSpPr>
        <p:spPr>
          <a:xfrm>
            <a:off x="1517904" y="3721608"/>
            <a:ext cx="250545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Skill normalization</a:t>
            </a:r>
            <a:endParaRPr lang="en-US" sz="1400" dirty="0"/>
          </a:p>
        </p:txBody>
      </p:sp>
      <p:sp>
        <p:nvSpPr>
          <p:cNvPr id="14" name="Text 11"/>
          <p:cNvSpPr/>
          <p:nvPr/>
        </p:nvSpPr>
        <p:spPr>
          <a:xfrm>
            <a:off x="896112" y="4288536"/>
            <a:ext cx="3054096" cy="94183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“JS”, “React.js”, “ReactJS” all collapse to one canonical name via a maintained synonym dictionary — applied at signup, resume parsing, and scraped-listing extraction alike, so comparisons never silently miss a match.</a:t>
            </a:r>
            <a:endParaRPr lang="en-US" sz="1100" dirty="0"/>
          </a:p>
        </p:txBody>
      </p:sp>
      <p:sp>
        <p:nvSpPr>
          <p:cNvPr id="15" name="Shape 12"/>
          <p:cNvSpPr/>
          <p:nvPr/>
        </p:nvSpPr>
        <p:spPr>
          <a:xfrm>
            <a:off x="4434840" y="3520440"/>
            <a:ext cx="356616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6" name="Shape 13"/>
          <p:cNvSpPr/>
          <p:nvPr/>
        </p:nvSpPr>
        <p:spPr>
          <a:xfrm>
            <a:off x="4690872" y="3758184"/>
            <a:ext cx="457200" cy="457200"/>
          </a:xfrm>
          <a:prstGeom prst="ellipse">
            <a:avLst/>
          </a:prstGeom>
          <a:solidFill>
            <a:srgbClr val="02C39A"/>
          </a:solidFill>
          <a:ln/>
        </p:spPr>
      </p:sp>
      <p:pic>
        <p:nvPicPr>
          <p:cNvPr id="17" name="Image 1" descr="C:\Users\Niharika\AppData\Local\Temp\claude\C--Users-Niharika-Linkedout\10362697-8d2a-4530-a202-c572b85676f5\scratchpad\deck\icons\fileText_white.png">    </p:cNvPr>
          <p:cNvPicPr>
            <a:picLocks noChangeAspect="1"/>
          </p:cNvPicPr>
          <p:nvPr/>
        </p:nvPicPr>
        <p:blipFill>
          <a:blip r:embed="rId2"/>
          <a:stretch>
            <a:fillRect/>
          </a:stretch>
        </p:blipFill>
        <p:spPr>
          <a:xfrm>
            <a:off x="4793742" y="3861054"/>
            <a:ext cx="251460" cy="251460"/>
          </a:xfrm>
          <a:prstGeom prst="rect">
            <a:avLst/>
          </a:prstGeom>
        </p:spPr>
      </p:pic>
      <p:sp>
        <p:nvSpPr>
          <p:cNvPr id="18" name="Text 14"/>
          <p:cNvSpPr/>
          <p:nvPr/>
        </p:nvSpPr>
        <p:spPr>
          <a:xfrm>
            <a:off x="5312664" y="3721608"/>
            <a:ext cx="250545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Resume auto-parse</a:t>
            </a:r>
            <a:endParaRPr lang="en-US" sz="1400" dirty="0"/>
          </a:p>
        </p:txBody>
      </p:sp>
      <p:sp>
        <p:nvSpPr>
          <p:cNvPr id="19" name="Text 15"/>
          <p:cNvSpPr/>
          <p:nvPr/>
        </p:nvSpPr>
        <p:spPr>
          <a:xfrm>
            <a:off x="4690872" y="4288536"/>
            <a:ext cx="3054096" cy="94183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pdf-parse extracts resume text; a word-boundary regex scan against the skills dictionary finds matches, which merge additively into the profile. Manual add/edit/remove always stays available and is never overridden.</a:t>
            </a:r>
            <a:endParaRPr lang="en-US" sz="1100" dirty="0"/>
          </a:p>
        </p:txBody>
      </p:sp>
      <p:sp>
        <p:nvSpPr>
          <p:cNvPr id="20" name="Shape 16"/>
          <p:cNvSpPr/>
          <p:nvPr/>
        </p:nvSpPr>
        <p:spPr>
          <a:xfrm>
            <a:off x="8229600" y="3520440"/>
            <a:ext cx="356616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1" name="Shape 17"/>
          <p:cNvSpPr/>
          <p:nvPr/>
        </p:nvSpPr>
        <p:spPr>
          <a:xfrm>
            <a:off x="8485632" y="3758184"/>
            <a:ext cx="457200" cy="457200"/>
          </a:xfrm>
          <a:prstGeom prst="ellipse">
            <a:avLst/>
          </a:prstGeom>
          <a:solidFill>
            <a:srgbClr val="02C39A"/>
          </a:solidFill>
          <a:ln/>
        </p:spPr>
      </p:sp>
      <p:pic>
        <p:nvPicPr>
          <p:cNvPr id="22" name="Image 2" descr="C:\Users\Niharika\AppData\Local\Temp\claude\C--Users-Niharika-Linkedout\10362697-8d2a-4530-a202-c572b85676f5\scratchpad\deck\icons\refresh_white.png">    </p:cNvPr>
          <p:cNvPicPr>
            <a:picLocks noChangeAspect="1"/>
          </p:cNvPicPr>
          <p:nvPr/>
        </p:nvPicPr>
        <p:blipFill>
          <a:blip r:embed="rId3"/>
          <a:stretch>
            <a:fillRect/>
          </a:stretch>
        </p:blipFill>
        <p:spPr>
          <a:xfrm>
            <a:off x="8588502" y="3861054"/>
            <a:ext cx="251460" cy="251460"/>
          </a:xfrm>
          <a:prstGeom prst="rect">
            <a:avLst/>
          </a:prstGeom>
        </p:spPr>
      </p:pic>
      <p:sp>
        <p:nvSpPr>
          <p:cNvPr id="23" name="Text 18"/>
          <p:cNvSpPr/>
          <p:nvPr/>
        </p:nvSpPr>
        <p:spPr>
          <a:xfrm>
            <a:off x="9107424" y="3721608"/>
            <a:ext cx="250545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Self-invalidating cache</a:t>
            </a:r>
            <a:endParaRPr lang="en-US" sz="1400" dirty="0"/>
          </a:p>
        </p:txBody>
      </p:sp>
      <p:sp>
        <p:nvSpPr>
          <p:cNvPr id="24" name="Text 19"/>
          <p:cNvSpPr/>
          <p:nvPr/>
        </p:nvSpPr>
        <p:spPr>
          <a:xfrm>
            <a:off x="8485632" y="4288536"/>
            <a:ext cx="3054096" cy="94183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The match-score cache key includes both the user's and the internship's updatedAt timestamp. Any profile edit, resume re-upload, or listing edit naturally busts it — no explicit invalidation code, just a cache miss.</a:t>
            </a:r>
            <a:endParaRPr lang="en-US" sz="1100" dirty="0"/>
          </a:p>
        </p:txBody>
      </p:sp>
      <p:sp>
        <p:nvSpPr>
          <p:cNvPr id="25" name="Shape 20"/>
          <p:cNvSpPr/>
          <p:nvPr/>
        </p:nvSpPr>
        <p:spPr>
          <a:xfrm>
            <a:off x="640080" y="5669280"/>
            <a:ext cx="10881360" cy="685800"/>
          </a:xfrm>
          <a:prstGeom prst="roundRect">
            <a:avLst>
              <a:gd name="adj" fmla="val 10667"/>
            </a:avLst>
          </a:prstGeom>
          <a:solidFill>
            <a:srgbClr val="1E2761"/>
          </a:solidFill>
          <a:ln w="12700">
            <a:solidFill>
              <a:srgbClr val="1E2761"/>
            </a:solidFill>
            <a:prstDash val="solid"/>
          </a:ln>
        </p:spPr>
      </p:sp>
      <p:sp>
        <p:nvSpPr>
          <p:cNvPr id="26" name="Text 21"/>
          <p:cNvSpPr/>
          <p:nvPr/>
        </p:nvSpPr>
        <p:spPr>
          <a:xfrm>
            <a:off x="868680" y="5669280"/>
            <a:ext cx="10424160" cy="68580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The gap set feeds two places: </a:t>
            </a:r>
            <a:pPr indent="0" marL="0">
              <a:buNone/>
            </a:pPr>
            <a:r>
              <a:rPr lang="en-US" sz="1150" dirty="0">
                <a:solidFill>
                  <a:srgbClr val="CADCFC"/>
                </a:solidFill>
                <a:latin typeface="Calibri" pitchFamily="34" charset="0"/>
                <a:ea typeface="Calibri" pitchFamily="34" charset="-122"/>
                <a:cs typeface="Calibri" pitchFamily="34" charset="-120"/>
              </a:rPr>
              <a:t>a per-student recommended learning list, and — aggregated — the placement cell's skill-gap analytics dashboard.</a:t>
            </a:r>
            <a:endParaRPr lang="en-US" sz="1150" dirty="0"/>
          </a:p>
        </p:txBody>
      </p:sp>
      <p:sp>
        <p:nvSpPr>
          <p:cNvPr id="28" name="Text 22"/>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29" name="Text 23"/>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TECH STACK</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One Node.js codebase, purpose-built per layer</a:t>
            </a:r>
            <a:endParaRPr lang="en-US" sz="2800" dirty="0"/>
          </a:p>
        </p:txBody>
      </p:sp>
      <p:sp>
        <p:nvSpPr>
          <p:cNvPr id="4" name="Shape 2"/>
          <p:cNvSpPr/>
          <p:nvPr/>
        </p:nvSpPr>
        <p:spPr>
          <a:xfrm>
            <a:off x="640080" y="1737360"/>
            <a:ext cx="352044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Text 3"/>
          <p:cNvSpPr/>
          <p:nvPr/>
        </p:nvSpPr>
        <p:spPr>
          <a:xfrm>
            <a:off x="868680" y="1901952"/>
            <a:ext cx="3063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Backend Core</a:t>
            </a:r>
            <a:endParaRPr lang="en-US" sz="1300" dirty="0"/>
          </a:p>
        </p:txBody>
      </p:sp>
      <p:sp>
        <p:nvSpPr>
          <p:cNvPr id="6" name="Shape 4"/>
          <p:cNvSpPr/>
          <p:nvPr/>
        </p:nvSpPr>
        <p:spPr>
          <a:xfrm>
            <a:off x="868680" y="2304288"/>
            <a:ext cx="329184" cy="329184"/>
          </a:xfrm>
          <a:prstGeom prst="ellipse">
            <a:avLst/>
          </a:prstGeom>
          <a:solidFill>
            <a:srgbClr val="1E2761"/>
          </a:solidFill>
          <a:ln/>
        </p:spPr>
      </p:sp>
      <p:pic>
        <p:nvPicPr>
          <p:cNvPr id="7" name="Image 0" descr="C:\Users\Niharika\AppData\Local\Temp\claude\C--Users-Niharika-Linkedout\10362697-8d2a-4530-a202-c572b85676f5\scratchpad\deck\icons\code_white.png">    </p:cNvPr>
          <p:cNvPicPr>
            <a:picLocks noChangeAspect="1"/>
          </p:cNvPicPr>
          <p:nvPr/>
        </p:nvPicPr>
        <p:blipFill>
          <a:blip r:embed="rId1"/>
          <a:stretch>
            <a:fillRect/>
          </a:stretch>
        </p:blipFill>
        <p:spPr>
          <a:xfrm>
            <a:off x="942746" y="2378354"/>
            <a:ext cx="181051" cy="181051"/>
          </a:xfrm>
          <a:prstGeom prst="rect">
            <a:avLst/>
          </a:prstGeom>
        </p:spPr>
      </p:pic>
      <p:sp>
        <p:nvSpPr>
          <p:cNvPr id="8" name="Text 5"/>
          <p:cNvSpPr/>
          <p:nvPr/>
        </p:nvSpPr>
        <p:spPr>
          <a:xfrm>
            <a:off x="1280160" y="2286000"/>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Node.js + Express</a:t>
            </a:r>
            <a:endParaRPr lang="en-US" sz="1080" dirty="0"/>
          </a:p>
        </p:txBody>
      </p:sp>
      <p:sp>
        <p:nvSpPr>
          <p:cNvPr id="9" name="Shape 6"/>
          <p:cNvSpPr/>
          <p:nvPr/>
        </p:nvSpPr>
        <p:spPr>
          <a:xfrm>
            <a:off x="868680" y="2743200"/>
            <a:ext cx="329184" cy="329184"/>
          </a:xfrm>
          <a:prstGeom prst="ellipse">
            <a:avLst/>
          </a:prstGeom>
          <a:solidFill>
            <a:srgbClr val="1E2761"/>
          </a:solidFill>
          <a:ln/>
        </p:spPr>
      </p:sp>
      <p:pic>
        <p:nvPicPr>
          <p:cNvPr id="10" name="Image 1" descr="C:\Users\Niharika\AppData\Local\Temp\claude\C--Users-Niharika-Linkedout\10362697-8d2a-4530-a202-c572b85676f5\scratchpad\deck\icons\gitbranch_white.png">    </p:cNvPr>
          <p:cNvPicPr>
            <a:picLocks noChangeAspect="1"/>
          </p:cNvPicPr>
          <p:nvPr/>
        </p:nvPicPr>
        <p:blipFill>
          <a:blip r:embed="rId2"/>
          <a:stretch>
            <a:fillRect/>
          </a:stretch>
        </p:blipFill>
        <p:spPr>
          <a:xfrm>
            <a:off x="942746" y="2817266"/>
            <a:ext cx="181051" cy="181051"/>
          </a:xfrm>
          <a:prstGeom prst="rect">
            <a:avLst/>
          </a:prstGeom>
        </p:spPr>
      </p:pic>
      <p:sp>
        <p:nvSpPr>
          <p:cNvPr id="11" name="Text 7"/>
          <p:cNvSpPr/>
          <p:nvPr/>
        </p:nvSpPr>
        <p:spPr>
          <a:xfrm>
            <a:off x="1280160" y="2724912"/>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REST API</a:t>
            </a:r>
            <a:endParaRPr lang="en-US" sz="1080" dirty="0"/>
          </a:p>
        </p:txBody>
      </p:sp>
      <p:sp>
        <p:nvSpPr>
          <p:cNvPr id="12" name="Shape 8"/>
          <p:cNvSpPr/>
          <p:nvPr/>
        </p:nvSpPr>
        <p:spPr>
          <a:xfrm>
            <a:off x="868680" y="3182112"/>
            <a:ext cx="329184" cy="329184"/>
          </a:xfrm>
          <a:prstGeom prst="ellipse">
            <a:avLst/>
          </a:prstGeom>
          <a:solidFill>
            <a:srgbClr val="1E2761"/>
          </a:solidFill>
          <a:ln/>
        </p:spPr>
      </p:sp>
      <p:pic>
        <p:nvPicPr>
          <p:cNvPr id="13" name="Image 2" descr="C:\Users\Niharika\AppData\Local\Temp\claude\C--Users-Niharika-Linkedout\10362697-8d2a-4530-a202-c572b85676f5\scratchpad\deck\icons\barchart_white.png">    </p:cNvPr>
          <p:cNvPicPr>
            <a:picLocks noChangeAspect="1"/>
          </p:cNvPicPr>
          <p:nvPr/>
        </p:nvPicPr>
        <p:blipFill>
          <a:blip r:embed="rId3"/>
          <a:stretch>
            <a:fillRect/>
          </a:stretch>
        </p:blipFill>
        <p:spPr>
          <a:xfrm>
            <a:off x="942746" y="3256178"/>
            <a:ext cx="181051" cy="181051"/>
          </a:xfrm>
          <a:prstGeom prst="rect">
            <a:avLst/>
          </a:prstGeom>
        </p:spPr>
      </p:pic>
      <p:sp>
        <p:nvSpPr>
          <p:cNvPr id="14" name="Text 9"/>
          <p:cNvSpPr/>
          <p:nvPr/>
        </p:nvSpPr>
        <p:spPr>
          <a:xfrm>
            <a:off x="1280160" y="3163824"/>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Zod validation</a:t>
            </a:r>
            <a:endParaRPr lang="en-US" sz="1080" dirty="0"/>
          </a:p>
        </p:txBody>
      </p:sp>
      <p:sp>
        <p:nvSpPr>
          <p:cNvPr id="15" name="Shape 10"/>
          <p:cNvSpPr/>
          <p:nvPr/>
        </p:nvSpPr>
        <p:spPr>
          <a:xfrm>
            <a:off x="4343400" y="1737360"/>
            <a:ext cx="352044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6" name="Text 11"/>
          <p:cNvSpPr/>
          <p:nvPr/>
        </p:nvSpPr>
        <p:spPr>
          <a:xfrm>
            <a:off x="4572000" y="1901952"/>
            <a:ext cx="3063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Layer</a:t>
            </a:r>
            <a:endParaRPr lang="en-US" sz="1300" dirty="0"/>
          </a:p>
        </p:txBody>
      </p:sp>
      <p:sp>
        <p:nvSpPr>
          <p:cNvPr id="17" name="Shape 12"/>
          <p:cNvSpPr/>
          <p:nvPr/>
        </p:nvSpPr>
        <p:spPr>
          <a:xfrm>
            <a:off x="4572000" y="2304288"/>
            <a:ext cx="329184" cy="329184"/>
          </a:xfrm>
          <a:prstGeom prst="ellipse">
            <a:avLst/>
          </a:prstGeom>
          <a:solidFill>
            <a:srgbClr val="1E2761"/>
          </a:solidFill>
          <a:ln/>
        </p:spPr>
      </p:sp>
      <p:pic>
        <p:nvPicPr>
          <p:cNvPr id="18" name="Image 3" descr="C:\Users\Niharika\AppData\Local\Temp\claude\C--Users-Niharika-Linkedout\10362697-8d2a-4530-a202-c572b85676f5\scratchpad\deck\icons\database_white.png">    </p:cNvPr>
          <p:cNvPicPr>
            <a:picLocks noChangeAspect="1"/>
          </p:cNvPicPr>
          <p:nvPr/>
        </p:nvPicPr>
        <p:blipFill>
          <a:blip r:embed="rId4"/>
          <a:stretch>
            <a:fillRect/>
          </a:stretch>
        </p:blipFill>
        <p:spPr>
          <a:xfrm>
            <a:off x="4646066" y="2378354"/>
            <a:ext cx="181051" cy="181051"/>
          </a:xfrm>
          <a:prstGeom prst="rect">
            <a:avLst/>
          </a:prstGeom>
        </p:spPr>
      </p:pic>
      <p:sp>
        <p:nvSpPr>
          <p:cNvPr id="19" name="Text 13"/>
          <p:cNvSpPr/>
          <p:nvPr/>
        </p:nvSpPr>
        <p:spPr>
          <a:xfrm>
            <a:off x="4983480" y="2286000"/>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MongoDB</a:t>
            </a:r>
            <a:endParaRPr lang="en-US" sz="1080" dirty="0"/>
          </a:p>
        </p:txBody>
      </p:sp>
      <p:sp>
        <p:nvSpPr>
          <p:cNvPr id="20" name="Shape 14"/>
          <p:cNvSpPr/>
          <p:nvPr/>
        </p:nvSpPr>
        <p:spPr>
          <a:xfrm>
            <a:off x="4572000" y="2743200"/>
            <a:ext cx="329184" cy="329184"/>
          </a:xfrm>
          <a:prstGeom prst="ellipse">
            <a:avLst/>
          </a:prstGeom>
          <a:solidFill>
            <a:srgbClr val="1E2761"/>
          </a:solidFill>
          <a:ln/>
        </p:spPr>
      </p:sp>
      <p:pic>
        <p:nvPicPr>
          <p:cNvPr id="21" name="Image 4" descr="C:\Users\Niharika\AppData\Local\Temp\claude\C--Users-Niharika-Linkedout\10362697-8d2a-4530-a202-c572b85676f5\scratchpad\deck\icons\layers_white.png">    </p:cNvPr>
          <p:cNvPicPr>
            <a:picLocks noChangeAspect="1"/>
          </p:cNvPicPr>
          <p:nvPr/>
        </p:nvPicPr>
        <p:blipFill>
          <a:blip r:embed="rId5"/>
          <a:stretch>
            <a:fillRect/>
          </a:stretch>
        </p:blipFill>
        <p:spPr>
          <a:xfrm>
            <a:off x="4646066" y="2817266"/>
            <a:ext cx="181051" cy="181051"/>
          </a:xfrm>
          <a:prstGeom prst="rect">
            <a:avLst/>
          </a:prstGeom>
        </p:spPr>
      </p:pic>
      <p:sp>
        <p:nvSpPr>
          <p:cNvPr id="22" name="Text 15"/>
          <p:cNvSpPr/>
          <p:nvPr/>
        </p:nvSpPr>
        <p:spPr>
          <a:xfrm>
            <a:off x="4983480" y="2724912"/>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Mongoose</a:t>
            </a:r>
            <a:endParaRPr lang="en-US" sz="1080" dirty="0"/>
          </a:p>
        </p:txBody>
      </p:sp>
      <p:sp>
        <p:nvSpPr>
          <p:cNvPr id="23" name="Shape 16"/>
          <p:cNvSpPr/>
          <p:nvPr/>
        </p:nvSpPr>
        <p:spPr>
          <a:xfrm>
            <a:off x="4572000" y="3182112"/>
            <a:ext cx="329184" cy="329184"/>
          </a:xfrm>
          <a:prstGeom prst="ellipse">
            <a:avLst/>
          </a:prstGeom>
          <a:solidFill>
            <a:srgbClr val="1E2761"/>
          </a:solidFill>
          <a:ln/>
        </p:spPr>
      </p:sp>
      <p:pic>
        <p:nvPicPr>
          <p:cNvPr id="24" name="Image 5" descr="C:\Users\Niharika\AppData\Local\Temp\claude\C--Users-Niharika-Linkedout\10362697-8d2a-4530-a202-c572b85676f5\scratchpad\deck\icons\target_white.png">    </p:cNvPr>
          <p:cNvPicPr>
            <a:picLocks noChangeAspect="1"/>
          </p:cNvPicPr>
          <p:nvPr/>
        </p:nvPicPr>
        <p:blipFill>
          <a:blip r:embed="rId6"/>
          <a:stretch>
            <a:fillRect/>
          </a:stretch>
        </p:blipFill>
        <p:spPr>
          <a:xfrm>
            <a:off x="4646066" y="3256178"/>
            <a:ext cx="181051" cy="181051"/>
          </a:xfrm>
          <a:prstGeom prst="rect">
            <a:avLst/>
          </a:prstGeom>
        </p:spPr>
      </p:pic>
      <p:sp>
        <p:nvSpPr>
          <p:cNvPr id="25" name="Text 17"/>
          <p:cNvSpPr/>
          <p:nvPr/>
        </p:nvSpPr>
        <p:spPr>
          <a:xfrm>
            <a:off x="4983480" y="3163824"/>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Compound + field indexes</a:t>
            </a:r>
            <a:endParaRPr lang="en-US" sz="1080" dirty="0"/>
          </a:p>
        </p:txBody>
      </p:sp>
      <p:sp>
        <p:nvSpPr>
          <p:cNvPr id="26" name="Shape 18"/>
          <p:cNvSpPr/>
          <p:nvPr/>
        </p:nvSpPr>
        <p:spPr>
          <a:xfrm>
            <a:off x="8046720" y="1737360"/>
            <a:ext cx="352044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7" name="Text 19"/>
          <p:cNvSpPr/>
          <p:nvPr/>
        </p:nvSpPr>
        <p:spPr>
          <a:xfrm>
            <a:off x="8275320" y="1901952"/>
            <a:ext cx="3063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Auth &amp; Security</a:t>
            </a:r>
            <a:endParaRPr lang="en-US" sz="1300" dirty="0"/>
          </a:p>
        </p:txBody>
      </p:sp>
      <p:sp>
        <p:nvSpPr>
          <p:cNvPr id="28" name="Shape 20"/>
          <p:cNvSpPr/>
          <p:nvPr/>
        </p:nvSpPr>
        <p:spPr>
          <a:xfrm>
            <a:off x="8275320" y="2304288"/>
            <a:ext cx="329184" cy="329184"/>
          </a:xfrm>
          <a:prstGeom prst="ellipse">
            <a:avLst/>
          </a:prstGeom>
          <a:solidFill>
            <a:srgbClr val="1E2761"/>
          </a:solidFill>
          <a:ln/>
        </p:spPr>
      </p:sp>
      <p:pic>
        <p:nvPicPr>
          <p:cNvPr id="29" name="Image 6" descr="C:\Users\Niharika\AppData\Local\Temp\claude\C--Users-Niharika-Linkedout\10362697-8d2a-4530-a202-c572b85676f5\scratchpad\deck\icons\lock_white.png">    </p:cNvPr>
          <p:cNvPicPr>
            <a:picLocks noChangeAspect="1"/>
          </p:cNvPicPr>
          <p:nvPr/>
        </p:nvPicPr>
        <p:blipFill>
          <a:blip r:embed="rId7"/>
          <a:stretch>
            <a:fillRect/>
          </a:stretch>
        </p:blipFill>
        <p:spPr>
          <a:xfrm>
            <a:off x="8349386" y="2378354"/>
            <a:ext cx="181051" cy="181051"/>
          </a:xfrm>
          <a:prstGeom prst="rect">
            <a:avLst/>
          </a:prstGeom>
        </p:spPr>
      </p:pic>
      <p:sp>
        <p:nvSpPr>
          <p:cNvPr id="30" name="Text 21"/>
          <p:cNvSpPr/>
          <p:nvPr/>
        </p:nvSpPr>
        <p:spPr>
          <a:xfrm>
            <a:off x="8686800" y="2286000"/>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JWT (httpOnly cookie)</a:t>
            </a:r>
            <a:endParaRPr lang="en-US" sz="1080" dirty="0"/>
          </a:p>
        </p:txBody>
      </p:sp>
      <p:sp>
        <p:nvSpPr>
          <p:cNvPr id="31" name="Shape 22"/>
          <p:cNvSpPr/>
          <p:nvPr/>
        </p:nvSpPr>
        <p:spPr>
          <a:xfrm>
            <a:off x="8275320" y="2743200"/>
            <a:ext cx="329184" cy="329184"/>
          </a:xfrm>
          <a:prstGeom prst="ellipse">
            <a:avLst/>
          </a:prstGeom>
          <a:solidFill>
            <a:srgbClr val="1E2761"/>
          </a:solidFill>
          <a:ln/>
        </p:spPr>
      </p:sp>
      <p:pic>
        <p:nvPicPr>
          <p:cNvPr id="32" name="Image 7" descr="C:\Users\Niharika\AppData\Local\Temp\claude\C--Users-Niharika-Linkedout\10362697-8d2a-4530-a202-c572b85676f5\scratchpad\deck\icons\shield_white.png">    </p:cNvPr>
          <p:cNvPicPr>
            <a:picLocks noChangeAspect="1"/>
          </p:cNvPicPr>
          <p:nvPr/>
        </p:nvPicPr>
        <p:blipFill>
          <a:blip r:embed="rId8"/>
          <a:stretch>
            <a:fillRect/>
          </a:stretch>
        </p:blipFill>
        <p:spPr>
          <a:xfrm>
            <a:off x="8349386" y="2817266"/>
            <a:ext cx="181051" cy="181051"/>
          </a:xfrm>
          <a:prstGeom prst="rect">
            <a:avLst/>
          </a:prstGeom>
        </p:spPr>
      </p:pic>
      <p:sp>
        <p:nvSpPr>
          <p:cNvPr id="33" name="Text 23"/>
          <p:cNvSpPr/>
          <p:nvPr/>
        </p:nvSpPr>
        <p:spPr>
          <a:xfrm>
            <a:off x="8686800" y="2724912"/>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bcrypt</a:t>
            </a:r>
            <a:endParaRPr lang="en-US" sz="1080" dirty="0"/>
          </a:p>
        </p:txBody>
      </p:sp>
      <p:sp>
        <p:nvSpPr>
          <p:cNvPr id="34" name="Shape 24"/>
          <p:cNvSpPr/>
          <p:nvPr/>
        </p:nvSpPr>
        <p:spPr>
          <a:xfrm>
            <a:off x="8275320" y="3182112"/>
            <a:ext cx="329184" cy="329184"/>
          </a:xfrm>
          <a:prstGeom prst="ellipse">
            <a:avLst/>
          </a:prstGeom>
          <a:solidFill>
            <a:srgbClr val="1E2761"/>
          </a:solidFill>
          <a:ln/>
        </p:spPr>
      </p:sp>
      <p:pic>
        <p:nvPicPr>
          <p:cNvPr id="35" name="Image 8" descr="C:\Users\Niharika\AppData\Local\Temp\claude\C--Users-Niharika-Linkedout\10362697-8d2a-4530-a202-c572b85676f5\scratchpad\deck\icons\check_white.png">    </p:cNvPr>
          <p:cNvPicPr>
            <a:picLocks noChangeAspect="1"/>
          </p:cNvPicPr>
          <p:nvPr/>
        </p:nvPicPr>
        <p:blipFill>
          <a:blip r:embed="rId9"/>
          <a:stretch>
            <a:fillRect/>
          </a:stretch>
        </p:blipFill>
        <p:spPr>
          <a:xfrm>
            <a:off x="8349386" y="3256178"/>
            <a:ext cx="181051" cy="181051"/>
          </a:xfrm>
          <a:prstGeom prst="rect">
            <a:avLst/>
          </a:prstGeom>
        </p:spPr>
      </p:pic>
      <p:sp>
        <p:nvSpPr>
          <p:cNvPr id="36" name="Text 25"/>
          <p:cNvSpPr/>
          <p:nvPr/>
        </p:nvSpPr>
        <p:spPr>
          <a:xfrm>
            <a:off x="8686800" y="3163824"/>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Helmet · CORS · rate-limit</a:t>
            </a:r>
            <a:endParaRPr lang="en-US" sz="1080" dirty="0"/>
          </a:p>
        </p:txBody>
      </p:sp>
      <p:sp>
        <p:nvSpPr>
          <p:cNvPr id="37" name="Shape 26"/>
          <p:cNvSpPr/>
          <p:nvPr/>
        </p:nvSpPr>
        <p:spPr>
          <a:xfrm>
            <a:off x="640080" y="3886200"/>
            <a:ext cx="352044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8" name="Text 27"/>
          <p:cNvSpPr/>
          <p:nvPr/>
        </p:nvSpPr>
        <p:spPr>
          <a:xfrm>
            <a:off x="868680" y="4050792"/>
            <a:ext cx="3063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Ingestion</a:t>
            </a:r>
            <a:endParaRPr lang="en-US" sz="1300" dirty="0"/>
          </a:p>
        </p:txBody>
      </p:sp>
      <p:sp>
        <p:nvSpPr>
          <p:cNvPr id="39" name="Shape 28"/>
          <p:cNvSpPr/>
          <p:nvPr/>
        </p:nvSpPr>
        <p:spPr>
          <a:xfrm>
            <a:off x="868680" y="4453128"/>
            <a:ext cx="329184" cy="329184"/>
          </a:xfrm>
          <a:prstGeom prst="ellipse">
            <a:avLst/>
          </a:prstGeom>
          <a:solidFill>
            <a:srgbClr val="1E2761"/>
          </a:solidFill>
          <a:ln/>
        </p:spPr>
      </p:sp>
      <p:pic>
        <p:nvPicPr>
          <p:cNvPr id="40" name="Image 9" descr="C:\Users\Niharika\AppData\Local\Temp\claude\C--Users-Niharika-Linkedout\10362697-8d2a-4530-a202-c572b85676f5\scratchpad\deck\icons\cloud_white.png">    </p:cNvPr>
          <p:cNvPicPr>
            <a:picLocks noChangeAspect="1"/>
          </p:cNvPicPr>
          <p:nvPr/>
        </p:nvPicPr>
        <p:blipFill>
          <a:blip r:embed="rId10"/>
          <a:stretch>
            <a:fillRect/>
          </a:stretch>
        </p:blipFill>
        <p:spPr>
          <a:xfrm>
            <a:off x="942746" y="4527194"/>
            <a:ext cx="181051" cy="181051"/>
          </a:xfrm>
          <a:prstGeom prst="rect">
            <a:avLst/>
          </a:prstGeom>
        </p:spPr>
      </p:pic>
      <p:sp>
        <p:nvSpPr>
          <p:cNvPr id="41" name="Text 29"/>
          <p:cNvSpPr/>
          <p:nvPr/>
        </p:nvSpPr>
        <p:spPr>
          <a:xfrm>
            <a:off x="1280160" y="4434840"/>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axios + cheerio</a:t>
            </a:r>
            <a:endParaRPr lang="en-US" sz="1080" dirty="0"/>
          </a:p>
        </p:txBody>
      </p:sp>
      <p:sp>
        <p:nvSpPr>
          <p:cNvPr id="42" name="Shape 30"/>
          <p:cNvSpPr/>
          <p:nvPr/>
        </p:nvSpPr>
        <p:spPr>
          <a:xfrm>
            <a:off x="868680" y="4892040"/>
            <a:ext cx="329184" cy="329184"/>
          </a:xfrm>
          <a:prstGeom prst="ellipse">
            <a:avLst/>
          </a:prstGeom>
          <a:solidFill>
            <a:srgbClr val="1E2761"/>
          </a:solidFill>
          <a:ln/>
        </p:spPr>
      </p:sp>
      <p:pic>
        <p:nvPicPr>
          <p:cNvPr id="43" name="Image 10" descr="C:\Users\Niharika\AppData\Local\Temp\claude\C--Users-Niharika-Linkedout\10362697-8d2a-4530-a202-c572b85676f5\scratchpad\deck\icons\cpu_white.png">    </p:cNvPr>
          <p:cNvPicPr>
            <a:picLocks noChangeAspect="1"/>
          </p:cNvPicPr>
          <p:nvPr/>
        </p:nvPicPr>
        <p:blipFill>
          <a:blip r:embed="rId11"/>
          <a:stretch>
            <a:fillRect/>
          </a:stretch>
        </p:blipFill>
        <p:spPr>
          <a:xfrm>
            <a:off x="942746" y="4966106"/>
            <a:ext cx="181051" cy="181051"/>
          </a:xfrm>
          <a:prstGeom prst="rect">
            <a:avLst/>
          </a:prstGeom>
        </p:spPr>
      </p:pic>
      <p:sp>
        <p:nvSpPr>
          <p:cNvPr id="44" name="Text 31"/>
          <p:cNvSpPr/>
          <p:nvPr/>
        </p:nvSpPr>
        <p:spPr>
          <a:xfrm>
            <a:off x="1280160" y="4873752"/>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Puppeteer (headless)</a:t>
            </a:r>
            <a:endParaRPr lang="en-US" sz="1080" dirty="0"/>
          </a:p>
        </p:txBody>
      </p:sp>
      <p:sp>
        <p:nvSpPr>
          <p:cNvPr id="45" name="Shape 32"/>
          <p:cNvSpPr/>
          <p:nvPr/>
        </p:nvSpPr>
        <p:spPr>
          <a:xfrm>
            <a:off x="868680" y="5330952"/>
            <a:ext cx="329184" cy="329184"/>
          </a:xfrm>
          <a:prstGeom prst="ellipse">
            <a:avLst/>
          </a:prstGeom>
          <a:solidFill>
            <a:srgbClr val="1E2761"/>
          </a:solidFill>
          <a:ln/>
        </p:spPr>
      </p:sp>
      <p:pic>
        <p:nvPicPr>
          <p:cNvPr id="46" name="Image 11" descr="C:\Users\Niharika\AppData\Local\Temp\claude\C--Users-Niharika-Linkedout\10362697-8d2a-4530-a202-c572b85676f5\scratchpad\deck\icons\refresh_white.png">    </p:cNvPr>
          <p:cNvPicPr>
            <a:picLocks noChangeAspect="1"/>
          </p:cNvPicPr>
          <p:nvPr/>
        </p:nvPicPr>
        <p:blipFill>
          <a:blip r:embed="rId12"/>
          <a:stretch>
            <a:fillRect/>
          </a:stretch>
        </p:blipFill>
        <p:spPr>
          <a:xfrm>
            <a:off x="942746" y="5405018"/>
            <a:ext cx="181051" cy="181051"/>
          </a:xfrm>
          <a:prstGeom prst="rect">
            <a:avLst/>
          </a:prstGeom>
        </p:spPr>
      </p:pic>
      <p:sp>
        <p:nvSpPr>
          <p:cNvPr id="47" name="Text 33"/>
          <p:cNvSpPr/>
          <p:nvPr/>
        </p:nvSpPr>
        <p:spPr>
          <a:xfrm>
            <a:off x="1280160" y="5312664"/>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node-cron scheduler</a:t>
            </a:r>
            <a:endParaRPr lang="en-US" sz="1080" dirty="0"/>
          </a:p>
        </p:txBody>
      </p:sp>
      <p:sp>
        <p:nvSpPr>
          <p:cNvPr id="48" name="Shape 34"/>
          <p:cNvSpPr/>
          <p:nvPr/>
        </p:nvSpPr>
        <p:spPr>
          <a:xfrm>
            <a:off x="4343400" y="3886200"/>
            <a:ext cx="352044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9" name="Text 35"/>
          <p:cNvSpPr/>
          <p:nvPr/>
        </p:nvSpPr>
        <p:spPr>
          <a:xfrm>
            <a:off x="4572000" y="4050792"/>
            <a:ext cx="3063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Matching Intelligence</a:t>
            </a:r>
            <a:endParaRPr lang="en-US" sz="1300" dirty="0"/>
          </a:p>
        </p:txBody>
      </p:sp>
      <p:sp>
        <p:nvSpPr>
          <p:cNvPr id="50" name="Shape 36"/>
          <p:cNvSpPr/>
          <p:nvPr/>
        </p:nvSpPr>
        <p:spPr>
          <a:xfrm>
            <a:off x="4572000" y="4453128"/>
            <a:ext cx="329184" cy="329184"/>
          </a:xfrm>
          <a:prstGeom prst="ellipse">
            <a:avLst/>
          </a:prstGeom>
          <a:solidFill>
            <a:srgbClr val="1E2761"/>
          </a:solidFill>
          <a:ln/>
        </p:spPr>
      </p:sp>
      <p:pic>
        <p:nvPicPr>
          <p:cNvPr id="51" name="Image 12" descr="C:\Users\Niharika\AppData\Local\Temp\claude\C--Users-Niharika-Linkedout\10362697-8d2a-4530-a202-c572b85676f5\scratchpad\deck\icons\target_white.png">    </p:cNvPr>
          <p:cNvPicPr>
            <a:picLocks noChangeAspect="1"/>
          </p:cNvPicPr>
          <p:nvPr/>
        </p:nvPicPr>
        <p:blipFill>
          <a:blip r:embed="rId13"/>
          <a:stretch>
            <a:fillRect/>
          </a:stretch>
        </p:blipFill>
        <p:spPr>
          <a:xfrm>
            <a:off x="4646066" y="4527194"/>
            <a:ext cx="181051" cy="181051"/>
          </a:xfrm>
          <a:prstGeom prst="rect">
            <a:avLst/>
          </a:prstGeom>
        </p:spPr>
      </p:pic>
      <p:sp>
        <p:nvSpPr>
          <p:cNvPr id="52" name="Text 37"/>
          <p:cNvSpPr/>
          <p:nvPr/>
        </p:nvSpPr>
        <p:spPr>
          <a:xfrm>
            <a:off x="4983480" y="4434840"/>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Weighted scoring engine</a:t>
            </a:r>
            <a:endParaRPr lang="en-US" sz="1080" dirty="0"/>
          </a:p>
        </p:txBody>
      </p:sp>
      <p:sp>
        <p:nvSpPr>
          <p:cNvPr id="53" name="Shape 38"/>
          <p:cNvSpPr/>
          <p:nvPr/>
        </p:nvSpPr>
        <p:spPr>
          <a:xfrm>
            <a:off x="4572000" y="4892040"/>
            <a:ext cx="329184" cy="329184"/>
          </a:xfrm>
          <a:prstGeom prst="ellipse">
            <a:avLst/>
          </a:prstGeom>
          <a:solidFill>
            <a:srgbClr val="1E2761"/>
          </a:solidFill>
          <a:ln/>
        </p:spPr>
      </p:sp>
      <p:pic>
        <p:nvPicPr>
          <p:cNvPr id="54" name="Image 13" descr="C:\Users\Niharika\AppData\Local\Temp\claude\C--Users-Niharika-Linkedout\10362697-8d2a-4530-a202-c572b85676f5\scratchpad\deck\icons\fileText_white.png">    </p:cNvPr>
          <p:cNvPicPr>
            <a:picLocks noChangeAspect="1"/>
          </p:cNvPicPr>
          <p:nvPr/>
        </p:nvPicPr>
        <p:blipFill>
          <a:blip r:embed="rId14"/>
          <a:stretch>
            <a:fillRect/>
          </a:stretch>
        </p:blipFill>
        <p:spPr>
          <a:xfrm>
            <a:off x="4646066" y="4966106"/>
            <a:ext cx="181051" cy="181051"/>
          </a:xfrm>
          <a:prstGeom prst="rect">
            <a:avLst/>
          </a:prstGeom>
        </p:spPr>
      </p:pic>
      <p:sp>
        <p:nvSpPr>
          <p:cNvPr id="55" name="Text 39"/>
          <p:cNvSpPr/>
          <p:nvPr/>
        </p:nvSpPr>
        <p:spPr>
          <a:xfrm>
            <a:off x="4983480" y="4873752"/>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pdf-parse</a:t>
            </a:r>
            <a:endParaRPr lang="en-US" sz="1080" dirty="0"/>
          </a:p>
        </p:txBody>
      </p:sp>
      <p:sp>
        <p:nvSpPr>
          <p:cNvPr id="56" name="Shape 40"/>
          <p:cNvSpPr/>
          <p:nvPr/>
        </p:nvSpPr>
        <p:spPr>
          <a:xfrm>
            <a:off x="4572000" y="5330952"/>
            <a:ext cx="329184" cy="329184"/>
          </a:xfrm>
          <a:prstGeom prst="ellipse">
            <a:avLst/>
          </a:prstGeom>
          <a:solidFill>
            <a:srgbClr val="1E2761"/>
          </a:solidFill>
          <a:ln/>
        </p:spPr>
      </p:sp>
      <p:pic>
        <p:nvPicPr>
          <p:cNvPr id="57" name="Image 14" descr="C:\Users\Niharika\AppData\Local\Temp\claude\C--Users-Niharika-Linkedout\10362697-8d2a-4530-a202-c572b85676f5\scratchpad\deck\icons\zap_white.png">    </p:cNvPr>
          <p:cNvPicPr>
            <a:picLocks noChangeAspect="1"/>
          </p:cNvPicPr>
          <p:nvPr/>
        </p:nvPicPr>
        <p:blipFill>
          <a:blip r:embed="rId15"/>
          <a:stretch>
            <a:fillRect/>
          </a:stretch>
        </p:blipFill>
        <p:spPr>
          <a:xfrm>
            <a:off x="4646066" y="5405018"/>
            <a:ext cx="181051" cy="181051"/>
          </a:xfrm>
          <a:prstGeom prst="rect">
            <a:avLst/>
          </a:prstGeom>
        </p:spPr>
      </p:pic>
      <p:sp>
        <p:nvSpPr>
          <p:cNvPr id="58" name="Text 41"/>
          <p:cNvSpPr/>
          <p:nvPr/>
        </p:nvSpPr>
        <p:spPr>
          <a:xfrm>
            <a:off x="4983480" y="5312664"/>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node-cache</a:t>
            </a:r>
            <a:endParaRPr lang="en-US" sz="1080" dirty="0"/>
          </a:p>
        </p:txBody>
      </p:sp>
      <p:sp>
        <p:nvSpPr>
          <p:cNvPr id="59" name="Shape 42"/>
          <p:cNvSpPr/>
          <p:nvPr/>
        </p:nvSpPr>
        <p:spPr>
          <a:xfrm>
            <a:off x="8046720" y="3886200"/>
            <a:ext cx="352044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60" name="Text 43"/>
          <p:cNvSpPr/>
          <p:nvPr/>
        </p:nvSpPr>
        <p:spPr>
          <a:xfrm>
            <a:off x="8275320" y="4050792"/>
            <a:ext cx="3063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Realtime &amp; Jobs</a:t>
            </a:r>
            <a:endParaRPr lang="en-US" sz="1300" dirty="0"/>
          </a:p>
        </p:txBody>
      </p:sp>
      <p:sp>
        <p:nvSpPr>
          <p:cNvPr id="61" name="Shape 44"/>
          <p:cNvSpPr/>
          <p:nvPr/>
        </p:nvSpPr>
        <p:spPr>
          <a:xfrm>
            <a:off x="8275320" y="4453128"/>
            <a:ext cx="329184" cy="329184"/>
          </a:xfrm>
          <a:prstGeom prst="ellipse">
            <a:avLst/>
          </a:prstGeom>
          <a:solidFill>
            <a:srgbClr val="1E2761"/>
          </a:solidFill>
          <a:ln/>
        </p:spPr>
      </p:sp>
      <p:pic>
        <p:nvPicPr>
          <p:cNvPr id="62" name="Image 15" descr="C:\Users\Niharika\AppData\Local\Temp\claude\C--Users-Niharika-Linkedout\10362697-8d2a-4530-a202-c572b85676f5\scratchpad\deck\icons\message_white.png">    </p:cNvPr>
          <p:cNvPicPr>
            <a:picLocks noChangeAspect="1"/>
          </p:cNvPicPr>
          <p:nvPr/>
        </p:nvPicPr>
        <p:blipFill>
          <a:blip r:embed="rId16"/>
          <a:stretch>
            <a:fillRect/>
          </a:stretch>
        </p:blipFill>
        <p:spPr>
          <a:xfrm>
            <a:off x="8349386" y="4527194"/>
            <a:ext cx="181051" cy="181051"/>
          </a:xfrm>
          <a:prstGeom prst="rect">
            <a:avLst/>
          </a:prstGeom>
        </p:spPr>
      </p:pic>
      <p:sp>
        <p:nvSpPr>
          <p:cNvPr id="63" name="Text 45"/>
          <p:cNvSpPr/>
          <p:nvPr/>
        </p:nvSpPr>
        <p:spPr>
          <a:xfrm>
            <a:off x="8686800" y="4434840"/>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Socket.IO</a:t>
            </a:r>
            <a:endParaRPr lang="en-US" sz="1080" dirty="0"/>
          </a:p>
        </p:txBody>
      </p:sp>
      <p:sp>
        <p:nvSpPr>
          <p:cNvPr id="64" name="Shape 46"/>
          <p:cNvSpPr/>
          <p:nvPr/>
        </p:nvSpPr>
        <p:spPr>
          <a:xfrm>
            <a:off x="8275320" y="4892040"/>
            <a:ext cx="329184" cy="329184"/>
          </a:xfrm>
          <a:prstGeom prst="ellipse">
            <a:avLst/>
          </a:prstGeom>
          <a:solidFill>
            <a:srgbClr val="1E2761"/>
          </a:solidFill>
          <a:ln/>
        </p:spPr>
      </p:sp>
      <p:pic>
        <p:nvPicPr>
          <p:cNvPr id="65" name="Image 16" descr="C:\Users\Niharika\AppData\Local\Temp\claude\C--Users-Niharika-Linkedout\10362697-8d2a-4530-a202-c572b85676f5\scratchpad\deck\icons\bell_white.png">    </p:cNvPr>
          <p:cNvPicPr>
            <a:picLocks noChangeAspect="1"/>
          </p:cNvPicPr>
          <p:nvPr/>
        </p:nvPicPr>
        <p:blipFill>
          <a:blip r:embed="rId17"/>
          <a:stretch>
            <a:fillRect/>
          </a:stretch>
        </p:blipFill>
        <p:spPr>
          <a:xfrm>
            <a:off x="8349386" y="4966106"/>
            <a:ext cx="181051" cy="181051"/>
          </a:xfrm>
          <a:prstGeom prst="rect">
            <a:avLst/>
          </a:prstGeom>
        </p:spPr>
      </p:pic>
      <p:sp>
        <p:nvSpPr>
          <p:cNvPr id="66" name="Text 47"/>
          <p:cNvSpPr/>
          <p:nvPr/>
        </p:nvSpPr>
        <p:spPr>
          <a:xfrm>
            <a:off x="8686800" y="4873752"/>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Notification jobs</a:t>
            </a:r>
            <a:endParaRPr lang="en-US" sz="1080" dirty="0"/>
          </a:p>
        </p:txBody>
      </p:sp>
      <p:sp>
        <p:nvSpPr>
          <p:cNvPr id="67" name="Shape 48"/>
          <p:cNvSpPr/>
          <p:nvPr/>
        </p:nvSpPr>
        <p:spPr>
          <a:xfrm>
            <a:off x="8275320" y="5330952"/>
            <a:ext cx="329184" cy="329184"/>
          </a:xfrm>
          <a:prstGeom prst="ellipse">
            <a:avLst/>
          </a:prstGeom>
          <a:solidFill>
            <a:srgbClr val="1E2761"/>
          </a:solidFill>
          <a:ln/>
        </p:spPr>
      </p:sp>
      <p:pic>
        <p:nvPicPr>
          <p:cNvPr id="68" name="Image 17" descr="C:\Users\Niharika\AppData\Local\Temp\claude\C--Users-Niharika-Linkedout\10362697-8d2a-4530-a202-c572b85676f5\scratchpad\deck\icons\activity_white.png">    </p:cNvPr>
          <p:cNvPicPr>
            <a:picLocks noChangeAspect="1"/>
          </p:cNvPicPr>
          <p:nvPr/>
        </p:nvPicPr>
        <p:blipFill>
          <a:blip r:embed="rId18"/>
          <a:stretch>
            <a:fillRect/>
          </a:stretch>
        </p:blipFill>
        <p:spPr>
          <a:xfrm>
            <a:off x="8349386" y="5405018"/>
            <a:ext cx="181051" cy="181051"/>
          </a:xfrm>
          <a:prstGeom prst="rect">
            <a:avLst/>
          </a:prstGeom>
        </p:spPr>
      </p:pic>
      <p:sp>
        <p:nvSpPr>
          <p:cNvPr id="69" name="Text 49"/>
          <p:cNvSpPr/>
          <p:nvPr/>
        </p:nvSpPr>
        <p:spPr>
          <a:xfrm>
            <a:off x="8686800" y="5312664"/>
            <a:ext cx="2651760" cy="365760"/>
          </a:xfrm>
          <a:prstGeom prst="rect">
            <a:avLst/>
          </a:prstGeom>
          <a:noFill/>
          <a:ln/>
        </p:spPr>
        <p:txBody>
          <a:bodyPr wrap="square" rtlCol="0" anchor="ctr"/>
          <a:lstStyle/>
          <a:p>
            <a:pPr indent="0" marL="0">
              <a:buNone/>
            </a:pPr>
            <a:r>
              <a:rPr lang="en-US" sz="1080" dirty="0">
                <a:solidFill>
                  <a:srgbClr val="454B6B"/>
                </a:solidFill>
                <a:latin typeface="Calibri" pitchFamily="34" charset="0"/>
                <a:ea typeface="Calibri" pitchFamily="34" charset="-122"/>
                <a:cs typeface="Calibri" pitchFamily="34" charset="-120"/>
              </a:rPr>
              <a:t>Skill-gap snapshot job</a:t>
            </a:r>
            <a:endParaRPr lang="en-US" sz="1080" dirty="0"/>
          </a:p>
        </p:txBody>
      </p:sp>
      <p:sp>
        <p:nvSpPr>
          <p:cNvPr id="70" name="Text 50"/>
          <p:cNvSpPr/>
          <p:nvPr/>
        </p:nvSpPr>
        <p:spPr>
          <a:xfrm>
            <a:off x="640080" y="6126480"/>
            <a:ext cx="10881360" cy="457200"/>
          </a:xfrm>
          <a:prstGeom prst="rect">
            <a:avLst/>
          </a:prstGeom>
          <a:noFill/>
          <a:ln/>
        </p:spPr>
        <p:txBody>
          <a:bodyPr wrap="square" rtlCol="0" anchor="ctr"/>
          <a:lstStyle/>
          <a:p>
            <a:pPr indent="0" marL="0">
              <a:buNone/>
            </a:pPr>
            <a:r>
              <a:rPr lang="en-US" sz="1050" i="1" dirty="0">
                <a:solidFill>
                  <a:srgbClr val="7B81A3"/>
                </a:solidFill>
                <a:latin typeface="Calibri" pitchFamily="34" charset="0"/>
                <a:ea typeface="Calibri" pitchFamily="34" charset="-122"/>
                <a:cs typeface="Calibri" pitchFamily="34" charset="-120"/>
              </a:rPr>
              <a:t>Frontend: server-rendered EJS + vanilla JS exercises the same REST API a mobile client would  ·  Postman collection covers every endpoint, 2xx and 4xx  ·  nodemon + deterministic seed script for dev</a:t>
            </a:r>
            <a:endParaRPr lang="en-US" sz="1050" dirty="0"/>
          </a:p>
        </p:txBody>
      </p:sp>
      <p:sp>
        <p:nvSpPr>
          <p:cNvPr id="72" name="Text 51"/>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73" name="Text 52"/>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WHERE AI / ML ACTUALLY FITS</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The intelligence is real — and deliberately not a black box</a:t>
            </a:r>
            <a:endParaRPr lang="en-US" sz="2600" dirty="0"/>
          </a:p>
        </p:txBody>
      </p:sp>
      <p:sp>
        <p:nvSpPr>
          <p:cNvPr id="4" name="Shape 2"/>
          <p:cNvSpPr/>
          <p:nvPr/>
        </p:nvSpPr>
        <p:spPr>
          <a:xfrm>
            <a:off x="640080" y="1691640"/>
            <a:ext cx="502920" cy="502920"/>
          </a:xfrm>
          <a:prstGeom prst="ellipse">
            <a:avLst/>
          </a:prstGeom>
          <a:solidFill>
            <a:srgbClr val="02C39A"/>
          </a:solidFill>
          <a:ln/>
        </p:spPr>
      </p:sp>
      <p:pic>
        <p:nvPicPr>
          <p:cNvPr id="5" name="Image 0" descr="C:\Users\Niharika\AppData\Local\Temp\claude\C--Users-Niharika-Linkedout\10362697-8d2a-4530-a202-c572b85676f5\scratchpad\deck\icons\fileText_white.png">    </p:cNvPr>
          <p:cNvPicPr>
            <a:picLocks noChangeAspect="1"/>
          </p:cNvPicPr>
          <p:nvPr/>
        </p:nvPicPr>
        <p:blipFill>
          <a:blip r:embed="rId1"/>
          <a:stretch>
            <a:fillRect/>
          </a:stretch>
        </p:blipFill>
        <p:spPr>
          <a:xfrm>
            <a:off x="753237" y="1804797"/>
            <a:ext cx="276606" cy="276606"/>
          </a:xfrm>
          <a:prstGeom prst="rect">
            <a:avLst/>
          </a:prstGeom>
        </p:spPr>
      </p:pic>
      <p:sp>
        <p:nvSpPr>
          <p:cNvPr id="6" name="Text 3"/>
          <p:cNvSpPr/>
          <p:nvPr/>
        </p:nvSpPr>
        <p:spPr>
          <a:xfrm>
            <a:off x="1325880" y="1645920"/>
            <a:ext cx="3017520" cy="694944"/>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Resume parsing (NLP-lite)</a:t>
            </a:r>
            <a:endParaRPr lang="en-US" sz="1200" dirty="0"/>
          </a:p>
        </p:txBody>
      </p:sp>
      <p:sp>
        <p:nvSpPr>
          <p:cNvPr id="7" name="Text 4"/>
          <p:cNvSpPr/>
          <p:nvPr/>
        </p:nvSpPr>
        <p:spPr>
          <a:xfrm>
            <a:off x="4434840" y="1645920"/>
            <a:ext cx="7086600" cy="694944"/>
          </a:xfrm>
          <a:prstGeom prst="rect">
            <a:avLst/>
          </a:prstGeom>
          <a:noFill/>
          <a:ln/>
        </p:spPr>
        <p:txBody>
          <a:bodyPr wrap="square" rtlCol="0" anchor="ctr"/>
          <a:lstStyle/>
          <a:p>
            <a:pPr indent="0" marL="0">
              <a:lnSpc>
                <a:spcPct val="115000"/>
              </a:lnSpc>
              <a:buNone/>
            </a:pPr>
            <a:r>
              <a:rPr lang="en-US" sz="1080" dirty="0">
                <a:solidFill>
                  <a:srgbClr val="454B6B"/>
                </a:solidFill>
                <a:latin typeface="Calibri" pitchFamily="34" charset="0"/>
                <a:ea typeface="Calibri" pitchFamily="34" charset="-122"/>
                <a:cs typeface="Calibri" pitchFamily="34" charset="-120"/>
              </a:rPr>
              <a:t>pdf-parse extracts raw text, then a dictionary-based, word-boundary regex scan matches it against the canonical skills list — the same extraction technique run on scraped listing text to build requiredSkills[].</a:t>
            </a:r>
            <a:endParaRPr lang="en-US" sz="1080" dirty="0"/>
          </a:p>
        </p:txBody>
      </p:sp>
      <p:sp>
        <p:nvSpPr>
          <p:cNvPr id="8" name="Shape 5"/>
          <p:cNvSpPr/>
          <p:nvPr/>
        </p:nvSpPr>
        <p:spPr>
          <a:xfrm>
            <a:off x="640080" y="2478024"/>
            <a:ext cx="502920" cy="502920"/>
          </a:xfrm>
          <a:prstGeom prst="ellipse">
            <a:avLst/>
          </a:prstGeom>
          <a:solidFill>
            <a:srgbClr val="02C39A"/>
          </a:solidFill>
          <a:ln/>
        </p:spPr>
      </p:sp>
      <p:pic>
        <p:nvPicPr>
          <p:cNvPr id="9" name="Image 1" descr="C:\Users\Niharika\AppData\Local\Temp\claude\C--Users-Niharika-Linkedout\10362697-8d2a-4530-a202-c572b85676f5\scratchpad\deck\icons\refresh_white.png">    </p:cNvPr>
          <p:cNvPicPr>
            <a:picLocks noChangeAspect="1"/>
          </p:cNvPicPr>
          <p:nvPr/>
        </p:nvPicPr>
        <p:blipFill>
          <a:blip r:embed="rId2"/>
          <a:stretch>
            <a:fillRect/>
          </a:stretch>
        </p:blipFill>
        <p:spPr>
          <a:xfrm>
            <a:off x="753237" y="2591181"/>
            <a:ext cx="276606" cy="276606"/>
          </a:xfrm>
          <a:prstGeom prst="rect">
            <a:avLst/>
          </a:prstGeom>
        </p:spPr>
      </p:pic>
      <p:sp>
        <p:nvSpPr>
          <p:cNvPr id="10" name="Text 6"/>
          <p:cNvSpPr/>
          <p:nvPr/>
        </p:nvSpPr>
        <p:spPr>
          <a:xfrm>
            <a:off x="1325880" y="2432304"/>
            <a:ext cx="3017520" cy="694944"/>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Fuzzy deduplication</a:t>
            </a:r>
            <a:endParaRPr lang="en-US" sz="1200" dirty="0"/>
          </a:p>
        </p:txBody>
      </p:sp>
      <p:sp>
        <p:nvSpPr>
          <p:cNvPr id="11" name="Text 7"/>
          <p:cNvSpPr/>
          <p:nvPr/>
        </p:nvSpPr>
        <p:spPr>
          <a:xfrm>
            <a:off x="4434840" y="2432304"/>
            <a:ext cx="7086600" cy="694944"/>
          </a:xfrm>
          <a:prstGeom prst="rect">
            <a:avLst/>
          </a:prstGeom>
          <a:noFill/>
          <a:ln/>
        </p:spPr>
        <p:txBody>
          <a:bodyPr wrap="square" rtlCol="0" anchor="ctr"/>
          <a:lstStyle/>
          <a:p>
            <a:pPr indent="0" marL="0">
              <a:lnSpc>
                <a:spcPct val="115000"/>
              </a:lnSpc>
              <a:buNone/>
            </a:pPr>
            <a:r>
              <a:rPr lang="en-US" sz="1080" dirty="0">
                <a:solidFill>
                  <a:srgbClr val="454B6B"/>
                </a:solidFill>
                <a:latin typeface="Calibri" pitchFamily="34" charset="0"/>
                <a:ea typeface="Calibri" pitchFamily="34" charset="-122"/>
                <a:cs typeface="Calibri" pitchFamily="34" charset="-120"/>
              </a:rPr>
              <a:t>string-similarity's Dice-coefficient algorithm compares normalized company+title pairs — a real text-similarity technique, tuned so reworded reposts (~0.75–0.90) are caught while genuinely different roles (~0.6) aren't.</a:t>
            </a:r>
            <a:endParaRPr lang="en-US" sz="1080" dirty="0"/>
          </a:p>
        </p:txBody>
      </p:sp>
      <p:sp>
        <p:nvSpPr>
          <p:cNvPr id="12" name="Shape 8"/>
          <p:cNvSpPr/>
          <p:nvPr/>
        </p:nvSpPr>
        <p:spPr>
          <a:xfrm>
            <a:off x="640080" y="3264408"/>
            <a:ext cx="502920" cy="502920"/>
          </a:xfrm>
          <a:prstGeom prst="ellipse">
            <a:avLst/>
          </a:prstGeom>
          <a:solidFill>
            <a:srgbClr val="02C39A"/>
          </a:solidFill>
          <a:ln/>
        </p:spPr>
      </p:sp>
      <p:pic>
        <p:nvPicPr>
          <p:cNvPr id="13" name="Image 2" descr="C:\Users\Niharika\AppData\Local\Temp\claude\C--Users-Niharika-Linkedout\10362697-8d2a-4530-a202-c572b85676f5\scratchpad\deck\icons\shield_white.png">    </p:cNvPr>
          <p:cNvPicPr>
            <a:picLocks noChangeAspect="1"/>
          </p:cNvPicPr>
          <p:nvPr/>
        </p:nvPicPr>
        <p:blipFill>
          <a:blip r:embed="rId3"/>
          <a:stretch>
            <a:fillRect/>
          </a:stretch>
        </p:blipFill>
        <p:spPr>
          <a:xfrm>
            <a:off x="753237" y="3377565"/>
            <a:ext cx="276606" cy="276606"/>
          </a:xfrm>
          <a:prstGeom prst="rect">
            <a:avLst/>
          </a:prstGeom>
        </p:spPr>
      </p:pic>
      <p:sp>
        <p:nvSpPr>
          <p:cNvPr id="14" name="Text 9"/>
          <p:cNvSpPr/>
          <p:nvPr/>
        </p:nvSpPr>
        <p:spPr>
          <a:xfrm>
            <a:off x="1325880" y="3218688"/>
            <a:ext cx="3017520" cy="694944"/>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Trust scoring</a:t>
            </a:r>
            <a:endParaRPr lang="en-US" sz="1200" dirty="0"/>
          </a:p>
        </p:txBody>
      </p:sp>
      <p:sp>
        <p:nvSpPr>
          <p:cNvPr id="15" name="Text 10"/>
          <p:cNvSpPr/>
          <p:nvPr/>
        </p:nvSpPr>
        <p:spPr>
          <a:xfrm>
            <a:off x="4434840" y="3218688"/>
            <a:ext cx="7086600" cy="694944"/>
          </a:xfrm>
          <a:prstGeom prst="rect">
            <a:avLst/>
          </a:prstGeom>
          <a:noFill/>
          <a:ln/>
        </p:spPr>
        <p:txBody>
          <a:bodyPr wrap="square" rtlCol="0" anchor="ctr"/>
          <a:lstStyle/>
          <a:p>
            <a:pPr indent="0" marL="0">
              <a:lnSpc>
                <a:spcPct val="115000"/>
              </a:lnSpc>
              <a:buNone/>
            </a:pPr>
            <a:r>
              <a:rPr lang="en-US" sz="1080" dirty="0">
                <a:solidFill>
                  <a:srgbClr val="454B6B"/>
                </a:solidFill>
                <a:latin typeface="Calibri" pitchFamily="34" charset="0"/>
                <a:ea typeface="Calibri" pitchFamily="34" charset="-122"/>
                <a:cs typeface="Calibri" pitchFamily="34" charset="-120"/>
              </a:rPr>
              <a:t>A hand-tuned weighted linear scoring model over 9 signals — functionally a rule-based classifier. Chosen over a black-box model because it must be explainable and defensible to a human reviewer.</a:t>
            </a:r>
            <a:endParaRPr lang="en-US" sz="1080" dirty="0"/>
          </a:p>
        </p:txBody>
      </p:sp>
      <p:sp>
        <p:nvSpPr>
          <p:cNvPr id="16" name="Shape 11"/>
          <p:cNvSpPr/>
          <p:nvPr/>
        </p:nvSpPr>
        <p:spPr>
          <a:xfrm>
            <a:off x="640080" y="4050792"/>
            <a:ext cx="502920" cy="502920"/>
          </a:xfrm>
          <a:prstGeom prst="ellipse">
            <a:avLst/>
          </a:prstGeom>
          <a:solidFill>
            <a:srgbClr val="02C39A"/>
          </a:solidFill>
          <a:ln/>
        </p:spPr>
      </p:sp>
      <p:pic>
        <p:nvPicPr>
          <p:cNvPr id="17" name="Image 3" descr="C:\Users\Niharika\AppData\Local\Temp\claude\C--Users-Niharika-Linkedout\10362697-8d2a-4530-a202-c572b85676f5\scratchpad\deck\icons\target_white.png">    </p:cNvPr>
          <p:cNvPicPr>
            <a:picLocks noChangeAspect="1"/>
          </p:cNvPicPr>
          <p:nvPr/>
        </p:nvPicPr>
        <p:blipFill>
          <a:blip r:embed="rId4"/>
          <a:stretch>
            <a:fillRect/>
          </a:stretch>
        </p:blipFill>
        <p:spPr>
          <a:xfrm>
            <a:off x="753237" y="4163949"/>
            <a:ext cx="276606" cy="276606"/>
          </a:xfrm>
          <a:prstGeom prst="rect">
            <a:avLst/>
          </a:prstGeom>
        </p:spPr>
      </p:pic>
      <p:sp>
        <p:nvSpPr>
          <p:cNvPr id="18" name="Text 12"/>
          <p:cNvSpPr/>
          <p:nvPr/>
        </p:nvSpPr>
        <p:spPr>
          <a:xfrm>
            <a:off x="1325880" y="4005072"/>
            <a:ext cx="3017520" cy="694944"/>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Match scoring</a:t>
            </a:r>
            <a:endParaRPr lang="en-US" sz="1200" dirty="0"/>
          </a:p>
        </p:txBody>
      </p:sp>
      <p:sp>
        <p:nvSpPr>
          <p:cNvPr id="19" name="Text 13"/>
          <p:cNvSpPr/>
          <p:nvPr/>
        </p:nvSpPr>
        <p:spPr>
          <a:xfrm>
            <a:off x="4434840" y="4005072"/>
            <a:ext cx="7086600" cy="694944"/>
          </a:xfrm>
          <a:prstGeom prst="rect">
            <a:avLst/>
          </a:prstGeom>
          <a:noFill/>
          <a:ln/>
        </p:spPr>
        <p:txBody>
          <a:bodyPr wrap="square" rtlCol="0" anchor="ctr"/>
          <a:lstStyle/>
          <a:p>
            <a:pPr indent="0" marL="0">
              <a:lnSpc>
                <a:spcPct val="115000"/>
              </a:lnSpc>
              <a:buNone/>
            </a:pPr>
            <a:r>
              <a:rPr lang="en-US" sz="1080" dirty="0">
                <a:solidFill>
                  <a:srgbClr val="454B6B"/>
                </a:solidFill>
                <a:latin typeface="Calibri" pitchFamily="34" charset="0"/>
                <a:ea typeface="Calibri" pitchFamily="34" charset="-122"/>
                <a:cs typeface="Calibri" pitchFamily="34" charset="-120"/>
              </a:rPr>
              <a:t>The same weighted-feature-combination pattern applied to skill overlap, eligibility, and location — a transparent scoring function, not a trained model with hidden weights.</a:t>
            </a:r>
            <a:endParaRPr lang="en-US" sz="1080" dirty="0"/>
          </a:p>
        </p:txBody>
      </p:sp>
      <p:sp>
        <p:nvSpPr>
          <p:cNvPr id="20" name="Shape 14"/>
          <p:cNvSpPr/>
          <p:nvPr/>
        </p:nvSpPr>
        <p:spPr>
          <a:xfrm>
            <a:off x="640080" y="4837176"/>
            <a:ext cx="502920" cy="502920"/>
          </a:xfrm>
          <a:prstGeom prst="ellipse">
            <a:avLst/>
          </a:prstGeom>
          <a:solidFill>
            <a:srgbClr val="02C39A"/>
          </a:solidFill>
          <a:ln/>
        </p:spPr>
      </p:sp>
      <p:pic>
        <p:nvPicPr>
          <p:cNvPr id="21" name="Image 4" descr="C:\Users\Niharika\AppData\Local\Temp\claude\C--Users-Niharika-Linkedout\10362697-8d2a-4530-a202-c572b85676f5\scratchpad\deck\icons\barchart_white.png">    </p:cNvPr>
          <p:cNvPicPr>
            <a:picLocks noChangeAspect="1"/>
          </p:cNvPicPr>
          <p:nvPr/>
        </p:nvPicPr>
        <p:blipFill>
          <a:blip r:embed="rId5"/>
          <a:stretch>
            <a:fillRect/>
          </a:stretch>
        </p:blipFill>
        <p:spPr>
          <a:xfrm>
            <a:off x="753237" y="4950333"/>
            <a:ext cx="276606" cy="276606"/>
          </a:xfrm>
          <a:prstGeom prst="rect">
            <a:avLst/>
          </a:prstGeom>
        </p:spPr>
      </p:pic>
      <p:sp>
        <p:nvSpPr>
          <p:cNvPr id="22" name="Text 15"/>
          <p:cNvSpPr/>
          <p:nvPr/>
        </p:nvSpPr>
        <p:spPr>
          <a:xfrm>
            <a:off x="1325880" y="4791456"/>
            <a:ext cx="3017520" cy="694944"/>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Analytics rollups</a:t>
            </a:r>
            <a:endParaRPr lang="en-US" sz="1200" dirty="0"/>
          </a:p>
        </p:txBody>
      </p:sp>
      <p:sp>
        <p:nvSpPr>
          <p:cNvPr id="23" name="Text 16"/>
          <p:cNvSpPr/>
          <p:nvPr/>
        </p:nvSpPr>
        <p:spPr>
          <a:xfrm>
            <a:off x="4434840" y="4791456"/>
            <a:ext cx="7086600" cy="694944"/>
          </a:xfrm>
          <a:prstGeom prst="rect">
            <a:avLst/>
          </a:prstGeom>
          <a:noFill/>
          <a:ln/>
        </p:spPr>
        <p:txBody>
          <a:bodyPr wrap="square" rtlCol="0" anchor="ctr"/>
          <a:lstStyle/>
          <a:p>
            <a:pPr indent="0" marL="0">
              <a:lnSpc>
                <a:spcPct val="115000"/>
              </a:lnSpc>
              <a:buNone/>
            </a:pPr>
            <a:r>
              <a:rPr lang="en-US" sz="1080" dirty="0">
                <a:solidFill>
                  <a:srgbClr val="454B6B"/>
                </a:solidFill>
                <a:latin typeface="Calibri" pitchFamily="34" charset="0"/>
                <a:ea typeface="Calibri" pitchFamily="34" charset="-122"/>
                <a:cs typeface="Calibri" pitchFamily="34" charset="-120"/>
              </a:rPr>
              <a:t>An aggregation pipeline turns thousands of individual match computations into one decision-support signal: demand vs. supply per skill, trending over time.</a:t>
            </a:r>
            <a:endParaRPr lang="en-US" sz="1080" dirty="0"/>
          </a:p>
        </p:txBody>
      </p:sp>
      <p:sp>
        <p:nvSpPr>
          <p:cNvPr id="24" name="Shape 17"/>
          <p:cNvSpPr/>
          <p:nvPr/>
        </p:nvSpPr>
        <p:spPr>
          <a:xfrm>
            <a:off x="640080" y="5715000"/>
            <a:ext cx="10881360" cy="530352"/>
          </a:xfrm>
          <a:prstGeom prst="roundRect">
            <a:avLst>
              <a:gd name="adj" fmla="val 13793"/>
            </a:avLst>
          </a:prstGeom>
          <a:solidFill>
            <a:srgbClr val="1E2761"/>
          </a:solidFill>
          <a:ln w="12700">
            <a:solidFill>
              <a:srgbClr val="1E2761"/>
            </a:solidFill>
            <a:prstDash val="solid"/>
          </a:ln>
        </p:spPr>
      </p:sp>
      <p:sp>
        <p:nvSpPr>
          <p:cNvPr id="25" name="Text 18"/>
          <p:cNvSpPr/>
          <p:nvPr/>
        </p:nvSpPr>
        <p:spPr>
          <a:xfrm>
            <a:off x="868680" y="5715000"/>
            <a:ext cx="10424160" cy="53035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No external AI API runs today — by design: </a:t>
            </a:r>
            <a:pPr indent="0" marL="0">
              <a:buNone/>
            </a:pPr>
            <a:r>
              <a:rPr lang="en-US" sz="1000" dirty="0">
                <a:solidFill>
                  <a:srgbClr val="CADCFC"/>
                </a:solidFill>
                <a:latin typeface="Calibri" pitchFamily="34" charset="0"/>
                <a:ea typeface="Calibri" pitchFamily="34" charset="-122"/>
                <a:cs typeface="Calibri" pitchFamily="34" charset="-120"/>
              </a:rPr>
              <a:t>offline-capable, fully explainable, zero inference cost. The learning-resource lookup's response shape is already designed to swap in an LLM later without an API change.</a:t>
            </a:r>
            <a:endParaRPr lang="en-US" sz="1000" dirty="0"/>
          </a:p>
        </p:txBody>
      </p:sp>
      <p:sp>
        <p:nvSpPr>
          <p:cNvPr id="27" name="Text 19"/>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28" name="Text 20"/>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SECURITY &amp; DATA INTEGRITY</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Defense at every layer, not just at login</a:t>
            </a:r>
            <a:endParaRPr lang="en-US" sz="2800" dirty="0"/>
          </a:p>
        </p:txBody>
      </p:sp>
      <p:sp>
        <p:nvSpPr>
          <p:cNvPr id="4" name="Shape 2"/>
          <p:cNvSpPr/>
          <p:nvPr/>
        </p:nvSpPr>
        <p:spPr>
          <a:xfrm>
            <a:off x="640080" y="1737360"/>
            <a:ext cx="53492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896112" y="1975104"/>
            <a:ext cx="457200" cy="457200"/>
          </a:xfrm>
          <a:prstGeom prst="ellipse">
            <a:avLst/>
          </a:prstGeom>
          <a:solidFill>
            <a:srgbClr val="1E2761"/>
          </a:solidFill>
          <a:ln/>
        </p:spPr>
      </p:sp>
      <p:pic>
        <p:nvPicPr>
          <p:cNvPr id="6" name="Image 0" descr="C:\Users\Niharika\AppData\Local\Temp\claude\C--Users-Niharika-Linkedout\10362697-8d2a-4530-a202-c572b85676f5\scratchpad\deck\icons\lock_white.png">    </p:cNvPr>
          <p:cNvPicPr>
            <a:picLocks noChangeAspect="1"/>
          </p:cNvPicPr>
          <p:nvPr/>
        </p:nvPicPr>
        <p:blipFill>
          <a:blip r:embed="rId1"/>
          <a:stretch>
            <a:fillRect/>
          </a:stretch>
        </p:blipFill>
        <p:spPr>
          <a:xfrm>
            <a:off x="998982" y="2077974"/>
            <a:ext cx="251460" cy="251460"/>
          </a:xfrm>
          <a:prstGeom prst="rect">
            <a:avLst/>
          </a:prstGeom>
        </p:spPr>
      </p:pic>
      <p:sp>
        <p:nvSpPr>
          <p:cNvPr id="7" name="Text 4"/>
          <p:cNvSpPr/>
          <p:nvPr/>
        </p:nvSpPr>
        <p:spPr>
          <a:xfrm>
            <a:off x="1517904" y="1938528"/>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Auth</a:t>
            </a:r>
            <a:endParaRPr lang="en-US" sz="1400" dirty="0"/>
          </a:p>
        </p:txBody>
      </p:sp>
      <p:sp>
        <p:nvSpPr>
          <p:cNvPr id="8" name="Text 5"/>
          <p:cNvSpPr/>
          <p:nvPr/>
        </p:nvSpPr>
        <p:spPr>
          <a:xfrm>
            <a:off x="896112" y="2505456"/>
            <a:ext cx="4837176" cy="39319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bcrypt-hashed passwords; JWT in an httpOnly, Secure cookie (never in the JSON body — unreachable from client-side JS/XSS); tokenVersion bump revokes sessions instantly, no blacklist store needed.</a:t>
            </a:r>
            <a:endParaRPr lang="en-US" sz="1100" dirty="0"/>
          </a:p>
        </p:txBody>
      </p:sp>
      <p:sp>
        <p:nvSpPr>
          <p:cNvPr id="9" name="Shape 6"/>
          <p:cNvSpPr/>
          <p:nvPr/>
        </p:nvSpPr>
        <p:spPr>
          <a:xfrm>
            <a:off x="6172200" y="1737360"/>
            <a:ext cx="53492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0" name="Shape 7"/>
          <p:cNvSpPr/>
          <p:nvPr/>
        </p:nvSpPr>
        <p:spPr>
          <a:xfrm>
            <a:off x="6428232" y="1975104"/>
            <a:ext cx="457200" cy="457200"/>
          </a:xfrm>
          <a:prstGeom prst="ellipse">
            <a:avLst/>
          </a:prstGeom>
          <a:solidFill>
            <a:srgbClr val="1E2761"/>
          </a:solidFill>
          <a:ln/>
        </p:spPr>
      </p:sp>
      <p:pic>
        <p:nvPicPr>
          <p:cNvPr id="11" name="Image 1" descr="C:\Users\Niharika\AppData\Local\Temp\claude\C--Users-Niharika-Linkedout\10362697-8d2a-4530-a202-c572b85676f5\scratchpad\deck\icons\users_white.png">    </p:cNvPr>
          <p:cNvPicPr>
            <a:picLocks noChangeAspect="1"/>
          </p:cNvPicPr>
          <p:nvPr/>
        </p:nvPicPr>
        <p:blipFill>
          <a:blip r:embed="rId2"/>
          <a:stretch>
            <a:fillRect/>
          </a:stretch>
        </p:blipFill>
        <p:spPr>
          <a:xfrm>
            <a:off x="6531102" y="2077974"/>
            <a:ext cx="251460" cy="251460"/>
          </a:xfrm>
          <a:prstGeom prst="rect">
            <a:avLst/>
          </a:prstGeom>
        </p:spPr>
      </p:pic>
      <p:sp>
        <p:nvSpPr>
          <p:cNvPr id="12" name="Text 8"/>
          <p:cNvSpPr/>
          <p:nvPr/>
        </p:nvSpPr>
        <p:spPr>
          <a:xfrm>
            <a:off x="7050024" y="1938528"/>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RBAC + ownership</a:t>
            </a:r>
            <a:endParaRPr lang="en-US" sz="1400" dirty="0"/>
          </a:p>
        </p:txBody>
      </p:sp>
      <p:sp>
        <p:nvSpPr>
          <p:cNvPr id="13" name="Text 9"/>
          <p:cNvSpPr/>
          <p:nvPr/>
        </p:nvSpPr>
        <p:spPr>
          <a:xfrm>
            <a:off x="6428232" y="2505456"/>
            <a:ext cx="4837176" cy="39319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requireRole allow-lists every admin route; user-scoped resources are ownership-checked and return 404 (not 403) on someone else's data, so existence can't be confirmed.</a:t>
            </a:r>
            <a:endParaRPr lang="en-US" sz="1100" dirty="0"/>
          </a:p>
        </p:txBody>
      </p:sp>
      <p:sp>
        <p:nvSpPr>
          <p:cNvPr id="14" name="Shape 10"/>
          <p:cNvSpPr/>
          <p:nvPr/>
        </p:nvSpPr>
        <p:spPr>
          <a:xfrm>
            <a:off x="640080" y="3319272"/>
            <a:ext cx="53492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5" name="Shape 11"/>
          <p:cNvSpPr/>
          <p:nvPr/>
        </p:nvSpPr>
        <p:spPr>
          <a:xfrm>
            <a:off x="896112" y="3557016"/>
            <a:ext cx="457200" cy="457200"/>
          </a:xfrm>
          <a:prstGeom prst="ellipse">
            <a:avLst/>
          </a:prstGeom>
          <a:solidFill>
            <a:srgbClr val="1E2761"/>
          </a:solidFill>
          <a:ln/>
        </p:spPr>
      </p:sp>
      <p:pic>
        <p:nvPicPr>
          <p:cNvPr id="16" name="Image 2" descr="C:\Users\Niharika\AppData\Local\Temp\claude\C--Users-Niharika-Linkedout\10362697-8d2a-4530-a202-c572b85676f5\scratchpad\deck\icons\check_white.png">    </p:cNvPr>
          <p:cNvPicPr>
            <a:picLocks noChangeAspect="1"/>
          </p:cNvPicPr>
          <p:nvPr/>
        </p:nvPicPr>
        <p:blipFill>
          <a:blip r:embed="rId3"/>
          <a:stretch>
            <a:fillRect/>
          </a:stretch>
        </p:blipFill>
        <p:spPr>
          <a:xfrm>
            <a:off x="998982" y="3659886"/>
            <a:ext cx="251460" cy="251460"/>
          </a:xfrm>
          <a:prstGeom prst="rect">
            <a:avLst/>
          </a:prstGeom>
        </p:spPr>
      </p:pic>
      <p:sp>
        <p:nvSpPr>
          <p:cNvPr id="17" name="Text 12"/>
          <p:cNvSpPr/>
          <p:nvPr/>
        </p:nvSpPr>
        <p:spPr>
          <a:xfrm>
            <a:off x="1517904" y="3520440"/>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Input safety</a:t>
            </a:r>
            <a:endParaRPr lang="en-US" sz="1400" dirty="0"/>
          </a:p>
        </p:txBody>
      </p:sp>
      <p:sp>
        <p:nvSpPr>
          <p:cNvPr id="18" name="Text 13"/>
          <p:cNvSpPr/>
          <p:nvPr/>
        </p:nvSpPr>
        <p:spPr>
          <a:xfrm>
            <a:off x="896112" y="4087368"/>
            <a:ext cx="4837176" cy="39319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Every write route validates against a Zod schema first; express-mongo-sanitize blocks NoSQL injection; sanitize-html strips scraped text before storage as stored-XSS defense in depth.</a:t>
            </a:r>
            <a:endParaRPr lang="en-US" sz="1100" dirty="0"/>
          </a:p>
        </p:txBody>
      </p:sp>
      <p:sp>
        <p:nvSpPr>
          <p:cNvPr id="19" name="Shape 14"/>
          <p:cNvSpPr/>
          <p:nvPr/>
        </p:nvSpPr>
        <p:spPr>
          <a:xfrm>
            <a:off x="6172200" y="3319272"/>
            <a:ext cx="53492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0" name="Shape 15"/>
          <p:cNvSpPr/>
          <p:nvPr/>
        </p:nvSpPr>
        <p:spPr>
          <a:xfrm>
            <a:off x="6428232" y="3557016"/>
            <a:ext cx="457200" cy="457200"/>
          </a:xfrm>
          <a:prstGeom prst="ellipse">
            <a:avLst/>
          </a:prstGeom>
          <a:solidFill>
            <a:srgbClr val="1E2761"/>
          </a:solidFill>
          <a:ln/>
        </p:spPr>
      </p:sp>
      <p:pic>
        <p:nvPicPr>
          <p:cNvPr id="21" name="Image 3" descr="C:\Users\Niharika\AppData\Local\Temp\claude\C--Users-Niharika-Linkedout\10362697-8d2a-4530-a202-c572b85676f5\scratchpad\deck\icons\shield_white.png">    </p:cNvPr>
          <p:cNvPicPr>
            <a:picLocks noChangeAspect="1"/>
          </p:cNvPicPr>
          <p:nvPr/>
        </p:nvPicPr>
        <p:blipFill>
          <a:blip r:embed="rId4"/>
          <a:stretch>
            <a:fillRect/>
          </a:stretch>
        </p:blipFill>
        <p:spPr>
          <a:xfrm>
            <a:off x="6531102" y="3659886"/>
            <a:ext cx="251460" cy="251460"/>
          </a:xfrm>
          <a:prstGeom prst="rect">
            <a:avLst/>
          </a:prstGeom>
        </p:spPr>
      </p:pic>
      <p:sp>
        <p:nvSpPr>
          <p:cNvPr id="22" name="Text 16"/>
          <p:cNvSpPr/>
          <p:nvPr/>
        </p:nvSpPr>
        <p:spPr>
          <a:xfrm>
            <a:off x="7050024" y="3520440"/>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Platform hardening</a:t>
            </a:r>
            <a:endParaRPr lang="en-US" sz="1400" dirty="0"/>
          </a:p>
        </p:txBody>
      </p:sp>
      <p:sp>
        <p:nvSpPr>
          <p:cNvPr id="23" name="Text 17"/>
          <p:cNvSpPr/>
          <p:nvPr/>
        </p:nvSpPr>
        <p:spPr>
          <a:xfrm>
            <a:off x="6428232" y="4087368"/>
            <a:ext cx="4837176" cy="39319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Helmet security headers, CORS locked to the frontend origin, express-rate-limit on /api/auth/* to blunt brute-force login attempts.</a:t>
            </a:r>
            <a:endParaRPr lang="en-US" sz="1100" dirty="0"/>
          </a:p>
        </p:txBody>
      </p:sp>
      <p:sp>
        <p:nvSpPr>
          <p:cNvPr id="24" name="Shape 18"/>
          <p:cNvSpPr/>
          <p:nvPr/>
        </p:nvSpPr>
        <p:spPr>
          <a:xfrm>
            <a:off x="640080" y="4901184"/>
            <a:ext cx="53492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5" name="Shape 19"/>
          <p:cNvSpPr/>
          <p:nvPr/>
        </p:nvSpPr>
        <p:spPr>
          <a:xfrm>
            <a:off x="896112" y="5138928"/>
            <a:ext cx="457200" cy="457200"/>
          </a:xfrm>
          <a:prstGeom prst="ellipse">
            <a:avLst/>
          </a:prstGeom>
          <a:solidFill>
            <a:srgbClr val="1E2761"/>
          </a:solidFill>
          <a:ln/>
        </p:spPr>
      </p:sp>
      <p:pic>
        <p:nvPicPr>
          <p:cNvPr id="26" name="Image 4" descr="C:\Users\Niharika\AppData\Local\Temp\claude\C--Users-Niharika-Linkedout\10362697-8d2a-4530-a202-c572b85676f5\scratchpad\deck\icons\fileText_white.png">    </p:cNvPr>
          <p:cNvPicPr>
            <a:picLocks noChangeAspect="1"/>
          </p:cNvPicPr>
          <p:nvPr/>
        </p:nvPicPr>
        <p:blipFill>
          <a:blip r:embed="rId5"/>
          <a:stretch>
            <a:fillRect/>
          </a:stretch>
        </p:blipFill>
        <p:spPr>
          <a:xfrm>
            <a:off x="998982" y="5241798"/>
            <a:ext cx="251460" cy="251460"/>
          </a:xfrm>
          <a:prstGeom prst="rect">
            <a:avLst/>
          </a:prstGeom>
        </p:spPr>
      </p:pic>
      <p:sp>
        <p:nvSpPr>
          <p:cNvPr id="27" name="Text 20"/>
          <p:cNvSpPr/>
          <p:nvPr/>
        </p:nvSpPr>
        <p:spPr>
          <a:xfrm>
            <a:off x="1517904" y="5102352"/>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Upload safety</a:t>
            </a:r>
            <a:endParaRPr lang="en-US" sz="1400" dirty="0"/>
          </a:p>
        </p:txBody>
      </p:sp>
      <p:sp>
        <p:nvSpPr>
          <p:cNvPr id="28" name="Text 21"/>
          <p:cNvSpPr/>
          <p:nvPr/>
        </p:nvSpPr>
        <p:spPr>
          <a:xfrm>
            <a:off x="896112" y="5669280"/>
            <a:ext cx="4837176" cy="39319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Resumes are MIME + extension checked, size-capped at 2MB, stored under a server-generated filename (no path traversal), and served only via an authenticated, ownership-checked route — never a static directory.</a:t>
            </a:r>
            <a:endParaRPr lang="en-US" sz="1100" dirty="0"/>
          </a:p>
        </p:txBody>
      </p:sp>
      <p:sp>
        <p:nvSpPr>
          <p:cNvPr id="29" name="Shape 22"/>
          <p:cNvSpPr/>
          <p:nvPr/>
        </p:nvSpPr>
        <p:spPr>
          <a:xfrm>
            <a:off x="6172200" y="4901184"/>
            <a:ext cx="53492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0" name="Shape 23"/>
          <p:cNvSpPr/>
          <p:nvPr/>
        </p:nvSpPr>
        <p:spPr>
          <a:xfrm>
            <a:off x="6428232" y="5138928"/>
            <a:ext cx="457200" cy="457200"/>
          </a:xfrm>
          <a:prstGeom prst="ellipse">
            <a:avLst/>
          </a:prstGeom>
          <a:solidFill>
            <a:srgbClr val="1E2761"/>
          </a:solidFill>
          <a:ln/>
        </p:spPr>
      </p:sp>
      <p:pic>
        <p:nvPicPr>
          <p:cNvPr id="31" name="Image 5" descr="C:\Users\Niharika\AppData\Local\Temp\claude\C--Users-Niharika-Linkedout\10362697-8d2a-4530-a202-c572b85676f5\scratchpad\deck\icons\database_white.png">    </p:cNvPr>
          <p:cNvPicPr>
            <a:picLocks noChangeAspect="1"/>
          </p:cNvPicPr>
          <p:nvPr/>
        </p:nvPicPr>
        <p:blipFill>
          <a:blip r:embed="rId6"/>
          <a:stretch>
            <a:fillRect/>
          </a:stretch>
        </p:blipFill>
        <p:spPr>
          <a:xfrm>
            <a:off x="6531102" y="5241798"/>
            <a:ext cx="251460" cy="251460"/>
          </a:xfrm>
          <a:prstGeom prst="rect">
            <a:avLst/>
          </a:prstGeom>
        </p:spPr>
      </p:pic>
      <p:sp>
        <p:nvSpPr>
          <p:cNvPr id="32" name="Text 24"/>
          <p:cNvSpPr/>
          <p:nvPr/>
        </p:nvSpPr>
        <p:spPr>
          <a:xfrm>
            <a:off x="7050024" y="5102352"/>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DB-level guarantees</a:t>
            </a:r>
            <a:endParaRPr lang="en-US" sz="1400" dirty="0"/>
          </a:p>
        </p:txBody>
      </p:sp>
      <p:sp>
        <p:nvSpPr>
          <p:cNvPr id="33" name="Text 25"/>
          <p:cNvSpPr/>
          <p:nvPr/>
        </p:nvSpPr>
        <p:spPr>
          <a:xfrm>
            <a:off x="6428232" y="5669280"/>
            <a:ext cx="4837176" cy="39319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A compound unique index on (userId, internshipId) where status ≠ Withdrawn blocks duplicate applications at the database layer — correct even under a race condition, not just in application code.</a:t>
            </a:r>
            <a:endParaRPr lang="en-US" sz="1100" dirty="0"/>
          </a:p>
        </p:txBody>
      </p:sp>
      <p:sp>
        <p:nvSpPr>
          <p:cNvPr id="35" name="Text 26"/>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36" name="Text 27"/>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DEMO</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Walkthrough: what the judges will see live</a:t>
            </a:r>
            <a:endParaRPr lang="en-US" sz="2800" dirty="0"/>
          </a:p>
        </p:txBody>
      </p:sp>
      <p:sp>
        <p:nvSpPr>
          <p:cNvPr id="4" name="Shape 2"/>
          <p:cNvSpPr/>
          <p:nvPr/>
        </p:nvSpPr>
        <p:spPr>
          <a:xfrm>
            <a:off x="640080" y="1783080"/>
            <a:ext cx="2606040" cy="2286000"/>
          </a:xfrm>
          <a:prstGeom prst="roundRect">
            <a:avLst>
              <a:gd name="adj" fmla="val 2400"/>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640080" y="1783080"/>
            <a:ext cx="2606040" cy="310896"/>
          </a:xfrm>
          <a:prstGeom prst="roundRect">
            <a:avLst>
              <a:gd name="adj" fmla="val 17647"/>
            </a:avLst>
          </a:prstGeom>
          <a:solidFill>
            <a:srgbClr val="EDF0FA"/>
          </a:solidFill>
          <a:ln/>
        </p:spPr>
      </p:sp>
      <p:sp>
        <p:nvSpPr>
          <p:cNvPr id="6" name="Shape 4"/>
          <p:cNvSpPr/>
          <p:nvPr/>
        </p:nvSpPr>
        <p:spPr>
          <a:xfrm>
            <a:off x="749808" y="1883664"/>
            <a:ext cx="109728" cy="109728"/>
          </a:xfrm>
          <a:prstGeom prst="ellipse">
            <a:avLst/>
          </a:prstGeom>
          <a:solidFill>
            <a:srgbClr val="F96167"/>
          </a:solidFill>
          <a:ln/>
        </p:spPr>
      </p:sp>
      <p:sp>
        <p:nvSpPr>
          <p:cNvPr id="7" name="Shape 5"/>
          <p:cNvSpPr/>
          <p:nvPr/>
        </p:nvSpPr>
        <p:spPr>
          <a:xfrm>
            <a:off x="914400" y="1883664"/>
            <a:ext cx="109728" cy="109728"/>
          </a:xfrm>
          <a:prstGeom prst="ellipse">
            <a:avLst/>
          </a:prstGeom>
          <a:solidFill>
            <a:srgbClr val="E8A400"/>
          </a:solidFill>
          <a:ln/>
        </p:spPr>
      </p:sp>
      <p:sp>
        <p:nvSpPr>
          <p:cNvPr id="8" name="Shape 6"/>
          <p:cNvSpPr/>
          <p:nvPr/>
        </p:nvSpPr>
        <p:spPr>
          <a:xfrm>
            <a:off x="1078992" y="1883664"/>
            <a:ext cx="109728" cy="109728"/>
          </a:xfrm>
          <a:prstGeom prst="ellipse">
            <a:avLst/>
          </a:prstGeom>
          <a:solidFill>
            <a:srgbClr val="02C39A"/>
          </a:solidFill>
          <a:ln/>
        </p:spPr>
      </p:sp>
      <p:sp>
        <p:nvSpPr>
          <p:cNvPr id="9" name="Shape 7"/>
          <p:cNvSpPr/>
          <p:nvPr/>
        </p:nvSpPr>
        <p:spPr>
          <a:xfrm>
            <a:off x="822960" y="2258568"/>
            <a:ext cx="2240280" cy="420624"/>
          </a:xfrm>
          <a:prstGeom prst="roundRect">
            <a:avLst>
              <a:gd name="adj" fmla="val 8696"/>
            </a:avLst>
          </a:prstGeom>
          <a:solidFill>
            <a:srgbClr val="F1F4FC"/>
          </a:solidFill>
          <a:ln w="9525">
            <a:solidFill>
              <a:srgbClr val="DCE3F5"/>
            </a:solidFill>
            <a:prstDash val="solid"/>
          </a:ln>
        </p:spPr>
      </p:sp>
      <p:sp>
        <p:nvSpPr>
          <p:cNvPr id="10" name="Shape 8"/>
          <p:cNvSpPr/>
          <p:nvPr/>
        </p:nvSpPr>
        <p:spPr>
          <a:xfrm>
            <a:off x="822960" y="2825496"/>
            <a:ext cx="2240280" cy="420624"/>
          </a:xfrm>
          <a:prstGeom prst="roundRect">
            <a:avLst>
              <a:gd name="adj" fmla="val 8696"/>
            </a:avLst>
          </a:prstGeom>
          <a:solidFill>
            <a:srgbClr val="F1F4FC"/>
          </a:solidFill>
          <a:ln w="9525">
            <a:solidFill>
              <a:srgbClr val="DCE3F5"/>
            </a:solidFill>
            <a:prstDash val="solid"/>
          </a:ln>
        </p:spPr>
      </p:sp>
      <p:sp>
        <p:nvSpPr>
          <p:cNvPr id="11" name="Shape 9"/>
          <p:cNvSpPr/>
          <p:nvPr/>
        </p:nvSpPr>
        <p:spPr>
          <a:xfrm>
            <a:off x="822960" y="3392424"/>
            <a:ext cx="2240280" cy="420624"/>
          </a:xfrm>
          <a:prstGeom prst="roundRect">
            <a:avLst>
              <a:gd name="adj" fmla="val 8696"/>
            </a:avLst>
          </a:prstGeom>
          <a:solidFill>
            <a:srgbClr val="F1F4FC"/>
          </a:solidFill>
          <a:ln w="9525">
            <a:solidFill>
              <a:srgbClr val="DCE3F5"/>
            </a:solidFill>
            <a:prstDash val="solid"/>
          </a:ln>
        </p:spPr>
      </p:sp>
      <p:sp>
        <p:nvSpPr>
          <p:cNvPr id="12" name="Text 10"/>
          <p:cNvSpPr/>
          <p:nvPr/>
        </p:nvSpPr>
        <p:spPr>
          <a:xfrm>
            <a:off x="640080" y="3566160"/>
            <a:ext cx="2606040" cy="457200"/>
          </a:xfrm>
          <a:prstGeom prst="rect">
            <a:avLst/>
          </a:prstGeom>
          <a:noFill/>
          <a:ln/>
        </p:spPr>
        <p:txBody>
          <a:bodyPr wrap="square" rtlCol="0" anchor="ctr"/>
          <a:lstStyle/>
          <a:p>
            <a:pPr algn="ctr" indent="0" marL="0">
              <a:buNone/>
            </a:pPr>
            <a:r>
              <a:rPr lang="en-US" sz="1000" i="1" dirty="0">
                <a:solidFill>
                  <a:srgbClr val="7B81A3"/>
                </a:solidFill>
                <a:latin typeface="Calibri" pitchFamily="34" charset="0"/>
                <a:ea typeface="Calibri" pitchFamily="34" charset="-122"/>
                <a:cs typeface="Calibri" pitchFamily="34" charset="-120"/>
              </a:rPr>
              <a:t>[ add screenshot ]</a:t>
            </a:r>
            <a:endParaRPr lang="en-US" sz="1000" dirty="0"/>
          </a:p>
          <a:p>
            <a:pPr algn="ctr" indent="0" marL="0">
              <a:buNone/>
            </a:pPr>
            <a:r>
              <a:rPr lang="en-US" sz="1000" i="1" dirty="0">
                <a:solidFill>
                  <a:srgbClr val="7B81A3"/>
                </a:solidFill>
                <a:latin typeface="Calibri" pitchFamily="34" charset="0"/>
                <a:ea typeface="Calibri" pitchFamily="34" charset="-122"/>
                <a:cs typeface="Calibri" pitchFamily="34" charset="-120"/>
              </a:rPr>
              <a:t>Student — browse feed with match % on every card</a:t>
            </a:r>
            <a:endParaRPr lang="en-US" sz="1000" dirty="0"/>
          </a:p>
        </p:txBody>
      </p:sp>
      <p:sp>
        <p:nvSpPr>
          <p:cNvPr id="13" name="Shape 11"/>
          <p:cNvSpPr/>
          <p:nvPr/>
        </p:nvSpPr>
        <p:spPr>
          <a:xfrm>
            <a:off x="3465576" y="1783080"/>
            <a:ext cx="2606040" cy="2286000"/>
          </a:xfrm>
          <a:prstGeom prst="roundRect">
            <a:avLst>
              <a:gd name="adj" fmla="val 2400"/>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4" name="Shape 12"/>
          <p:cNvSpPr/>
          <p:nvPr/>
        </p:nvSpPr>
        <p:spPr>
          <a:xfrm>
            <a:off x="3465576" y="1783080"/>
            <a:ext cx="2606040" cy="310896"/>
          </a:xfrm>
          <a:prstGeom prst="roundRect">
            <a:avLst>
              <a:gd name="adj" fmla="val 17647"/>
            </a:avLst>
          </a:prstGeom>
          <a:solidFill>
            <a:srgbClr val="EDF0FA"/>
          </a:solidFill>
          <a:ln/>
        </p:spPr>
      </p:sp>
      <p:sp>
        <p:nvSpPr>
          <p:cNvPr id="15" name="Shape 13"/>
          <p:cNvSpPr/>
          <p:nvPr/>
        </p:nvSpPr>
        <p:spPr>
          <a:xfrm>
            <a:off x="3575304" y="1883664"/>
            <a:ext cx="109728" cy="109728"/>
          </a:xfrm>
          <a:prstGeom prst="ellipse">
            <a:avLst/>
          </a:prstGeom>
          <a:solidFill>
            <a:srgbClr val="F96167"/>
          </a:solidFill>
          <a:ln/>
        </p:spPr>
      </p:sp>
      <p:sp>
        <p:nvSpPr>
          <p:cNvPr id="16" name="Shape 14"/>
          <p:cNvSpPr/>
          <p:nvPr/>
        </p:nvSpPr>
        <p:spPr>
          <a:xfrm>
            <a:off x="3739896" y="1883664"/>
            <a:ext cx="109728" cy="109728"/>
          </a:xfrm>
          <a:prstGeom prst="ellipse">
            <a:avLst/>
          </a:prstGeom>
          <a:solidFill>
            <a:srgbClr val="E8A400"/>
          </a:solidFill>
          <a:ln/>
        </p:spPr>
      </p:sp>
      <p:sp>
        <p:nvSpPr>
          <p:cNvPr id="17" name="Shape 15"/>
          <p:cNvSpPr/>
          <p:nvPr/>
        </p:nvSpPr>
        <p:spPr>
          <a:xfrm>
            <a:off x="3904488" y="1883664"/>
            <a:ext cx="109728" cy="109728"/>
          </a:xfrm>
          <a:prstGeom prst="ellipse">
            <a:avLst/>
          </a:prstGeom>
          <a:solidFill>
            <a:srgbClr val="02C39A"/>
          </a:solidFill>
          <a:ln/>
        </p:spPr>
      </p:sp>
      <p:sp>
        <p:nvSpPr>
          <p:cNvPr id="18" name="Shape 16"/>
          <p:cNvSpPr/>
          <p:nvPr/>
        </p:nvSpPr>
        <p:spPr>
          <a:xfrm>
            <a:off x="3648456" y="2258568"/>
            <a:ext cx="2240280" cy="420624"/>
          </a:xfrm>
          <a:prstGeom prst="roundRect">
            <a:avLst>
              <a:gd name="adj" fmla="val 8696"/>
            </a:avLst>
          </a:prstGeom>
          <a:solidFill>
            <a:srgbClr val="F1F4FC"/>
          </a:solidFill>
          <a:ln w="9525">
            <a:solidFill>
              <a:srgbClr val="DCE3F5"/>
            </a:solidFill>
            <a:prstDash val="solid"/>
          </a:ln>
        </p:spPr>
      </p:sp>
      <p:sp>
        <p:nvSpPr>
          <p:cNvPr id="19" name="Shape 17"/>
          <p:cNvSpPr/>
          <p:nvPr/>
        </p:nvSpPr>
        <p:spPr>
          <a:xfrm>
            <a:off x="3648456" y="2825496"/>
            <a:ext cx="2240280" cy="420624"/>
          </a:xfrm>
          <a:prstGeom prst="roundRect">
            <a:avLst>
              <a:gd name="adj" fmla="val 8696"/>
            </a:avLst>
          </a:prstGeom>
          <a:solidFill>
            <a:srgbClr val="F1F4FC"/>
          </a:solidFill>
          <a:ln w="9525">
            <a:solidFill>
              <a:srgbClr val="DCE3F5"/>
            </a:solidFill>
            <a:prstDash val="solid"/>
          </a:ln>
        </p:spPr>
      </p:sp>
      <p:sp>
        <p:nvSpPr>
          <p:cNvPr id="20" name="Shape 18"/>
          <p:cNvSpPr/>
          <p:nvPr/>
        </p:nvSpPr>
        <p:spPr>
          <a:xfrm>
            <a:off x="3648456" y="3392424"/>
            <a:ext cx="2240280" cy="420624"/>
          </a:xfrm>
          <a:prstGeom prst="roundRect">
            <a:avLst>
              <a:gd name="adj" fmla="val 8696"/>
            </a:avLst>
          </a:prstGeom>
          <a:solidFill>
            <a:srgbClr val="F1F4FC"/>
          </a:solidFill>
          <a:ln w="9525">
            <a:solidFill>
              <a:srgbClr val="DCE3F5"/>
            </a:solidFill>
            <a:prstDash val="solid"/>
          </a:ln>
        </p:spPr>
      </p:sp>
      <p:sp>
        <p:nvSpPr>
          <p:cNvPr id="21" name="Text 19"/>
          <p:cNvSpPr/>
          <p:nvPr/>
        </p:nvSpPr>
        <p:spPr>
          <a:xfrm>
            <a:off x="3465576" y="3566160"/>
            <a:ext cx="2606040" cy="457200"/>
          </a:xfrm>
          <a:prstGeom prst="rect">
            <a:avLst/>
          </a:prstGeom>
          <a:noFill/>
          <a:ln/>
        </p:spPr>
        <p:txBody>
          <a:bodyPr wrap="square" rtlCol="0" anchor="ctr"/>
          <a:lstStyle/>
          <a:p>
            <a:pPr algn="ctr" indent="0" marL="0">
              <a:buNone/>
            </a:pPr>
            <a:r>
              <a:rPr lang="en-US" sz="1000" i="1" dirty="0">
                <a:solidFill>
                  <a:srgbClr val="7B81A3"/>
                </a:solidFill>
                <a:latin typeface="Calibri" pitchFamily="34" charset="0"/>
                <a:ea typeface="Calibri" pitchFamily="34" charset="-122"/>
                <a:cs typeface="Calibri" pitchFamily="34" charset="-120"/>
              </a:rPr>
              <a:t>[ add screenshot ]</a:t>
            </a:r>
            <a:endParaRPr lang="en-US" sz="1000" dirty="0"/>
          </a:p>
          <a:p>
            <a:pPr algn="ctr" indent="0" marL="0">
              <a:buNone/>
            </a:pPr>
            <a:r>
              <a:rPr lang="en-US" sz="1000" i="1" dirty="0">
                <a:solidFill>
                  <a:srgbClr val="7B81A3"/>
                </a:solidFill>
                <a:latin typeface="Calibri" pitchFamily="34" charset="0"/>
                <a:ea typeface="Calibri" pitchFamily="34" charset="-122"/>
                <a:cs typeface="Calibri" pitchFamily="34" charset="-120"/>
              </a:rPr>
              <a:t>Listing detail — match score, gap, recommended learning</a:t>
            </a:r>
            <a:endParaRPr lang="en-US" sz="1000" dirty="0"/>
          </a:p>
        </p:txBody>
      </p:sp>
      <p:sp>
        <p:nvSpPr>
          <p:cNvPr id="22" name="Shape 20"/>
          <p:cNvSpPr/>
          <p:nvPr/>
        </p:nvSpPr>
        <p:spPr>
          <a:xfrm>
            <a:off x="6291072" y="1783080"/>
            <a:ext cx="2606040" cy="2286000"/>
          </a:xfrm>
          <a:prstGeom prst="roundRect">
            <a:avLst>
              <a:gd name="adj" fmla="val 2400"/>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3" name="Shape 21"/>
          <p:cNvSpPr/>
          <p:nvPr/>
        </p:nvSpPr>
        <p:spPr>
          <a:xfrm>
            <a:off x="6291072" y="1783080"/>
            <a:ext cx="2606040" cy="310896"/>
          </a:xfrm>
          <a:prstGeom prst="roundRect">
            <a:avLst>
              <a:gd name="adj" fmla="val 17647"/>
            </a:avLst>
          </a:prstGeom>
          <a:solidFill>
            <a:srgbClr val="EDF0FA"/>
          </a:solidFill>
          <a:ln/>
        </p:spPr>
      </p:sp>
      <p:sp>
        <p:nvSpPr>
          <p:cNvPr id="24" name="Shape 22"/>
          <p:cNvSpPr/>
          <p:nvPr/>
        </p:nvSpPr>
        <p:spPr>
          <a:xfrm>
            <a:off x="6400800" y="1883664"/>
            <a:ext cx="109728" cy="109728"/>
          </a:xfrm>
          <a:prstGeom prst="ellipse">
            <a:avLst/>
          </a:prstGeom>
          <a:solidFill>
            <a:srgbClr val="F96167"/>
          </a:solidFill>
          <a:ln/>
        </p:spPr>
      </p:sp>
      <p:sp>
        <p:nvSpPr>
          <p:cNvPr id="25" name="Shape 23"/>
          <p:cNvSpPr/>
          <p:nvPr/>
        </p:nvSpPr>
        <p:spPr>
          <a:xfrm>
            <a:off x="6565392" y="1883664"/>
            <a:ext cx="109728" cy="109728"/>
          </a:xfrm>
          <a:prstGeom prst="ellipse">
            <a:avLst/>
          </a:prstGeom>
          <a:solidFill>
            <a:srgbClr val="E8A400"/>
          </a:solidFill>
          <a:ln/>
        </p:spPr>
      </p:sp>
      <p:sp>
        <p:nvSpPr>
          <p:cNvPr id="26" name="Shape 24"/>
          <p:cNvSpPr/>
          <p:nvPr/>
        </p:nvSpPr>
        <p:spPr>
          <a:xfrm>
            <a:off x="6729984" y="1883664"/>
            <a:ext cx="109728" cy="109728"/>
          </a:xfrm>
          <a:prstGeom prst="ellipse">
            <a:avLst/>
          </a:prstGeom>
          <a:solidFill>
            <a:srgbClr val="02C39A"/>
          </a:solidFill>
          <a:ln/>
        </p:spPr>
      </p:sp>
      <p:sp>
        <p:nvSpPr>
          <p:cNvPr id="27" name="Shape 25"/>
          <p:cNvSpPr/>
          <p:nvPr/>
        </p:nvSpPr>
        <p:spPr>
          <a:xfrm>
            <a:off x="6473952" y="2258568"/>
            <a:ext cx="2240280" cy="420624"/>
          </a:xfrm>
          <a:prstGeom prst="roundRect">
            <a:avLst>
              <a:gd name="adj" fmla="val 8696"/>
            </a:avLst>
          </a:prstGeom>
          <a:solidFill>
            <a:srgbClr val="F1F4FC"/>
          </a:solidFill>
          <a:ln w="9525">
            <a:solidFill>
              <a:srgbClr val="DCE3F5"/>
            </a:solidFill>
            <a:prstDash val="solid"/>
          </a:ln>
        </p:spPr>
      </p:sp>
      <p:sp>
        <p:nvSpPr>
          <p:cNvPr id="28" name="Shape 26"/>
          <p:cNvSpPr/>
          <p:nvPr/>
        </p:nvSpPr>
        <p:spPr>
          <a:xfrm>
            <a:off x="6473952" y="2825496"/>
            <a:ext cx="2240280" cy="420624"/>
          </a:xfrm>
          <a:prstGeom prst="roundRect">
            <a:avLst>
              <a:gd name="adj" fmla="val 8696"/>
            </a:avLst>
          </a:prstGeom>
          <a:solidFill>
            <a:srgbClr val="F1F4FC"/>
          </a:solidFill>
          <a:ln w="9525">
            <a:solidFill>
              <a:srgbClr val="DCE3F5"/>
            </a:solidFill>
            <a:prstDash val="solid"/>
          </a:ln>
        </p:spPr>
      </p:sp>
      <p:sp>
        <p:nvSpPr>
          <p:cNvPr id="29" name="Shape 27"/>
          <p:cNvSpPr/>
          <p:nvPr/>
        </p:nvSpPr>
        <p:spPr>
          <a:xfrm>
            <a:off x="6473952" y="3392424"/>
            <a:ext cx="2240280" cy="420624"/>
          </a:xfrm>
          <a:prstGeom prst="roundRect">
            <a:avLst>
              <a:gd name="adj" fmla="val 8696"/>
            </a:avLst>
          </a:prstGeom>
          <a:solidFill>
            <a:srgbClr val="F1F4FC"/>
          </a:solidFill>
          <a:ln w="9525">
            <a:solidFill>
              <a:srgbClr val="DCE3F5"/>
            </a:solidFill>
            <a:prstDash val="solid"/>
          </a:ln>
        </p:spPr>
      </p:sp>
      <p:sp>
        <p:nvSpPr>
          <p:cNvPr id="30" name="Text 28"/>
          <p:cNvSpPr/>
          <p:nvPr/>
        </p:nvSpPr>
        <p:spPr>
          <a:xfrm>
            <a:off x="6291072" y="3566160"/>
            <a:ext cx="2606040" cy="457200"/>
          </a:xfrm>
          <a:prstGeom prst="rect">
            <a:avLst/>
          </a:prstGeom>
          <a:noFill/>
          <a:ln/>
        </p:spPr>
        <p:txBody>
          <a:bodyPr wrap="square" rtlCol="0" anchor="ctr"/>
          <a:lstStyle/>
          <a:p>
            <a:pPr algn="ctr" indent="0" marL="0">
              <a:buNone/>
            </a:pPr>
            <a:r>
              <a:rPr lang="en-US" sz="1000" i="1" dirty="0">
                <a:solidFill>
                  <a:srgbClr val="7B81A3"/>
                </a:solidFill>
                <a:latin typeface="Calibri" pitchFamily="34" charset="0"/>
                <a:ea typeface="Calibri" pitchFamily="34" charset="-122"/>
                <a:cs typeface="Calibri" pitchFamily="34" charset="-120"/>
              </a:rPr>
              <a:t>[ add screenshot ]</a:t>
            </a:r>
            <a:endParaRPr lang="en-US" sz="1000" dirty="0"/>
          </a:p>
          <a:p>
            <a:pPr algn="ctr" indent="0" marL="0">
              <a:buNone/>
            </a:pPr>
            <a:r>
              <a:rPr lang="en-US" sz="1000" i="1" dirty="0">
                <a:solidFill>
                  <a:srgbClr val="7B81A3"/>
                </a:solidFill>
                <a:latin typeface="Calibri" pitchFamily="34" charset="0"/>
                <a:ea typeface="Calibri" pitchFamily="34" charset="-122"/>
                <a:cs typeface="Calibri" pitchFamily="34" charset="-120"/>
              </a:rPr>
              <a:t>Admin — review queue with trust-score breakdown</a:t>
            </a:r>
            <a:endParaRPr lang="en-US" sz="1000" dirty="0"/>
          </a:p>
        </p:txBody>
      </p:sp>
      <p:sp>
        <p:nvSpPr>
          <p:cNvPr id="31" name="Shape 29"/>
          <p:cNvSpPr/>
          <p:nvPr/>
        </p:nvSpPr>
        <p:spPr>
          <a:xfrm>
            <a:off x="9116568" y="1783080"/>
            <a:ext cx="2606040" cy="2286000"/>
          </a:xfrm>
          <a:prstGeom prst="roundRect">
            <a:avLst>
              <a:gd name="adj" fmla="val 2400"/>
            </a:avLst>
          </a:prstGeom>
          <a:solidFill>
            <a:srgbClr val="FFFFFF"/>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32" name="Shape 30"/>
          <p:cNvSpPr/>
          <p:nvPr/>
        </p:nvSpPr>
        <p:spPr>
          <a:xfrm>
            <a:off x="9116568" y="1783080"/>
            <a:ext cx="2606040" cy="310896"/>
          </a:xfrm>
          <a:prstGeom prst="roundRect">
            <a:avLst>
              <a:gd name="adj" fmla="val 17647"/>
            </a:avLst>
          </a:prstGeom>
          <a:solidFill>
            <a:srgbClr val="EDF0FA"/>
          </a:solidFill>
          <a:ln/>
        </p:spPr>
      </p:sp>
      <p:sp>
        <p:nvSpPr>
          <p:cNvPr id="33" name="Shape 31"/>
          <p:cNvSpPr/>
          <p:nvPr/>
        </p:nvSpPr>
        <p:spPr>
          <a:xfrm>
            <a:off x="9226296" y="1883664"/>
            <a:ext cx="109728" cy="109728"/>
          </a:xfrm>
          <a:prstGeom prst="ellipse">
            <a:avLst/>
          </a:prstGeom>
          <a:solidFill>
            <a:srgbClr val="F96167"/>
          </a:solidFill>
          <a:ln/>
        </p:spPr>
      </p:sp>
      <p:sp>
        <p:nvSpPr>
          <p:cNvPr id="34" name="Shape 32"/>
          <p:cNvSpPr/>
          <p:nvPr/>
        </p:nvSpPr>
        <p:spPr>
          <a:xfrm>
            <a:off x="9390888" y="1883664"/>
            <a:ext cx="109728" cy="109728"/>
          </a:xfrm>
          <a:prstGeom prst="ellipse">
            <a:avLst/>
          </a:prstGeom>
          <a:solidFill>
            <a:srgbClr val="E8A400"/>
          </a:solidFill>
          <a:ln/>
        </p:spPr>
      </p:sp>
      <p:sp>
        <p:nvSpPr>
          <p:cNvPr id="35" name="Shape 33"/>
          <p:cNvSpPr/>
          <p:nvPr/>
        </p:nvSpPr>
        <p:spPr>
          <a:xfrm>
            <a:off x="9555480" y="1883664"/>
            <a:ext cx="109728" cy="109728"/>
          </a:xfrm>
          <a:prstGeom prst="ellipse">
            <a:avLst/>
          </a:prstGeom>
          <a:solidFill>
            <a:srgbClr val="02C39A"/>
          </a:solidFill>
          <a:ln/>
        </p:spPr>
      </p:sp>
      <p:sp>
        <p:nvSpPr>
          <p:cNvPr id="36" name="Shape 34"/>
          <p:cNvSpPr/>
          <p:nvPr/>
        </p:nvSpPr>
        <p:spPr>
          <a:xfrm>
            <a:off x="9299448" y="2258568"/>
            <a:ext cx="2240280" cy="420624"/>
          </a:xfrm>
          <a:prstGeom prst="roundRect">
            <a:avLst>
              <a:gd name="adj" fmla="val 8696"/>
            </a:avLst>
          </a:prstGeom>
          <a:solidFill>
            <a:srgbClr val="F1F4FC"/>
          </a:solidFill>
          <a:ln w="9525">
            <a:solidFill>
              <a:srgbClr val="DCE3F5"/>
            </a:solidFill>
            <a:prstDash val="solid"/>
          </a:ln>
        </p:spPr>
      </p:sp>
      <p:sp>
        <p:nvSpPr>
          <p:cNvPr id="37" name="Shape 35"/>
          <p:cNvSpPr/>
          <p:nvPr/>
        </p:nvSpPr>
        <p:spPr>
          <a:xfrm>
            <a:off x="9299448" y="2825496"/>
            <a:ext cx="2240280" cy="420624"/>
          </a:xfrm>
          <a:prstGeom prst="roundRect">
            <a:avLst>
              <a:gd name="adj" fmla="val 8696"/>
            </a:avLst>
          </a:prstGeom>
          <a:solidFill>
            <a:srgbClr val="F1F4FC"/>
          </a:solidFill>
          <a:ln w="9525">
            <a:solidFill>
              <a:srgbClr val="DCE3F5"/>
            </a:solidFill>
            <a:prstDash val="solid"/>
          </a:ln>
        </p:spPr>
      </p:sp>
      <p:sp>
        <p:nvSpPr>
          <p:cNvPr id="38" name="Shape 36"/>
          <p:cNvSpPr/>
          <p:nvPr/>
        </p:nvSpPr>
        <p:spPr>
          <a:xfrm>
            <a:off x="9299448" y="3392424"/>
            <a:ext cx="2240280" cy="420624"/>
          </a:xfrm>
          <a:prstGeom prst="roundRect">
            <a:avLst>
              <a:gd name="adj" fmla="val 8696"/>
            </a:avLst>
          </a:prstGeom>
          <a:solidFill>
            <a:srgbClr val="F1F4FC"/>
          </a:solidFill>
          <a:ln w="9525">
            <a:solidFill>
              <a:srgbClr val="DCE3F5"/>
            </a:solidFill>
            <a:prstDash val="solid"/>
          </a:ln>
        </p:spPr>
      </p:sp>
      <p:sp>
        <p:nvSpPr>
          <p:cNvPr id="39" name="Text 37"/>
          <p:cNvSpPr/>
          <p:nvPr/>
        </p:nvSpPr>
        <p:spPr>
          <a:xfrm>
            <a:off x="9116568" y="3566160"/>
            <a:ext cx="2606040" cy="457200"/>
          </a:xfrm>
          <a:prstGeom prst="rect">
            <a:avLst/>
          </a:prstGeom>
          <a:noFill/>
          <a:ln/>
        </p:spPr>
        <p:txBody>
          <a:bodyPr wrap="square" rtlCol="0" anchor="ctr"/>
          <a:lstStyle/>
          <a:p>
            <a:pPr algn="ctr" indent="0" marL="0">
              <a:buNone/>
            </a:pPr>
            <a:r>
              <a:rPr lang="en-US" sz="1000" i="1" dirty="0">
                <a:solidFill>
                  <a:srgbClr val="7B81A3"/>
                </a:solidFill>
                <a:latin typeface="Calibri" pitchFamily="34" charset="0"/>
                <a:ea typeface="Calibri" pitchFamily="34" charset="-122"/>
                <a:cs typeface="Calibri" pitchFamily="34" charset="-120"/>
              </a:rPr>
              <a:t>[ add screenshot ]</a:t>
            </a:r>
            <a:endParaRPr lang="en-US" sz="1000" dirty="0"/>
          </a:p>
          <a:p>
            <a:pPr algn="ctr" indent="0" marL="0">
              <a:buNone/>
            </a:pPr>
            <a:r>
              <a:rPr lang="en-US" sz="1000" i="1" dirty="0">
                <a:solidFill>
                  <a:srgbClr val="7B81A3"/>
                </a:solidFill>
                <a:latin typeface="Calibri" pitchFamily="34" charset="0"/>
                <a:ea typeface="Calibri" pitchFamily="34" charset="-122"/>
                <a:cs typeface="Calibri" pitchFamily="34" charset="-120"/>
              </a:rPr>
              <a:t>Admin — skill-gap analytics dashboard</a:t>
            </a:r>
            <a:endParaRPr lang="en-US" sz="1000" dirty="0"/>
          </a:p>
        </p:txBody>
      </p:sp>
      <p:sp>
        <p:nvSpPr>
          <p:cNvPr id="40" name="Shape 38"/>
          <p:cNvSpPr/>
          <p:nvPr/>
        </p:nvSpPr>
        <p:spPr>
          <a:xfrm>
            <a:off x="640080" y="4343400"/>
            <a:ext cx="10881360" cy="1965960"/>
          </a:xfrm>
          <a:prstGeom prst="roundRect">
            <a:avLst>
              <a:gd name="adj" fmla="val 372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41" name="Text 39"/>
          <p:cNvSpPr/>
          <p:nvPr/>
        </p:nvSpPr>
        <p:spPr>
          <a:xfrm>
            <a:off x="868680" y="4480560"/>
            <a:ext cx="5486400" cy="274320"/>
          </a:xfrm>
          <a:prstGeom prst="rect">
            <a:avLst/>
          </a:prstGeom>
          <a:noFill/>
          <a:ln/>
        </p:spPr>
        <p:txBody>
          <a:bodyPr wrap="square"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Suggested live-demo script</a:t>
            </a:r>
            <a:endParaRPr lang="en-US" sz="1250" dirty="0"/>
          </a:p>
        </p:txBody>
      </p:sp>
      <p:sp>
        <p:nvSpPr>
          <p:cNvPr id="42" name="Text 40"/>
          <p:cNvSpPr/>
          <p:nvPr/>
        </p:nvSpPr>
        <p:spPr>
          <a:xfrm>
            <a:off x="868680" y="4800600"/>
            <a:ext cx="10424160" cy="1417320"/>
          </a:xfrm>
          <a:prstGeom prst="rect">
            <a:avLst/>
          </a:prstGeom>
          <a:noFill/>
          <a:ln/>
        </p:spPr>
        <p:txBody>
          <a:bodyPr wrap="square" rtlCol="0" anchor="ctr"/>
          <a:lstStyle/>
          <a:p>
            <a:pPr indent="0" marL="0">
              <a:lnSpc>
                <a:spcPct val="130000"/>
              </a:lnSpc>
              <a:buNone/>
            </a:pPr>
            <a:r>
              <a:rPr lang="en-US" sz="1080" dirty="0">
                <a:solidFill>
                  <a:srgbClr val="454B6B"/>
                </a:solidFill>
                <a:latin typeface="Calibri" pitchFamily="34" charset="0"/>
                <a:ea typeface="Calibri" pitchFamily="34" charset="-122"/>
                <a:cs typeface="Calibri" pitchFamily="34" charset="-120"/>
              </a:rPr>
              <a:t>1.  Register / login as a student → upload a resume, watch skills auto-fill</a:t>
            </a:r>
            <a:endParaRPr lang="en-US" sz="1080" dirty="0"/>
          </a:p>
          <a:p>
            <a:pPr indent="0" marL="0">
              <a:lnSpc>
                <a:spcPct val="130000"/>
              </a:lnSpc>
              <a:buNone/>
            </a:pPr>
            <a:r>
              <a:rPr lang="en-US" sz="1080" dirty="0">
                <a:solidFill>
                  <a:srgbClr val="454B6B"/>
                </a:solidFill>
                <a:latin typeface="Calibri" pitchFamily="34" charset="0"/>
                <a:ea typeface="Calibri" pitchFamily="34" charset="-122"/>
                <a:cs typeface="Calibri" pitchFamily="34" charset="-120"/>
              </a:rPr>
              <a:t>2.  Browse listings, open one, see the match % and missing-skill learning path</a:t>
            </a:r>
            <a:endParaRPr lang="en-US" sz="1080" dirty="0"/>
          </a:p>
          <a:p>
            <a:pPr indent="0" marL="0">
              <a:lnSpc>
                <a:spcPct val="130000"/>
              </a:lnSpc>
              <a:buNone/>
            </a:pPr>
            <a:r>
              <a:rPr lang="en-US" sz="1080" dirty="0">
                <a:solidFill>
                  <a:srgbClr val="454B6B"/>
                </a:solidFill>
                <a:latin typeface="Calibri" pitchFamily="34" charset="0"/>
                <a:ea typeface="Calibri" pitchFamily="34" charset="-122"/>
                <a:cs typeface="Calibri" pitchFamily="34" charset="-120"/>
              </a:rPr>
              <a:t>3.  Apply, then withdraw, then re-apply — status timeline updates live</a:t>
            </a:r>
            <a:endParaRPr lang="en-US" sz="1080" dirty="0"/>
          </a:p>
          <a:p>
            <a:pPr indent="0" marL="0">
              <a:lnSpc>
                <a:spcPct val="130000"/>
              </a:lnSpc>
              <a:buNone/>
            </a:pPr>
            <a:r>
              <a:rPr lang="en-US" sz="1080" dirty="0">
                <a:solidFill>
                  <a:srgbClr val="454B6B"/>
                </a:solidFill>
                <a:latin typeface="Calibri" pitchFamily="34" charset="0"/>
                <a:ea typeface="Calibri" pitchFamily="34" charset="-122"/>
                <a:cs typeface="Calibri" pitchFamily="34" charset="-120"/>
              </a:rPr>
              <a:t>4.  Switch to admin — approve a pending scraped listing after reading its score breakdown</a:t>
            </a:r>
            <a:endParaRPr lang="en-US" sz="1080" dirty="0"/>
          </a:p>
          <a:p>
            <a:pPr indent="0" marL="0">
              <a:lnSpc>
                <a:spcPct val="130000"/>
              </a:lnSpc>
              <a:buNone/>
            </a:pPr>
            <a:r>
              <a:rPr lang="en-US" sz="1080" dirty="0">
                <a:solidFill>
                  <a:srgbClr val="454B6B"/>
                </a:solidFill>
                <a:latin typeface="Calibri" pitchFamily="34" charset="0"/>
                <a:ea typeface="Calibri" pitchFamily="34" charset="-122"/>
                <a:cs typeface="Calibri" pitchFamily="34" charset="-120"/>
              </a:rPr>
              <a:t>5.  Trigger the notify job — a deadline reminder appears in real time via Socket.IO</a:t>
            </a:r>
            <a:endParaRPr lang="en-US" sz="1080" dirty="0"/>
          </a:p>
        </p:txBody>
      </p:sp>
      <p:sp>
        <p:nvSpPr>
          <p:cNvPr id="44" name="Text 41"/>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45" name="Text 42"/>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377440" y="-2377440"/>
            <a:ext cx="5486400" cy="5486400"/>
          </a:xfrm>
          <a:prstGeom prst="ellipse">
            <a:avLst/>
          </a:prstGeom>
          <a:solidFill>
            <a:srgbClr val="273080"/>
          </a:solidFill>
          <a:ln/>
        </p:spPr>
      </p:sp>
      <p:sp>
        <p:nvSpPr>
          <p:cNvPr id="3" name="Text 1"/>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INNOVATION / DIFFERENTIATORS</a:t>
            </a:r>
            <a:endParaRPr lang="en-US" sz="1300" dirty="0"/>
          </a:p>
        </p:txBody>
      </p:sp>
      <p:sp>
        <p:nvSpPr>
          <p:cNvPr id="4" name="Text 2"/>
          <p:cNvSpPr txBox="1"/>
          <p:nvPr/>
        </p:nvSpPr>
        <p:spPr>
          <a:xfrm>
            <a:off x="640080" y="777240"/>
            <a:ext cx="10789920" cy="868680"/>
          </a:xfrm>
          <a:prstGeom prst="rect">
            <a:avLst/>
          </a:prstGeom>
          <a:noFill/>
          <a:ln/>
        </p:spPr>
        <p:txBody>
          <a:bodyPr wrap="square"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actually makes this different</a:t>
            </a:r>
            <a:endParaRPr lang="en-US" sz="3000" dirty="0"/>
          </a:p>
        </p:txBody>
      </p:sp>
      <p:sp>
        <p:nvSpPr>
          <p:cNvPr id="5" name="Shape 3"/>
          <p:cNvSpPr/>
          <p:nvPr/>
        </p:nvSpPr>
        <p:spPr>
          <a:xfrm>
            <a:off x="640080" y="1737360"/>
            <a:ext cx="3520440" cy="2057400"/>
          </a:xfrm>
          <a:prstGeom prst="roundRect">
            <a:avLst>
              <a:gd name="adj" fmla="val 3556"/>
            </a:avLst>
          </a:prstGeom>
          <a:solidFill>
            <a:srgbClr val="273080"/>
          </a:solidFill>
          <a:ln w="12700">
            <a:solidFill>
              <a:srgbClr val="3A44A0"/>
            </a:solidFill>
            <a:prstDash val="solid"/>
          </a:ln>
        </p:spPr>
      </p:sp>
      <p:sp>
        <p:nvSpPr>
          <p:cNvPr id="6" name="Shape 4"/>
          <p:cNvSpPr/>
          <p:nvPr/>
        </p:nvSpPr>
        <p:spPr>
          <a:xfrm>
            <a:off x="896112" y="1975104"/>
            <a:ext cx="457200" cy="457200"/>
          </a:xfrm>
          <a:prstGeom prst="ellipse">
            <a:avLst/>
          </a:prstGeom>
          <a:solidFill>
            <a:srgbClr val="02C39A"/>
          </a:solidFill>
          <a:ln/>
        </p:spPr>
      </p:sp>
      <p:pic>
        <p:nvPicPr>
          <p:cNvPr id="7" name="Image 0" descr="C:\Users\Niharika\AppData\Local\Temp\claude\C--Users-Niharika-Linkedout\10362697-8d2a-4530-a202-c572b85676f5\scratchpad\deck\icons\shield_white.png">    </p:cNvPr>
          <p:cNvPicPr>
            <a:picLocks noChangeAspect="1"/>
          </p:cNvPicPr>
          <p:nvPr/>
        </p:nvPicPr>
        <p:blipFill>
          <a:blip r:embed="rId1"/>
          <a:stretch>
            <a:fillRect/>
          </a:stretch>
        </p:blipFill>
        <p:spPr>
          <a:xfrm>
            <a:off x="998982" y="2077974"/>
            <a:ext cx="251460" cy="251460"/>
          </a:xfrm>
          <a:prstGeom prst="rect">
            <a:avLst/>
          </a:prstGeom>
        </p:spPr>
      </p:pic>
      <p:sp>
        <p:nvSpPr>
          <p:cNvPr id="8" name="Text 5"/>
          <p:cNvSpPr/>
          <p:nvPr/>
        </p:nvSpPr>
        <p:spPr>
          <a:xfrm>
            <a:off x="1517904" y="193852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Explainable, tunable trust engine</a:t>
            </a:r>
            <a:endParaRPr lang="en-US" sz="1400" dirty="0"/>
          </a:p>
        </p:txBody>
      </p:sp>
      <p:sp>
        <p:nvSpPr>
          <p:cNvPr id="9" name="Text 6"/>
          <p:cNvSpPr/>
          <p:nvPr/>
        </p:nvSpPr>
        <p:spPr>
          <a:xfrm>
            <a:off x="896112" y="2505456"/>
            <a:ext cx="3008376" cy="103327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Admins retune weights from real scam patterns via one API call — no redeploy, no black box, every decision logged and auditable.</a:t>
            </a:r>
            <a:endParaRPr lang="en-US" sz="1100" dirty="0"/>
          </a:p>
        </p:txBody>
      </p:sp>
      <p:sp>
        <p:nvSpPr>
          <p:cNvPr id="10" name="Shape 7"/>
          <p:cNvSpPr/>
          <p:nvPr/>
        </p:nvSpPr>
        <p:spPr>
          <a:xfrm>
            <a:off x="4343400" y="1737360"/>
            <a:ext cx="3520440" cy="2057400"/>
          </a:xfrm>
          <a:prstGeom prst="roundRect">
            <a:avLst>
              <a:gd name="adj" fmla="val 3556"/>
            </a:avLst>
          </a:prstGeom>
          <a:solidFill>
            <a:srgbClr val="273080"/>
          </a:solidFill>
          <a:ln w="12700">
            <a:solidFill>
              <a:srgbClr val="3A44A0"/>
            </a:solidFill>
            <a:prstDash val="solid"/>
          </a:ln>
        </p:spPr>
      </p:sp>
      <p:sp>
        <p:nvSpPr>
          <p:cNvPr id="11" name="Shape 8"/>
          <p:cNvSpPr/>
          <p:nvPr/>
        </p:nvSpPr>
        <p:spPr>
          <a:xfrm>
            <a:off x="4599432" y="1975104"/>
            <a:ext cx="457200" cy="457200"/>
          </a:xfrm>
          <a:prstGeom prst="ellipse">
            <a:avLst/>
          </a:prstGeom>
          <a:solidFill>
            <a:srgbClr val="02C39A"/>
          </a:solidFill>
          <a:ln/>
        </p:spPr>
      </p:sp>
      <p:pic>
        <p:nvPicPr>
          <p:cNvPr id="12" name="Image 1" descr="C:\Users\Niharika\AppData\Local\Temp\claude\C--Users-Niharika-Linkedout\10362697-8d2a-4530-a202-c572b85676f5\scratchpad\deck\icons\message_white.png">    </p:cNvPr>
          <p:cNvPicPr>
            <a:picLocks noChangeAspect="1"/>
          </p:cNvPicPr>
          <p:nvPr/>
        </p:nvPicPr>
        <p:blipFill>
          <a:blip r:embed="rId2"/>
          <a:stretch>
            <a:fillRect/>
          </a:stretch>
        </p:blipFill>
        <p:spPr>
          <a:xfrm>
            <a:off x="4702302" y="2077974"/>
            <a:ext cx="251460" cy="251460"/>
          </a:xfrm>
          <a:prstGeom prst="rect">
            <a:avLst/>
          </a:prstGeom>
        </p:spPr>
      </p:pic>
      <p:sp>
        <p:nvSpPr>
          <p:cNvPr id="13" name="Text 9"/>
          <p:cNvSpPr/>
          <p:nvPr/>
        </p:nvSpPr>
        <p:spPr>
          <a:xfrm>
            <a:off x="5221224" y="193852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Two-signal fraud detection</a:t>
            </a:r>
            <a:endParaRPr lang="en-US" sz="1400" dirty="0"/>
          </a:p>
        </p:txBody>
      </p:sp>
      <p:sp>
        <p:nvSpPr>
          <p:cNvPr id="14" name="Text 10"/>
          <p:cNvSpPr/>
          <p:nvPr/>
        </p:nvSpPr>
        <p:spPr>
          <a:xfrm>
            <a:off x="4599432" y="2505456"/>
            <a:ext cx="3008376" cy="103327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Automated scoring plus a student community-report loop that forces a recheck at 3+ reports — catches what scraping alone misses, like a shady ask after engagement.</a:t>
            </a:r>
            <a:endParaRPr lang="en-US" sz="1100" dirty="0"/>
          </a:p>
        </p:txBody>
      </p:sp>
      <p:sp>
        <p:nvSpPr>
          <p:cNvPr id="15" name="Shape 11"/>
          <p:cNvSpPr/>
          <p:nvPr/>
        </p:nvSpPr>
        <p:spPr>
          <a:xfrm>
            <a:off x="8046720" y="1737360"/>
            <a:ext cx="3520440" cy="2057400"/>
          </a:xfrm>
          <a:prstGeom prst="roundRect">
            <a:avLst>
              <a:gd name="adj" fmla="val 3556"/>
            </a:avLst>
          </a:prstGeom>
          <a:solidFill>
            <a:srgbClr val="273080"/>
          </a:solidFill>
          <a:ln w="12700">
            <a:solidFill>
              <a:srgbClr val="3A44A0"/>
            </a:solidFill>
            <a:prstDash val="solid"/>
          </a:ln>
        </p:spPr>
      </p:sp>
      <p:sp>
        <p:nvSpPr>
          <p:cNvPr id="16" name="Shape 12"/>
          <p:cNvSpPr/>
          <p:nvPr/>
        </p:nvSpPr>
        <p:spPr>
          <a:xfrm>
            <a:off x="8302752" y="1975104"/>
            <a:ext cx="457200" cy="457200"/>
          </a:xfrm>
          <a:prstGeom prst="ellipse">
            <a:avLst/>
          </a:prstGeom>
          <a:solidFill>
            <a:srgbClr val="02C39A"/>
          </a:solidFill>
          <a:ln/>
        </p:spPr>
      </p:sp>
      <p:pic>
        <p:nvPicPr>
          <p:cNvPr id="17" name="Image 2" descr="C:\Users\Niharika\AppData\Local\Temp\claude\C--Users-Niharika-Linkedout\10362697-8d2a-4530-a202-c572b85676f5\scratchpad\deck\icons\refresh_white.png">    </p:cNvPr>
          <p:cNvPicPr>
            <a:picLocks noChangeAspect="1"/>
          </p:cNvPicPr>
          <p:nvPr/>
        </p:nvPicPr>
        <p:blipFill>
          <a:blip r:embed="rId3"/>
          <a:stretch>
            <a:fillRect/>
          </a:stretch>
        </p:blipFill>
        <p:spPr>
          <a:xfrm>
            <a:off x="8405622" y="2077974"/>
            <a:ext cx="251460" cy="251460"/>
          </a:xfrm>
          <a:prstGeom prst="rect">
            <a:avLst/>
          </a:prstGeom>
        </p:spPr>
      </p:pic>
      <p:sp>
        <p:nvSpPr>
          <p:cNvPr id="18" name="Text 13"/>
          <p:cNvSpPr/>
          <p:nvPr/>
        </p:nvSpPr>
        <p:spPr>
          <a:xfrm>
            <a:off x="8924544" y="193852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Rejections aren't permanent</a:t>
            </a:r>
            <a:endParaRPr lang="en-US" sz="1400" dirty="0"/>
          </a:p>
        </p:txBody>
      </p:sp>
      <p:sp>
        <p:nvSpPr>
          <p:cNvPr id="19" name="Text 14"/>
          <p:cNvSpPr/>
          <p:nvPr/>
        </p:nvSpPr>
        <p:spPr>
          <a:xfrm>
            <a:off x="8302752" y="2505456"/>
            <a:ext cx="3008376" cy="103327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Approving a resubmission retires that company's known-bad-pattern entry, so one false positive can't poison a legitimate company forever.</a:t>
            </a:r>
            <a:endParaRPr lang="en-US" sz="1100" dirty="0"/>
          </a:p>
        </p:txBody>
      </p:sp>
      <p:sp>
        <p:nvSpPr>
          <p:cNvPr id="20" name="Shape 15"/>
          <p:cNvSpPr/>
          <p:nvPr/>
        </p:nvSpPr>
        <p:spPr>
          <a:xfrm>
            <a:off x="640080" y="3995928"/>
            <a:ext cx="3520440" cy="2057400"/>
          </a:xfrm>
          <a:prstGeom prst="roundRect">
            <a:avLst>
              <a:gd name="adj" fmla="val 3556"/>
            </a:avLst>
          </a:prstGeom>
          <a:solidFill>
            <a:srgbClr val="273080"/>
          </a:solidFill>
          <a:ln w="12700">
            <a:solidFill>
              <a:srgbClr val="3A44A0"/>
            </a:solidFill>
            <a:prstDash val="solid"/>
          </a:ln>
        </p:spPr>
      </p:sp>
      <p:sp>
        <p:nvSpPr>
          <p:cNvPr id="21" name="Shape 16"/>
          <p:cNvSpPr/>
          <p:nvPr/>
        </p:nvSpPr>
        <p:spPr>
          <a:xfrm>
            <a:off x="896112" y="4233672"/>
            <a:ext cx="457200" cy="457200"/>
          </a:xfrm>
          <a:prstGeom prst="ellipse">
            <a:avLst/>
          </a:prstGeom>
          <a:solidFill>
            <a:srgbClr val="02C39A"/>
          </a:solidFill>
          <a:ln/>
        </p:spPr>
      </p:sp>
      <p:pic>
        <p:nvPicPr>
          <p:cNvPr id="22" name="Image 3" descr="C:\Users\Niharika\AppData\Local\Temp\claude\C--Users-Niharika-Linkedout\10362697-8d2a-4530-a202-c572b85676f5\scratchpad\deck\icons\target_white.png">    </p:cNvPr>
          <p:cNvPicPr>
            <a:picLocks noChangeAspect="1"/>
          </p:cNvPicPr>
          <p:nvPr/>
        </p:nvPicPr>
        <p:blipFill>
          <a:blip r:embed="rId4"/>
          <a:stretch>
            <a:fillRect/>
          </a:stretch>
        </p:blipFill>
        <p:spPr>
          <a:xfrm>
            <a:off x="998982" y="4336542"/>
            <a:ext cx="251460" cy="251460"/>
          </a:xfrm>
          <a:prstGeom prst="rect">
            <a:avLst/>
          </a:prstGeom>
        </p:spPr>
      </p:pic>
      <p:sp>
        <p:nvSpPr>
          <p:cNvPr id="23" name="Text 17"/>
          <p:cNvSpPr/>
          <p:nvPr/>
        </p:nvSpPr>
        <p:spPr>
          <a:xfrm>
            <a:off x="1517904" y="4197096"/>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Fuzzy, not exact, dedup</a:t>
            </a:r>
            <a:endParaRPr lang="en-US" sz="1400" dirty="0"/>
          </a:p>
        </p:txBody>
      </p:sp>
      <p:sp>
        <p:nvSpPr>
          <p:cNvPr id="24" name="Text 18"/>
          <p:cNvSpPr/>
          <p:nvPr/>
        </p:nvSpPr>
        <p:spPr>
          <a:xfrm>
            <a:off x="896112" y="4764024"/>
            <a:ext cx="3008376" cy="103327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Dice-coefficient similarity catches reworded reposts and deadline-extensions that an exact company+title+deadline hash would let through twice.</a:t>
            </a:r>
            <a:endParaRPr lang="en-US" sz="1100" dirty="0"/>
          </a:p>
        </p:txBody>
      </p:sp>
      <p:sp>
        <p:nvSpPr>
          <p:cNvPr id="25" name="Shape 19"/>
          <p:cNvSpPr/>
          <p:nvPr/>
        </p:nvSpPr>
        <p:spPr>
          <a:xfrm>
            <a:off x="4343400" y="3995928"/>
            <a:ext cx="3520440" cy="2057400"/>
          </a:xfrm>
          <a:prstGeom prst="roundRect">
            <a:avLst>
              <a:gd name="adj" fmla="val 3556"/>
            </a:avLst>
          </a:prstGeom>
          <a:solidFill>
            <a:srgbClr val="273080"/>
          </a:solidFill>
          <a:ln w="12700">
            <a:solidFill>
              <a:srgbClr val="3A44A0"/>
            </a:solidFill>
            <a:prstDash val="solid"/>
          </a:ln>
        </p:spPr>
      </p:sp>
      <p:sp>
        <p:nvSpPr>
          <p:cNvPr id="26" name="Shape 20"/>
          <p:cNvSpPr/>
          <p:nvPr/>
        </p:nvSpPr>
        <p:spPr>
          <a:xfrm>
            <a:off x="4599432" y="4233672"/>
            <a:ext cx="457200" cy="457200"/>
          </a:xfrm>
          <a:prstGeom prst="ellipse">
            <a:avLst/>
          </a:prstGeom>
          <a:solidFill>
            <a:srgbClr val="02C39A"/>
          </a:solidFill>
          <a:ln/>
        </p:spPr>
      </p:sp>
      <p:pic>
        <p:nvPicPr>
          <p:cNvPr id="27" name="Image 4" descr="C:\Users\Niharika\AppData\Local\Temp\claude\C--Users-Niharika-Linkedout\10362697-8d2a-4530-a202-c572b85676f5\scratchpad\deck\icons\barchart_white.png">    </p:cNvPr>
          <p:cNvPicPr>
            <a:picLocks noChangeAspect="1"/>
          </p:cNvPicPr>
          <p:nvPr/>
        </p:nvPicPr>
        <p:blipFill>
          <a:blip r:embed="rId5"/>
          <a:stretch>
            <a:fillRect/>
          </a:stretch>
        </p:blipFill>
        <p:spPr>
          <a:xfrm>
            <a:off x="4702302" y="4336542"/>
            <a:ext cx="251460" cy="251460"/>
          </a:xfrm>
          <a:prstGeom prst="rect">
            <a:avLst/>
          </a:prstGeom>
        </p:spPr>
      </p:pic>
      <p:sp>
        <p:nvSpPr>
          <p:cNvPr id="28" name="Text 21"/>
          <p:cNvSpPr/>
          <p:nvPr/>
        </p:nvSpPr>
        <p:spPr>
          <a:xfrm>
            <a:off x="5221224" y="4197096"/>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real loop back to the institution</a:t>
            </a:r>
            <a:endParaRPr lang="en-US" sz="1400" dirty="0"/>
          </a:p>
        </p:txBody>
      </p:sp>
      <p:sp>
        <p:nvSpPr>
          <p:cNvPr id="29" name="Text 22"/>
          <p:cNvSpPr/>
          <p:nvPr/>
        </p:nvSpPr>
        <p:spPr>
          <a:xfrm>
            <a:off x="4599432" y="4764024"/>
            <a:ext cx="3008376" cy="103327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Individual match scores roll up into placement-cell analytics — “40% of eligible applicants lack Docker” becomes a concrete input to next term's workshops.</a:t>
            </a:r>
            <a:endParaRPr lang="en-US" sz="1100" dirty="0"/>
          </a:p>
        </p:txBody>
      </p:sp>
      <p:sp>
        <p:nvSpPr>
          <p:cNvPr id="30" name="Shape 23"/>
          <p:cNvSpPr/>
          <p:nvPr/>
        </p:nvSpPr>
        <p:spPr>
          <a:xfrm>
            <a:off x="8046720" y="3995928"/>
            <a:ext cx="3520440" cy="2057400"/>
          </a:xfrm>
          <a:prstGeom prst="roundRect">
            <a:avLst>
              <a:gd name="adj" fmla="val 3556"/>
            </a:avLst>
          </a:prstGeom>
          <a:solidFill>
            <a:srgbClr val="273080"/>
          </a:solidFill>
          <a:ln w="12700">
            <a:solidFill>
              <a:srgbClr val="3A44A0"/>
            </a:solidFill>
            <a:prstDash val="solid"/>
          </a:ln>
        </p:spPr>
      </p:sp>
      <p:sp>
        <p:nvSpPr>
          <p:cNvPr id="31" name="Shape 24"/>
          <p:cNvSpPr/>
          <p:nvPr/>
        </p:nvSpPr>
        <p:spPr>
          <a:xfrm>
            <a:off x="8302752" y="4233672"/>
            <a:ext cx="457200" cy="457200"/>
          </a:xfrm>
          <a:prstGeom prst="ellipse">
            <a:avLst/>
          </a:prstGeom>
          <a:solidFill>
            <a:srgbClr val="02C39A"/>
          </a:solidFill>
          <a:ln/>
        </p:spPr>
      </p:sp>
      <p:pic>
        <p:nvPicPr>
          <p:cNvPr id="32" name="Image 5" descr="C:\Users\Niharika\AppData\Local\Temp\claude\C--Users-Niharika-Linkedout\10362697-8d2a-4530-a202-c572b85676f5\scratchpad\deck\icons\award_white.png">    </p:cNvPr>
          <p:cNvPicPr>
            <a:picLocks noChangeAspect="1"/>
          </p:cNvPicPr>
          <p:nvPr/>
        </p:nvPicPr>
        <p:blipFill>
          <a:blip r:embed="rId6"/>
          <a:stretch>
            <a:fillRect/>
          </a:stretch>
        </p:blipFill>
        <p:spPr>
          <a:xfrm>
            <a:off x="8405622" y="4336542"/>
            <a:ext cx="251460" cy="251460"/>
          </a:xfrm>
          <a:prstGeom prst="rect">
            <a:avLst/>
          </a:prstGeom>
        </p:spPr>
      </p:pic>
      <p:sp>
        <p:nvSpPr>
          <p:cNvPr id="33" name="Text 25"/>
          <p:cNvSpPr/>
          <p:nvPr/>
        </p:nvSpPr>
        <p:spPr>
          <a:xfrm>
            <a:off x="8924544" y="4197096"/>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Built for a campus with zero portal</a:t>
            </a:r>
            <a:endParaRPr lang="en-US" sz="1400" dirty="0"/>
          </a:p>
        </p:txBody>
      </p:sp>
      <p:sp>
        <p:nvSpPr>
          <p:cNvPr id="34" name="Text 26"/>
          <p:cNvSpPr/>
          <p:nvPr/>
        </p:nvSpPr>
        <p:spPr>
          <a:xfrm>
            <a:off x="8302752" y="4764024"/>
            <a:ext cx="3008376" cy="103327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While aggregators chase scale, LinkedOut is scoped to replace WhatsApp forwards for one college first — a real, immediate user, not a hypothetical market.</a:t>
            </a:r>
            <a:endParaRPr lang="en-US" sz="1100" dirty="0"/>
          </a:p>
        </p:txBody>
      </p:sp>
      <p:sp>
        <p:nvSpPr>
          <p:cNvPr id="36" name="Text 27"/>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8A93C7"/>
                </a:solidFill>
                <a:latin typeface="Calibri" pitchFamily="34" charset="0"/>
                <a:ea typeface="Calibri" pitchFamily="34" charset="-122"/>
                <a:cs typeface="Calibri" pitchFamily="34" charset="-120"/>
              </a:rPr>
              <a:t>LinkedOut</a:t>
            </a:r>
            <a:endParaRPr lang="en-US" sz="900" dirty="0"/>
          </a:p>
        </p:txBody>
      </p:sp>
      <p:sp>
        <p:nvSpPr>
          <p:cNvPr id="37" name="Text 28"/>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A93C7"/>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IMPACT / USE CASES</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600" b="1" dirty="0">
                <a:solidFill>
                  <a:srgbClr val="1E2761"/>
                </a:solidFill>
                <a:latin typeface="Cambria" pitchFamily="34" charset="0"/>
                <a:ea typeface="Cambria" pitchFamily="34" charset="-122"/>
                <a:cs typeface="Cambria" pitchFamily="34" charset="-120"/>
              </a:rPr>
              <a:t>From a forwarded screenshot to a decision-support tool</a:t>
            </a:r>
            <a:endParaRPr lang="en-US" sz="2600" dirty="0"/>
          </a:p>
        </p:txBody>
      </p:sp>
      <p:sp>
        <p:nvSpPr>
          <p:cNvPr id="4" name="Shape 2"/>
          <p:cNvSpPr/>
          <p:nvPr/>
        </p:nvSpPr>
        <p:spPr>
          <a:xfrm>
            <a:off x="640080" y="1737360"/>
            <a:ext cx="5349240" cy="2286000"/>
          </a:xfrm>
          <a:prstGeom prst="roundRect">
            <a:avLst>
              <a:gd name="adj" fmla="val 3200"/>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896112" y="1975104"/>
            <a:ext cx="457200" cy="457200"/>
          </a:xfrm>
          <a:prstGeom prst="ellipse">
            <a:avLst/>
          </a:prstGeom>
          <a:solidFill>
            <a:srgbClr val="1E2761"/>
          </a:solidFill>
          <a:ln/>
        </p:spPr>
      </p:sp>
      <p:pic>
        <p:nvPicPr>
          <p:cNvPr id="6" name="Image 0" descr="C:\Users\Niharika\AppData\Local\Temp\claude\C--Users-Niharika-Linkedout\10362697-8d2a-4530-a202-c572b85676f5\scratchpad\deck\icons\users_white.png">    </p:cNvPr>
          <p:cNvPicPr>
            <a:picLocks noChangeAspect="1"/>
          </p:cNvPicPr>
          <p:nvPr/>
        </p:nvPicPr>
        <p:blipFill>
          <a:blip r:embed="rId1"/>
          <a:stretch>
            <a:fillRect/>
          </a:stretch>
        </p:blipFill>
        <p:spPr>
          <a:xfrm>
            <a:off x="998982" y="2077974"/>
            <a:ext cx="251460" cy="251460"/>
          </a:xfrm>
          <a:prstGeom prst="rect">
            <a:avLst/>
          </a:prstGeom>
        </p:spPr>
      </p:pic>
      <p:sp>
        <p:nvSpPr>
          <p:cNvPr id="7" name="Text 4"/>
          <p:cNvSpPr/>
          <p:nvPr/>
        </p:nvSpPr>
        <p:spPr>
          <a:xfrm>
            <a:off x="1517904" y="1938528"/>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Student</a:t>
            </a:r>
            <a:endParaRPr lang="en-US" sz="1400" dirty="0"/>
          </a:p>
        </p:txBody>
      </p:sp>
      <p:sp>
        <p:nvSpPr>
          <p:cNvPr id="8" name="Text 5"/>
          <p:cNvSpPr/>
          <p:nvPr/>
        </p:nvSpPr>
        <p:spPr>
          <a:xfrm>
            <a:off x="896112" y="2505456"/>
            <a:ext cx="4837176" cy="126187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Registers, uploads a resume, skills auto-suggested → browses one screened feed → sees match % + gap → applies, tracked end-to-end → alerted before deadlines → reports a shady post, protecting the next student.</a:t>
            </a:r>
            <a:endParaRPr lang="en-US" sz="1100" dirty="0"/>
          </a:p>
        </p:txBody>
      </p:sp>
      <p:sp>
        <p:nvSpPr>
          <p:cNvPr id="9" name="Shape 6"/>
          <p:cNvSpPr/>
          <p:nvPr/>
        </p:nvSpPr>
        <p:spPr>
          <a:xfrm>
            <a:off x="6172200" y="1737360"/>
            <a:ext cx="5349240" cy="2286000"/>
          </a:xfrm>
          <a:prstGeom prst="roundRect">
            <a:avLst>
              <a:gd name="adj" fmla="val 3200"/>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0" name="Shape 7"/>
          <p:cNvSpPr/>
          <p:nvPr/>
        </p:nvSpPr>
        <p:spPr>
          <a:xfrm>
            <a:off x="6428232" y="1975104"/>
            <a:ext cx="457200" cy="457200"/>
          </a:xfrm>
          <a:prstGeom prst="ellipse">
            <a:avLst/>
          </a:prstGeom>
          <a:solidFill>
            <a:srgbClr val="1E2761"/>
          </a:solidFill>
          <a:ln/>
        </p:spPr>
      </p:sp>
      <p:pic>
        <p:nvPicPr>
          <p:cNvPr id="11" name="Image 1" descr="C:\Users\Niharika\AppData\Local\Temp\claude\C--Users-Niharika-Linkedout\10362697-8d2a-4530-a202-c572b85676f5\scratchpad\deck\icons\briefcase_white.png">    </p:cNvPr>
          <p:cNvPicPr>
            <a:picLocks noChangeAspect="1"/>
          </p:cNvPicPr>
          <p:nvPr/>
        </p:nvPicPr>
        <p:blipFill>
          <a:blip r:embed="rId2"/>
          <a:stretch>
            <a:fillRect/>
          </a:stretch>
        </p:blipFill>
        <p:spPr>
          <a:xfrm>
            <a:off x="6531102" y="2077974"/>
            <a:ext cx="251460" cy="251460"/>
          </a:xfrm>
          <a:prstGeom prst="rect">
            <a:avLst/>
          </a:prstGeom>
        </p:spPr>
      </p:pic>
      <p:sp>
        <p:nvSpPr>
          <p:cNvPr id="12" name="Text 8"/>
          <p:cNvSpPr/>
          <p:nvPr/>
        </p:nvSpPr>
        <p:spPr>
          <a:xfrm>
            <a:off x="7050024" y="1938528"/>
            <a:ext cx="4288536" cy="45720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Placement cell</a:t>
            </a:r>
            <a:endParaRPr lang="en-US" sz="1400" dirty="0"/>
          </a:p>
        </p:txBody>
      </p:sp>
      <p:sp>
        <p:nvSpPr>
          <p:cNvPr id="13" name="Text 9"/>
          <p:cNvSpPr/>
          <p:nvPr/>
        </p:nvSpPr>
        <p:spPr>
          <a:xfrm>
            <a:off x="6428232" y="2505456"/>
            <a:ext cx="4837176" cy="1261872"/>
          </a:xfrm>
          <a:prstGeom prst="rect">
            <a:avLst/>
          </a:prstGeom>
          <a:noFill/>
          <a:ln/>
        </p:spPr>
        <p:txBody>
          <a:bodyPr wrap="square" rtlCol="0" anchor="t"/>
          <a:lstStyle/>
          <a:p>
            <a:pPr indent="0" marL="0">
              <a:lnSpc>
                <a:spcPct val="112000"/>
              </a:lnSpc>
              <a:buNone/>
            </a:pPr>
            <a:r>
              <a:rPr lang="en-US" sz="1100" dirty="0">
                <a:solidFill>
                  <a:srgbClr val="454B6B"/>
                </a:solidFill>
                <a:latin typeface="Calibri" pitchFamily="34" charset="0"/>
                <a:ea typeface="Calibri" pitchFamily="34" charset="-122"/>
                <a:cs typeface="Calibri" pitchFamily="34" charset="-120"/>
              </a:rPr>
              <a:t>Clears a flagged listing in seconds via its score breakdown → retunes weights after a new scam pattern appears → pulls skill-gap analytics to plan next term's workshops and electives.</a:t>
            </a:r>
            <a:endParaRPr lang="en-US" sz="1100" dirty="0"/>
          </a:p>
        </p:txBody>
      </p:sp>
      <p:sp>
        <p:nvSpPr>
          <p:cNvPr id="14" name="Shape 10"/>
          <p:cNvSpPr/>
          <p:nvPr/>
        </p:nvSpPr>
        <p:spPr>
          <a:xfrm>
            <a:off x="640080" y="4251960"/>
            <a:ext cx="26060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5" name="Text 11"/>
          <p:cNvSpPr/>
          <p:nvPr/>
        </p:nvSpPr>
        <p:spPr>
          <a:xfrm>
            <a:off x="640080" y="4389120"/>
            <a:ext cx="2606040" cy="640080"/>
          </a:xfrm>
          <a:prstGeom prst="rect">
            <a:avLst/>
          </a:prstGeom>
          <a:noFill/>
          <a:ln/>
        </p:spPr>
        <p:txBody>
          <a:bodyPr wrap="square"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100%</a:t>
            </a:r>
            <a:endParaRPr lang="en-US" sz="3000" dirty="0"/>
          </a:p>
        </p:txBody>
      </p:sp>
      <p:sp>
        <p:nvSpPr>
          <p:cNvPr id="16" name="Text 12"/>
          <p:cNvSpPr/>
          <p:nvPr/>
        </p:nvSpPr>
        <p:spPr>
          <a:xfrm>
            <a:off x="777240" y="5074920"/>
            <a:ext cx="2331720" cy="548640"/>
          </a:xfrm>
          <a:prstGeom prst="rect">
            <a:avLst/>
          </a:prstGeom>
          <a:noFill/>
          <a:ln/>
        </p:spPr>
        <p:txBody>
          <a:bodyPr wrap="square" rtlCol="0" anchor="ctr"/>
          <a:lstStyle/>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of scraped + admin listings</a:t>
            </a:r>
            <a:endParaRPr lang="en-US" sz="1000" dirty="0"/>
          </a:p>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in one deduplicated feed</a:t>
            </a:r>
            <a:endParaRPr lang="en-US" sz="1000" dirty="0"/>
          </a:p>
        </p:txBody>
      </p:sp>
      <p:sp>
        <p:nvSpPr>
          <p:cNvPr id="17" name="Shape 13"/>
          <p:cNvSpPr/>
          <p:nvPr/>
        </p:nvSpPr>
        <p:spPr>
          <a:xfrm>
            <a:off x="3465576" y="4251960"/>
            <a:ext cx="26060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8" name="Text 14"/>
          <p:cNvSpPr/>
          <p:nvPr/>
        </p:nvSpPr>
        <p:spPr>
          <a:xfrm>
            <a:off x="3465576" y="4389120"/>
            <a:ext cx="2606040" cy="640080"/>
          </a:xfrm>
          <a:prstGeom prst="rect">
            <a:avLst/>
          </a:prstGeom>
          <a:noFill/>
          <a:ln/>
        </p:spPr>
        <p:txBody>
          <a:bodyPr wrap="square"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0</a:t>
            </a:r>
            <a:endParaRPr lang="en-US" sz="3000" dirty="0"/>
          </a:p>
        </p:txBody>
      </p:sp>
      <p:sp>
        <p:nvSpPr>
          <p:cNvPr id="19" name="Text 15"/>
          <p:cNvSpPr/>
          <p:nvPr/>
        </p:nvSpPr>
        <p:spPr>
          <a:xfrm>
            <a:off x="3602736" y="5074920"/>
            <a:ext cx="2331720" cy="548640"/>
          </a:xfrm>
          <a:prstGeom prst="rect">
            <a:avLst/>
          </a:prstGeom>
          <a:noFill/>
          <a:ln/>
        </p:spPr>
        <p:txBody>
          <a:bodyPr wrap="square" rtlCol="0" anchor="ctr"/>
          <a:lstStyle/>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unverified listings ever shown</a:t>
            </a:r>
            <a:endParaRPr lang="en-US" sz="1000" dirty="0"/>
          </a:p>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to a student without approval</a:t>
            </a:r>
            <a:endParaRPr lang="en-US" sz="1000" dirty="0"/>
          </a:p>
        </p:txBody>
      </p:sp>
      <p:sp>
        <p:nvSpPr>
          <p:cNvPr id="20" name="Shape 16"/>
          <p:cNvSpPr/>
          <p:nvPr/>
        </p:nvSpPr>
        <p:spPr>
          <a:xfrm>
            <a:off x="6291072" y="4251960"/>
            <a:ext cx="26060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1" name="Text 17"/>
          <p:cNvSpPr/>
          <p:nvPr/>
        </p:nvSpPr>
        <p:spPr>
          <a:xfrm>
            <a:off x="6291072" y="4389120"/>
            <a:ext cx="2606040" cy="640080"/>
          </a:xfrm>
          <a:prstGeom prst="rect">
            <a:avLst/>
          </a:prstGeom>
          <a:noFill/>
          <a:ln/>
        </p:spPr>
        <p:txBody>
          <a:bodyPr wrap="square"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48h</a:t>
            </a:r>
            <a:endParaRPr lang="en-US" sz="3000" dirty="0"/>
          </a:p>
        </p:txBody>
      </p:sp>
      <p:sp>
        <p:nvSpPr>
          <p:cNvPr id="22" name="Text 18"/>
          <p:cNvSpPr/>
          <p:nvPr/>
        </p:nvSpPr>
        <p:spPr>
          <a:xfrm>
            <a:off x="6428232" y="5074920"/>
            <a:ext cx="2331720" cy="548640"/>
          </a:xfrm>
          <a:prstGeom prst="rect">
            <a:avLst/>
          </a:prstGeom>
          <a:noFill/>
          <a:ln/>
        </p:spPr>
        <p:txBody>
          <a:bodyPr wrap="square" rtlCol="0" anchor="ctr"/>
          <a:lstStyle/>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default heads-up before</a:t>
            </a:r>
            <a:endParaRPr lang="en-US" sz="1000" dirty="0"/>
          </a:p>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every tracked deadline</a:t>
            </a:r>
            <a:endParaRPr lang="en-US" sz="1000" dirty="0"/>
          </a:p>
        </p:txBody>
      </p:sp>
      <p:sp>
        <p:nvSpPr>
          <p:cNvPr id="23" name="Shape 19"/>
          <p:cNvSpPr/>
          <p:nvPr/>
        </p:nvSpPr>
        <p:spPr>
          <a:xfrm>
            <a:off x="9116568" y="4251960"/>
            <a:ext cx="2606040" cy="1417320"/>
          </a:xfrm>
          <a:prstGeom prst="roundRect">
            <a:avLst>
              <a:gd name="adj" fmla="val 5161"/>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24" name="Text 20"/>
          <p:cNvSpPr/>
          <p:nvPr/>
        </p:nvSpPr>
        <p:spPr>
          <a:xfrm>
            <a:off x="9116568" y="4389120"/>
            <a:ext cx="2606040" cy="640080"/>
          </a:xfrm>
          <a:prstGeom prst="rect">
            <a:avLst/>
          </a:prstGeom>
          <a:noFill/>
          <a:ln/>
        </p:spPr>
        <p:txBody>
          <a:bodyPr wrap="square" rtlCol="0" anchor="ctr"/>
          <a:lstStyle/>
          <a:p>
            <a:pPr algn="ctr" indent="0" marL="0">
              <a:buNone/>
            </a:pPr>
            <a:r>
              <a:rPr lang="en-US" sz="3000" b="1" dirty="0">
                <a:solidFill>
                  <a:srgbClr val="02C39A"/>
                </a:solidFill>
                <a:latin typeface="Cambria" pitchFamily="34" charset="0"/>
                <a:ea typeface="Cambria" pitchFamily="34" charset="-122"/>
                <a:cs typeface="Cambria" pitchFamily="34" charset="-120"/>
              </a:rPr>
              <a:t>3+</a:t>
            </a:r>
            <a:endParaRPr lang="en-US" sz="3000" dirty="0"/>
          </a:p>
        </p:txBody>
      </p:sp>
      <p:sp>
        <p:nvSpPr>
          <p:cNvPr id="25" name="Text 21"/>
          <p:cNvSpPr/>
          <p:nvPr/>
        </p:nvSpPr>
        <p:spPr>
          <a:xfrm>
            <a:off x="9253728" y="5074920"/>
            <a:ext cx="2331720" cy="548640"/>
          </a:xfrm>
          <a:prstGeom prst="rect">
            <a:avLst/>
          </a:prstGeom>
          <a:noFill/>
          <a:ln/>
        </p:spPr>
        <p:txBody>
          <a:bodyPr wrap="square" rtlCol="0" anchor="ctr"/>
          <a:lstStyle/>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reports auto-force a recheck</a:t>
            </a:r>
            <a:endParaRPr lang="en-US" sz="1000" dirty="0"/>
          </a:p>
          <a:p>
            <a:pPr algn="ctr" indent="0" marL="0">
              <a:lnSpc>
                <a:spcPct val="110000"/>
              </a:lnSpc>
              <a:buNone/>
            </a:pPr>
            <a:r>
              <a:rPr lang="en-US" sz="1000" dirty="0">
                <a:solidFill>
                  <a:srgbClr val="454B6B"/>
                </a:solidFill>
                <a:latin typeface="Calibri" pitchFamily="34" charset="0"/>
                <a:ea typeface="Calibri" pitchFamily="34" charset="-122"/>
                <a:cs typeface="Calibri" pitchFamily="34" charset="-120"/>
              </a:rPr>
              <a:t>on a live listing</a:t>
            </a:r>
            <a:endParaRPr lang="en-US" sz="1000" dirty="0"/>
          </a:p>
        </p:txBody>
      </p:sp>
      <p:sp>
        <p:nvSpPr>
          <p:cNvPr id="26" name="Text 22"/>
          <p:cNvSpPr/>
          <p:nvPr/>
        </p:nvSpPr>
        <p:spPr>
          <a:xfrm>
            <a:off x="640080" y="5806440"/>
            <a:ext cx="10881360" cy="320040"/>
          </a:xfrm>
          <a:prstGeom prst="rect">
            <a:avLst/>
          </a:prstGeom>
          <a:noFill/>
          <a:ln/>
        </p:spPr>
        <p:txBody>
          <a:bodyPr wrap="square" rtlCol="0" anchor="ctr"/>
          <a:lstStyle/>
          <a:p>
            <a:pPr indent="0" marL="0">
              <a:buNone/>
            </a:pPr>
            <a:r>
              <a:rPr lang="en-US" sz="1000" i="1" dirty="0">
                <a:solidFill>
                  <a:srgbClr val="7B81A3"/>
                </a:solidFill>
                <a:latin typeface="Calibri" pitchFamily="34" charset="0"/>
                <a:ea typeface="Calibri" pitchFamily="34" charset="-122"/>
                <a:cs typeface="Calibri" pitchFamily="34" charset="-120"/>
              </a:rPr>
              <a:t>Targets defined in the project's own goal metrics, not aspirational marketing.</a:t>
            </a:r>
            <a:endParaRPr lang="en-US" sz="1000" dirty="0"/>
          </a:p>
        </p:txBody>
      </p:sp>
      <p:sp>
        <p:nvSpPr>
          <p:cNvPr id="28" name="Text 23"/>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29" name="Text 24"/>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FEASIBILITY</a:t>
            </a:r>
            <a:endParaRPr lang="en-US" sz="1300" dirty="0"/>
          </a:p>
        </p:txBody>
      </p:sp>
      <p:sp>
        <p:nvSpPr>
          <p:cNvPr id="3" name="Text 1"/>
          <p:cNvSpPr txBox="1"/>
          <p:nvPr/>
        </p:nvSpPr>
        <p:spPr>
          <a:xfrm>
            <a:off x="640080" y="777240"/>
            <a:ext cx="10789920" cy="868680"/>
          </a:xfrm>
          <a:prstGeom prst="rect">
            <a:avLst/>
          </a:prstGeom>
          <a:noFill/>
          <a:ln/>
        </p:spPr>
        <p:txBody>
          <a:bodyPr wrap="square" rtlCol="0" anchor="t"/>
          <a:lstStyle/>
          <a:p>
            <a:pPr indent="0" marL="0">
              <a:buNone/>
            </a:pPr>
            <a:r>
              <a:rPr lang="en-US" sz="2800" b="1" dirty="0">
                <a:solidFill>
                  <a:srgbClr val="1E2761"/>
                </a:solidFill>
                <a:latin typeface="Cambria" pitchFamily="34" charset="0"/>
                <a:ea typeface="Cambria" pitchFamily="34" charset="-122"/>
                <a:cs typeface="Cambria" pitchFamily="34" charset="-120"/>
              </a:rPr>
              <a:t>Deployable today, on a student budget</a:t>
            </a:r>
            <a:endParaRPr lang="en-US" sz="2800" dirty="0"/>
          </a:p>
        </p:txBody>
      </p:sp>
      <p:sp>
        <p:nvSpPr>
          <p:cNvPr id="4" name="Shape 2"/>
          <p:cNvSpPr/>
          <p:nvPr/>
        </p:nvSpPr>
        <p:spPr>
          <a:xfrm>
            <a:off x="640080" y="1737360"/>
            <a:ext cx="3520440" cy="3931920"/>
          </a:xfrm>
          <a:prstGeom prst="roundRect">
            <a:avLst>
              <a:gd name="adj" fmla="val 2078"/>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5" name="Shape 3"/>
          <p:cNvSpPr/>
          <p:nvPr/>
        </p:nvSpPr>
        <p:spPr>
          <a:xfrm>
            <a:off x="896112" y="1993392"/>
            <a:ext cx="502920" cy="502920"/>
          </a:xfrm>
          <a:prstGeom prst="ellipse">
            <a:avLst/>
          </a:prstGeom>
          <a:solidFill>
            <a:srgbClr val="02C39A"/>
          </a:solidFill>
          <a:ln/>
        </p:spPr>
      </p:sp>
      <p:pic>
        <p:nvPicPr>
          <p:cNvPr id="6" name="Image 0" descr="C:\Users\Niharika\AppData\Local\Temp\claude\C--Users-Niharika-Linkedout\10362697-8d2a-4530-a202-c572b85676f5\scratchpad\deck\icons\cloud_white.png">    </p:cNvPr>
          <p:cNvPicPr>
            <a:picLocks noChangeAspect="1"/>
          </p:cNvPicPr>
          <p:nvPr/>
        </p:nvPicPr>
        <p:blipFill>
          <a:blip r:embed="rId1"/>
          <a:stretch>
            <a:fillRect/>
          </a:stretch>
        </p:blipFill>
        <p:spPr>
          <a:xfrm>
            <a:off x="1009269" y="2106549"/>
            <a:ext cx="276606" cy="276606"/>
          </a:xfrm>
          <a:prstGeom prst="rect">
            <a:avLst/>
          </a:prstGeom>
        </p:spPr>
      </p:pic>
      <p:sp>
        <p:nvSpPr>
          <p:cNvPr id="7" name="Text 4"/>
          <p:cNvSpPr/>
          <p:nvPr/>
        </p:nvSpPr>
        <p:spPr>
          <a:xfrm>
            <a:off x="896112" y="2633472"/>
            <a:ext cx="3008376"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Deploy</a:t>
            </a:r>
            <a:endParaRPr lang="en-US" sz="1500" dirty="0"/>
          </a:p>
        </p:txBody>
      </p:sp>
      <p:sp>
        <p:nvSpPr>
          <p:cNvPr id="8" name="Text 5"/>
          <p:cNvSpPr/>
          <p:nvPr/>
        </p:nvSpPr>
        <p:spPr>
          <a:xfrm>
            <a:off x="896112" y="3017520"/>
            <a:ext cx="3008376" cy="2468880"/>
          </a:xfrm>
          <a:prstGeom prst="rect">
            <a:avLst/>
          </a:prstGeom>
          <a:noFill/>
          <a:ln/>
        </p:spPr>
        <p:txBody>
          <a:bodyPr wrap="square" rtlCol="0" anchor="ctr"/>
          <a:lstStyle/>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Single Node process — API + EJS frontend baked in, no separate frontend deploy</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MongoDB Atlas free M0 cluster</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Cron jobs run in-process (node-cron) — no extra worker at this scale</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Puppeteer needs a container host (Render/Fly) — not classic serverless functions</a:t>
            </a:r>
            <a:endParaRPr lang="en-US" sz="1030" dirty="0"/>
          </a:p>
        </p:txBody>
      </p:sp>
      <p:sp>
        <p:nvSpPr>
          <p:cNvPr id="9" name="Shape 6"/>
          <p:cNvSpPr/>
          <p:nvPr/>
        </p:nvSpPr>
        <p:spPr>
          <a:xfrm>
            <a:off x="4343400" y="1737360"/>
            <a:ext cx="3520440" cy="3931920"/>
          </a:xfrm>
          <a:prstGeom prst="roundRect">
            <a:avLst>
              <a:gd name="adj" fmla="val 2078"/>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0" name="Shape 7"/>
          <p:cNvSpPr/>
          <p:nvPr/>
        </p:nvSpPr>
        <p:spPr>
          <a:xfrm>
            <a:off x="4599432" y="1993392"/>
            <a:ext cx="502920" cy="502920"/>
          </a:xfrm>
          <a:prstGeom prst="ellipse">
            <a:avLst/>
          </a:prstGeom>
          <a:solidFill>
            <a:srgbClr val="02C39A"/>
          </a:solidFill>
          <a:ln/>
        </p:spPr>
      </p:sp>
      <p:pic>
        <p:nvPicPr>
          <p:cNvPr id="11" name="Image 1" descr="C:\Users\Niharika\AppData\Local\Temp\claude\C--Users-Niharika-Linkedout\10362697-8d2a-4530-a202-c572b85676f5\scratchpad\deck\icons\trending_white.png">    </p:cNvPr>
          <p:cNvPicPr>
            <a:picLocks noChangeAspect="1"/>
          </p:cNvPicPr>
          <p:nvPr/>
        </p:nvPicPr>
        <p:blipFill>
          <a:blip r:embed="rId2"/>
          <a:stretch>
            <a:fillRect/>
          </a:stretch>
        </p:blipFill>
        <p:spPr>
          <a:xfrm>
            <a:off x="4712589" y="2106549"/>
            <a:ext cx="276606" cy="276606"/>
          </a:xfrm>
          <a:prstGeom prst="rect">
            <a:avLst/>
          </a:prstGeom>
        </p:spPr>
      </p:pic>
      <p:sp>
        <p:nvSpPr>
          <p:cNvPr id="12" name="Text 8"/>
          <p:cNvSpPr/>
          <p:nvPr/>
        </p:nvSpPr>
        <p:spPr>
          <a:xfrm>
            <a:off x="4599432" y="2633472"/>
            <a:ext cx="3008376"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Scale</a:t>
            </a:r>
            <a:endParaRPr lang="en-US" sz="1500" dirty="0"/>
          </a:p>
        </p:txBody>
      </p:sp>
      <p:sp>
        <p:nvSpPr>
          <p:cNvPr id="13" name="Text 9"/>
          <p:cNvSpPr/>
          <p:nvPr/>
        </p:nvSpPr>
        <p:spPr>
          <a:xfrm>
            <a:off x="4599432" y="3017520"/>
            <a:ext cx="3008376" cy="2468880"/>
          </a:xfrm>
          <a:prstGeom prst="rect">
            <a:avLst/>
          </a:prstGeom>
          <a:noFill/>
          <a:ln/>
        </p:spPr>
        <p:txBody>
          <a:bodyPr wrap="square" rtlCol="0" anchor="ctr"/>
          <a:lstStyle/>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Stateless API → horizontal scale behind a load balancer</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NodeCache → Redis is the designed swap-in for match-score cache + Socket.IO</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Indexes already in place: deadline, status, compound uniques</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Pagination enforced on every list endpoint</a:t>
            </a:r>
            <a:endParaRPr lang="en-US" sz="1030" dirty="0"/>
          </a:p>
        </p:txBody>
      </p:sp>
      <p:sp>
        <p:nvSpPr>
          <p:cNvPr id="14" name="Shape 10"/>
          <p:cNvSpPr/>
          <p:nvPr/>
        </p:nvSpPr>
        <p:spPr>
          <a:xfrm>
            <a:off x="8046720" y="1737360"/>
            <a:ext cx="3520440" cy="3931920"/>
          </a:xfrm>
          <a:prstGeom prst="roundRect">
            <a:avLst>
              <a:gd name="adj" fmla="val 2078"/>
            </a:avLst>
          </a:prstGeom>
          <a:solidFill>
            <a:srgbClr val="F1F4FC"/>
          </a:solidFill>
          <a:ln w="12700">
            <a:solidFill>
              <a:srgbClr val="DCE3F5"/>
            </a:solidFill>
            <a:prstDash val="solid"/>
          </a:ln>
          <a:effectLst>
            <a:outerShdw sx="100000" sy="100000" kx="0" ky="0" algn="bl" rotWithShape="0" blurRad="101600" dist="25400" dir="5400000">
              <a:srgbClr val="9AA6D1">
                <a:alpha val="25000"/>
              </a:srgbClr>
            </a:outerShdw>
          </a:effectLst>
        </p:spPr>
      </p:sp>
      <p:sp>
        <p:nvSpPr>
          <p:cNvPr id="15" name="Shape 11"/>
          <p:cNvSpPr/>
          <p:nvPr/>
        </p:nvSpPr>
        <p:spPr>
          <a:xfrm>
            <a:off x="8302752" y="1993392"/>
            <a:ext cx="502920" cy="502920"/>
          </a:xfrm>
          <a:prstGeom prst="ellipse">
            <a:avLst/>
          </a:prstGeom>
          <a:solidFill>
            <a:srgbClr val="02C39A"/>
          </a:solidFill>
          <a:ln/>
        </p:spPr>
      </p:sp>
      <p:pic>
        <p:nvPicPr>
          <p:cNvPr id="16" name="Image 2" descr="C:\Users\Niharika\AppData\Local\Temp\claude\C--Users-Niharika-Linkedout\10362697-8d2a-4530-a202-c572b85676f5\scratchpad\deck\icons\dollar_white.png">    </p:cNvPr>
          <p:cNvPicPr>
            <a:picLocks noChangeAspect="1"/>
          </p:cNvPicPr>
          <p:nvPr/>
        </p:nvPicPr>
        <p:blipFill>
          <a:blip r:embed="rId3"/>
          <a:stretch>
            <a:fillRect/>
          </a:stretch>
        </p:blipFill>
        <p:spPr>
          <a:xfrm>
            <a:off x="8415909" y="2106549"/>
            <a:ext cx="276606" cy="276606"/>
          </a:xfrm>
          <a:prstGeom prst="rect">
            <a:avLst/>
          </a:prstGeom>
        </p:spPr>
      </p:pic>
      <p:sp>
        <p:nvSpPr>
          <p:cNvPr id="17" name="Text 12"/>
          <p:cNvSpPr/>
          <p:nvPr/>
        </p:nvSpPr>
        <p:spPr>
          <a:xfrm>
            <a:off x="8302752" y="2633472"/>
            <a:ext cx="3008376"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Cost</a:t>
            </a:r>
            <a:endParaRPr lang="en-US" sz="1500" dirty="0"/>
          </a:p>
        </p:txBody>
      </p:sp>
      <p:sp>
        <p:nvSpPr>
          <p:cNvPr id="18" name="Text 13"/>
          <p:cNvSpPr/>
          <p:nvPr/>
        </p:nvSpPr>
        <p:spPr>
          <a:xfrm>
            <a:off x="8302752" y="3017520"/>
            <a:ext cx="3008376" cy="2468880"/>
          </a:xfrm>
          <a:prstGeom prst="rect">
            <a:avLst/>
          </a:prstGeom>
          <a:noFill/>
          <a:ln/>
        </p:spPr>
        <p:txBody>
          <a:bodyPr wrap="square" rtlCol="0" anchor="ctr"/>
          <a:lstStyle/>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$0 to run today — no paid AI API calls</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Atlas free tier + free hosting tier cover an MVP demo</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Scraping is self-hosted — no per-request scraping API fees</a:t>
            </a:r>
            <a:endParaRPr lang="en-US" sz="1030" dirty="0"/>
          </a:p>
          <a:p>
            <a:pPr indent="0" marL="0">
              <a:lnSpc>
                <a:spcPct val="115000"/>
              </a:lnSpc>
              <a:buNone/>
            </a:pPr>
            <a:endParaRPr lang="en-US" sz="1030" dirty="0"/>
          </a:p>
          <a:p>
            <a:pPr indent="0" marL="0">
              <a:lnSpc>
                <a:spcPct val="115000"/>
              </a:lnSpc>
              <a:buNone/>
            </a:pPr>
            <a:r>
              <a:rPr lang="en-US" sz="1030" dirty="0">
                <a:solidFill>
                  <a:srgbClr val="454B6B"/>
                </a:solidFill>
                <a:latin typeface="Calibri" pitchFamily="34" charset="0"/>
                <a:ea typeface="Calibri" pitchFamily="34" charset="-122"/>
                <a:cs typeface="Calibri" pitchFamily="34" charset="-120"/>
              </a:rPr>
              <a:t>•  An LLM-based recommender would be the first real recurring cost</a:t>
            </a:r>
            <a:endParaRPr lang="en-US" sz="1030" dirty="0"/>
          </a:p>
        </p:txBody>
      </p:sp>
      <p:sp>
        <p:nvSpPr>
          <p:cNvPr id="20" name="Text 14"/>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7B81A3"/>
                </a:solidFill>
                <a:latin typeface="Calibri" pitchFamily="34" charset="0"/>
                <a:ea typeface="Calibri" pitchFamily="34" charset="-122"/>
                <a:cs typeface="Calibri" pitchFamily="34" charset="-120"/>
              </a:rPr>
              <a:t>LinkedOut</a:t>
            </a:r>
            <a:endParaRPr lang="en-US" sz="900" dirty="0"/>
          </a:p>
        </p:txBody>
      </p:sp>
      <p:sp>
        <p:nvSpPr>
          <p:cNvPr id="21" name="Text 15"/>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7B81A3"/>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4206240"/>
            <a:ext cx="5029200" cy="5029200"/>
          </a:xfrm>
          <a:prstGeom prst="ellipse">
            <a:avLst/>
          </a:prstGeom>
          <a:solidFill>
            <a:srgbClr val="273080"/>
          </a:solidFill>
          <a:ln/>
        </p:spPr>
      </p:sp>
      <p:sp>
        <p:nvSpPr>
          <p:cNvPr id="3" name="Text 1"/>
          <p:cNvSpPr txBox="1"/>
          <p:nvPr/>
        </p:nvSpPr>
        <p:spPr>
          <a:xfrm>
            <a:off x="640080" y="457200"/>
            <a:ext cx="91440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FUTURE ROADMAP</a:t>
            </a:r>
            <a:endParaRPr lang="en-US" sz="1300" dirty="0"/>
          </a:p>
        </p:txBody>
      </p:sp>
      <p:sp>
        <p:nvSpPr>
          <p:cNvPr id="4" name="Text 2"/>
          <p:cNvSpPr txBox="1"/>
          <p:nvPr/>
        </p:nvSpPr>
        <p:spPr>
          <a:xfrm>
            <a:off x="640080" y="777240"/>
            <a:ext cx="10789920" cy="868680"/>
          </a:xfrm>
          <a:prstGeom prst="rect">
            <a:avLst/>
          </a:prstGeom>
          <a:noFill/>
          <a:ln/>
        </p:spPr>
        <p:txBody>
          <a:bodyPr wrap="square"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The API doesn't change. The intelligence behind it does.</a:t>
            </a:r>
            <a:endParaRPr lang="en-US" sz="2700" dirty="0"/>
          </a:p>
        </p:txBody>
      </p:sp>
      <p:sp>
        <p:nvSpPr>
          <p:cNvPr id="5" name="Shape 3"/>
          <p:cNvSpPr/>
          <p:nvPr/>
        </p:nvSpPr>
        <p:spPr>
          <a:xfrm>
            <a:off x="640080" y="1874520"/>
            <a:ext cx="3520440" cy="1920240"/>
          </a:xfrm>
          <a:prstGeom prst="roundRect">
            <a:avLst>
              <a:gd name="adj" fmla="val 3810"/>
            </a:avLst>
          </a:prstGeom>
          <a:solidFill>
            <a:srgbClr val="273080"/>
          </a:solidFill>
          <a:ln w="12700">
            <a:solidFill>
              <a:srgbClr val="3A44A0"/>
            </a:solidFill>
            <a:prstDash val="solid"/>
          </a:ln>
        </p:spPr>
      </p:sp>
      <p:sp>
        <p:nvSpPr>
          <p:cNvPr id="6" name="Shape 4"/>
          <p:cNvSpPr/>
          <p:nvPr/>
        </p:nvSpPr>
        <p:spPr>
          <a:xfrm>
            <a:off x="896112" y="2112264"/>
            <a:ext cx="457200" cy="457200"/>
          </a:xfrm>
          <a:prstGeom prst="ellipse">
            <a:avLst/>
          </a:prstGeom>
          <a:solidFill>
            <a:srgbClr val="02C39A"/>
          </a:solidFill>
          <a:ln/>
        </p:spPr>
      </p:sp>
      <p:pic>
        <p:nvPicPr>
          <p:cNvPr id="7" name="Image 0" descr="C:\Users\Niharika\AppData\Local\Temp\claude\C--Users-Niharika-Linkedout\10362697-8d2a-4530-a202-c572b85676f5\scratchpad\deck\icons\cpu_white.png">    </p:cNvPr>
          <p:cNvPicPr>
            <a:picLocks noChangeAspect="1"/>
          </p:cNvPicPr>
          <p:nvPr/>
        </p:nvPicPr>
        <p:blipFill>
          <a:blip r:embed="rId1"/>
          <a:stretch>
            <a:fillRect/>
          </a:stretch>
        </p:blipFill>
        <p:spPr>
          <a:xfrm>
            <a:off x="998982" y="2215134"/>
            <a:ext cx="251460" cy="251460"/>
          </a:xfrm>
          <a:prstGeom prst="rect">
            <a:avLst/>
          </a:prstGeom>
        </p:spPr>
      </p:pic>
      <p:sp>
        <p:nvSpPr>
          <p:cNvPr id="8" name="Text 5"/>
          <p:cNvSpPr/>
          <p:nvPr/>
        </p:nvSpPr>
        <p:spPr>
          <a:xfrm>
            <a:off x="1517904" y="207568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LLM-generated learning recommendations</a:t>
            </a:r>
            <a:endParaRPr lang="en-US" sz="1400" dirty="0"/>
          </a:p>
        </p:txBody>
      </p:sp>
      <p:sp>
        <p:nvSpPr>
          <p:cNvPr id="9" name="Text 6"/>
          <p:cNvSpPr/>
          <p:nvPr/>
        </p:nvSpPr>
        <p:spPr>
          <a:xfrm>
            <a:off x="896112" y="2642616"/>
            <a:ext cx="3008376" cy="89611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Swap the static skill→resource mapping for an LLM — the response contract is already designed for this, zero API changes needed.</a:t>
            </a:r>
            <a:endParaRPr lang="en-US" sz="1100" dirty="0"/>
          </a:p>
        </p:txBody>
      </p:sp>
      <p:sp>
        <p:nvSpPr>
          <p:cNvPr id="10" name="Shape 7"/>
          <p:cNvSpPr/>
          <p:nvPr/>
        </p:nvSpPr>
        <p:spPr>
          <a:xfrm>
            <a:off x="4343400" y="1874520"/>
            <a:ext cx="3520440" cy="1920240"/>
          </a:xfrm>
          <a:prstGeom prst="roundRect">
            <a:avLst>
              <a:gd name="adj" fmla="val 3810"/>
            </a:avLst>
          </a:prstGeom>
          <a:solidFill>
            <a:srgbClr val="273080"/>
          </a:solidFill>
          <a:ln w="12700">
            <a:solidFill>
              <a:srgbClr val="3A44A0"/>
            </a:solidFill>
            <a:prstDash val="solid"/>
          </a:ln>
        </p:spPr>
      </p:sp>
      <p:sp>
        <p:nvSpPr>
          <p:cNvPr id="11" name="Shape 8"/>
          <p:cNvSpPr/>
          <p:nvPr/>
        </p:nvSpPr>
        <p:spPr>
          <a:xfrm>
            <a:off x="4599432" y="2112264"/>
            <a:ext cx="457200" cy="457200"/>
          </a:xfrm>
          <a:prstGeom prst="ellipse">
            <a:avLst/>
          </a:prstGeom>
          <a:solidFill>
            <a:srgbClr val="02C39A"/>
          </a:solidFill>
          <a:ln/>
        </p:spPr>
      </p:sp>
      <p:pic>
        <p:nvPicPr>
          <p:cNvPr id="12" name="Image 1" descr="C:\Users\Niharika\AppData\Local\Temp\claude\C--Users-Niharika-Linkedout\10362697-8d2a-4530-a202-c572b85676f5\scratchpad\deck\icons\barchart_white.png">    </p:cNvPr>
          <p:cNvPicPr>
            <a:picLocks noChangeAspect="1"/>
          </p:cNvPicPr>
          <p:nvPr/>
        </p:nvPicPr>
        <p:blipFill>
          <a:blip r:embed="rId2"/>
          <a:stretch>
            <a:fillRect/>
          </a:stretch>
        </p:blipFill>
        <p:spPr>
          <a:xfrm>
            <a:off x="4702302" y="2215134"/>
            <a:ext cx="251460" cy="251460"/>
          </a:xfrm>
          <a:prstGeom prst="rect">
            <a:avLst/>
          </a:prstGeom>
        </p:spPr>
      </p:pic>
      <p:sp>
        <p:nvSpPr>
          <p:cNvPr id="13" name="Text 9"/>
          <p:cNvSpPr/>
          <p:nvPr/>
        </p:nvSpPr>
        <p:spPr>
          <a:xfrm>
            <a:off x="5221224" y="207568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Learned trust-score weights</a:t>
            </a:r>
            <a:endParaRPr lang="en-US" sz="1400" dirty="0"/>
          </a:p>
        </p:txBody>
      </p:sp>
      <p:sp>
        <p:nvSpPr>
          <p:cNvPr id="14" name="Text 10"/>
          <p:cNvSpPr/>
          <p:nvPr/>
        </p:nvSpPr>
        <p:spPr>
          <a:xfrm>
            <a:off x="4599432" y="2642616"/>
            <a:ext cx="3008376" cy="89611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Train on the accumulated TrustScoreDecisionLog to suggest weight adjustments instead of manual admin tuning.</a:t>
            </a:r>
            <a:endParaRPr lang="en-US" sz="1100" dirty="0"/>
          </a:p>
        </p:txBody>
      </p:sp>
      <p:sp>
        <p:nvSpPr>
          <p:cNvPr id="15" name="Shape 11"/>
          <p:cNvSpPr/>
          <p:nvPr/>
        </p:nvSpPr>
        <p:spPr>
          <a:xfrm>
            <a:off x="8046720" y="1874520"/>
            <a:ext cx="3520440" cy="1920240"/>
          </a:xfrm>
          <a:prstGeom prst="roundRect">
            <a:avLst>
              <a:gd name="adj" fmla="val 3810"/>
            </a:avLst>
          </a:prstGeom>
          <a:solidFill>
            <a:srgbClr val="273080"/>
          </a:solidFill>
          <a:ln w="12700">
            <a:solidFill>
              <a:srgbClr val="3A44A0"/>
            </a:solidFill>
            <a:prstDash val="solid"/>
          </a:ln>
        </p:spPr>
      </p:sp>
      <p:sp>
        <p:nvSpPr>
          <p:cNvPr id="16" name="Shape 12"/>
          <p:cNvSpPr/>
          <p:nvPr/>
        </p:nvSpPr>
        <p:spPr>
          <a:xfrm>
            <a:off x="8302752" y="2112264"/>
            <a:ext cx="457200" cy="457200"/>
          </a:xfrm>
          <a:prstGeom prst="ellipse">
            <a:avLst/>
          </a:prstGeom>
          <a:solidFill>
            <a:srgbClr val="02C39A"/>
          </a:solidFill>
          <a:ln/>
        </p:spPr>
      </p:sp>
      <p:pic>
        <p:nvPicPr>
          <p:cNvPr id="17" name="Image 2" descr="C:\Users\Niharika\AppData\Local\Temp\claude\C--Users-Niharika-Linkedout\10362697-8d2a-4530-a202-c572b85676f5\scratchpad\deck\icons\cloud_white.png">    </p:cNvPr>
          <p:cNvPicPr>
            <a:picLocks noChangeAspect="1"/>
          </p:cNvPicPr>
          <p:nvPr/>
        </p:nvPicPr>
        <p:blipFill>
          <a:blip r:embed="rId3"/>
          <a:stretch>
            <a:fillRect/>
          </a:stretch>
        </p:blipFill>
        <p:spPr>
          <a:xfrm>
            <a:off x="8405622" y="2215134"/>
            <a:ext cx="251460" cy="251460"/>
          </a:xfrm>
          <a:prstGeom prst="rect">
            <a:avLst/>
          </a:prstGeom>
        </p:spPr>
      </p:pic>
      <p:sp>
        <p:nvSpPr>
          <p:cNvPr id="18" name="Text 13"/>
          <p:cNvSpPr/>
          <p:nvPr/>
        </p:nvSpPr>
        <p:spPr>
          <a:xfrm>
            <a:off x="8924544" y="207568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More scraper adapters</a:t>
            </a:r>
            <a:endParaRPr lang="en-US" sz="1400" dirty="0"/>
          </a:p>
        </p:txBody>
      </p:sp>
      <p:sp>
        <p:nvSpPr>
          <p:cNvPr id="19" name="Text 14"/>
          <p:cNvSpPr/>
          <p:nvPr/>
        </p:nvSpPr>
        <p:spPr>
          <a:xfrm>
            <a:off x="8302752" y="2642616"/>
            <a:ext cx="3008376" cy="89611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New sources plug into the same normalizeListing() interface without touching ingestion logic.</a:t>
            </a:r>
            <a:endParaRPr lang="en-US" sz="1100" dirty="0"/>
          </a:p>
        </p:txBody>
      </p:sp>
      <p:sp>
        <p:nvSpPr>
          <p:cNvPr id="20" name="Shape 15"/>
          <p:cNvSpPr/>
          <p:nvPr/>
        </p:nvSpPr>
        <p:spPr>
          <a:xfrm>
            <a:off x="640080" y="3977640"/>
            <a:ext cx="3520440" cy="1920240"/>
          </a:xfrm>
          <a:prstGeom prst="roundRect">
            <a:avLst>
              <a:gd name="adj" fmla="val 3810"/>
            </a:avLst>
          </a:prstGeom>
          <a:solidFill>
            <a:srgbClr val="273080"/>
          </a:solidFill>
          <a:ln w="12700">
            <a:solidFill>
              <a:srgbClr val="3A44A0"/>
            </a:solidFill>
            <a:prstDash val="solid"/>
          </a:ln>
        </p:spPr>
      </p:sp>
      <p:sp>
        <p:nvSpPr>
          <p:cNvPr id="21" name="Shape 16"/>
          <p:cNvSpPr/>
          <p:nvPr/>
        </p:nvSpPr>
        <p:spPr>
          <a:xfrm>
            <a:off x="896112" y="4215384"/>
            <a:ext cx="457200" cy="457200"/>
          </a:xfrm>
          <a:prstGeom prst="ellipse">
            <a:avLst/>
          </a:prstGeom>
          <a:solidFill>
            <a:srgbClr val="02C39A"/>
          </a:solidFill>
          <a:ln/>
        </p:spPr>
      </p:sp>
      <p:pic>
        <p:nvPicPr>
          <p:cNvPr id="22" name="Image 3" descr="C:\Users\Niharika\AppData\Local\Temp\claude\C--Users-Niharika-Linkedout\10362697-8d2a-4530-a202-c572b85676f5\scratchpad\deck\icons\message_white.png">    </p:cNvPr>
          <p:cNvPicPr>
            <a:picLocks noChangeAspect="1"/>
          </p:cNvPicPr>
          <p:nvPr/>
        </p:nvPicPr>
        <p:blipFill>
          <a:blip r:embed="rId4"/>
          <a:stretch>
            <a:fillRect/>
          </a:stretch>
        </p:blipFill>
        <p:spPr>
          <a:xfrm>
            <a:off x="998982" y="4318254"/>
            <a:ext cx="251460" cy="251460"/>
          </a:xfrm>
          <a:prstGeom prst="rect">
            <a:avLst/>
          </a:prstGeom>
        </p:spPr>
      </p:pic>
      <p:sp>
        <p:nvSpPr>
          <p:cNvPr id="23" name="Text 17"/>
          <p:cNvSpPr/>
          <p:nvPr/>
        </p:nvSpPr>
        <p:spPr>
          <a:xfrm>
            <a:off x="1517904" y="417880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Email delivery</a:t>
            </a:r>
            <a:endParaRPr lang="en-US" sz="1400" dirty="0"/>
          </a:p>
        </p:txBody>
      </p:sp>
      <p:sp>
        <p:nvSpPr>
          <p:cNvPr id="24" name="Text 18"/>
          <p:cNvSpPr/>
          <p:nvPr/>
        </p:nvSpPr>
        <p:spPr>
          <a:xfrm>
            <a:off x="896112" y="4745736"/>
            <a:ext cx="3008376" cy="89611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Nodemailer alongside the existing in-app + real-time Socket.IO notifications.</a:t>
            </a:r>
            <a:endParaRPr lang="en-US" sz="1100" dirty="0"/>
          </a:p>
        </p:txBody>
      </p:sp>
      <p:sp>
        <p:nvSpPr>
          <p:cNvPr id="25" name="Shape 19"/>
          <p:cNvSpPr/>
          <p:nvPr/>
        </p:nvSpPr>
        <p:spPr>
          <a:xfrm>
            <a:off x="4343400" y="3977640"/>
            <a:ext cx="3520440" cy="1920240"/>
          </a:xfrm>
          <a:prstGeom prst="roundRect">
            <a:avLst>
              <a:gd name="adj" fmla="val 3810"/>
            </a:avLst>
          </a:prstGeom>
          <a:solidFill>
            <a:srgbClr val="273080"/>
          </a:solidFill>
          <a:ln w="12700">
            <a:solidFill>
              <a:srgbClr val="3A44A0"/>
            </a:solidFill>
            <a:prstDash val="solid"/>
          </a:ln>
        </p:spPr>
      </p:sp>
      <p:sp>
        <p:nvSpPr>
          <p:cNvPr id="26" name="Shape 20"/>
          <p:cNvSpPr/>
          <p:nvPr/>
        </p:nvSpPr>
        <p:spPr>
          <a:xfrm>
            <a:off x="4599432" y="4215384"/>
            <a:ext cx="457200" cy="457200"/>
          </a:xfrm>
          <a:prstGeom prst="ellipse">
            <a:avLst/>
          </a:prstGeom>
          <a:solidFill>
            <a:srgbClr val="02C39A"/>
          </a:solidFill>
          <a:ln/>
        </p:spPr>
      </p:sp>
      <p:pic>
        <p:nvPicPr>
          <p:cNvPr id="27" name="Image 4" descr="C:\Users\Niharika\AppData\Local\Temp\claude\C--Users-Niharika-Linkedout\10362697-8d2a-4530-a202-c572b85676f5\scratchpad\deck\icons\lock_white.png">    </p:cNvPr>
          <p:cNvPicPr>
            <a:picLocks noChangeAspect="1"/>
          </p:cNvPicPr>
          <p:nvPr/>
        </p:nvPicPr>
        <p:blipFill>
          <a:blip r:embed="rId5"/>
          <a:stretch>
            <a:fillRect/>
          </a:stretch>
        </p:blipFill>
        <p:spPr>
          <a:xfrm>
            <a:off x="4702302" y="4318254"/>
            <a:ext cx="251460" cy="251460"/>
          </a:xfrm>
          <a:prstGeom prst="rect">
            <a:avLst/>
          </a:prstGeom>
        </p:spPr>
      </p:pic>
      <p:sp>
        <p:nvSpPr>
          <p:cNvPr id="28" name="Text 21"/>
          <p:cNvSpPr/>
          <p:nvPr/>
        </p:nvSpPr>
        <p:spPr>
          <a:xfrm>
            <a:off x="5221224" y="417880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Refresh-token rotation + S3</a:t>
            </a:r>
            <a:endParaRPr lang="en-US" sz="1400" dirty="0"/>
          </a:p>
        </p:txBody>
      </p:sp>
      <p:sp>
        <p:nvSpPr>
          <p:cNvPr id="29" name="Text 22"/>
          <p:cNvSpPr/>
          <p:nvPr/>
        </p:nvSpPr>
        <p:spPr>
          <a:xfrm>
            <a:off x="4599432" y="4745736"/>
            <a:ext cx="3008376" cy="89611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Longer-lived sessions done safely, and resumes off local disk onto object storage.</a:t>
            </a:r>
            <a:endParaRPr lang="en-US" sz="1100" dirty="0"/>
          </a:p>
        </p:txBody>
      </p:sp>
      <p:sp>
        <p:nvSpPr>
          <p:cNvPr id="30" name="Shape 23"/>
          <p:cNvSpPr/>
          <p:nvPr/>
        </p:nvSpPr>
        <p:spPr>
          <a:xfrm>
            <a:off x="8046720" y="3977640"/>
            <a:ext cx="3520440" cy="1920240"/>
          </a:xfrm>
          <a:prstGeom prst="roundRect">
            <a:avLst>
              <a:gd name="adj" fmla="val 3810"/>
            </a:avLst>
          </a:prstGeom>
          <a:solidFill>
            <a:srgbClr val="273080"/>
          </a:solidFill>
          <a:ln w="12700">
            <a:solidFill>
              <a:srgbClr val="3A44A0"/>
            </a:solidFill>
            <a:prstDash val="solid"/>
          </a:ln>
        </p:spPr>
      </p:sp>
      <p:sp>
        <p:nvSpPr>
          <p:cNvPr id="31" name="Shape 24"/>
          <p:cNvSpPr/>
          <p:nvPr/>
        </p:nvSpPr>
        <p:spPr>
          <a:xfrm>
            <a:off x="8302752" y="4215384"/>
            <a:ext cx="457200" cy="457200"/>
          </a:xfrm>
          <a:prstGeom prst="ellipse">
            <a:avLst/>
          </a:prstGeom>
          <a:solidFill>
            <a:srgbClr val="02C39A"/>
          </a:solidFill>
          <a:ln/>
        </p:spPr>
      </p:sp>
      <p:pic>
        <p:nvPicPr>
          <p:cNvPr id="32" name="Image 5" descr="C:\Users\Niharika\AppData\Local\Temp\claude\C--Users-Niharika-Linkedout\10362697-8d2a-4530-a202-c572b85676f5\scratchpad\deck\icons\smartphone_white.png">    </p:cNvPr>
          <p:cNvPicPr>
            <a:picLocks noChangeAspect="1"/>
          </p:cNvPicPr>
          <p:nvPr/>
        </p:nvPicPr>
        <p:blipFill>
          <a:blip r:embed="rId6"/>
          <a:stretch>
            <a:fillRect/>
          </a:stretch>
        </p:blipFill>
        <p:spPr>
          <a:xfrm>
            <a:off x="8405622" y="4318254"/>
            <a:ext cx="251460" cy="251460"/>
          </a:xfrm>
          <a:prstGeom prst="rect">
            <a:avLst/>
          </a:prstGeom>
        </p:spPr>
      </p:pic>
      <p:sp>
        <p:nvSpPr>
          <p:cNvPr id="33" name="Text 25"/>
          <p:cNvSpPr/>
          <p:nvPr/>
        </p:nvSpPr>
        <p:spPr>
          <a:xfrm>
            <a:off x="8924544" y="4178808"/>
            <a:ext cx="2459736"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Native mobile app</a:t>
            </a:r>
            <a:endParaRPr lang="en-US" sz="1400" dirty="0"/>
          </a:p>
        </p:txBody>
      </p:sp>
      <p:sp>
        <p:nvSpPr>
          <p:cNvPr id="34" name="Text 26"/>
          <p:cNvSpPr/>
          <p:nvPr/>
        </p:nvSpPr>
        <p:spPr>
          <a:xfrm>
            <a:off x="8302752" y="4745736"/>
            <a:ext cx="3008376" cy="896112"/>
          </a:xfrm>
          <a:prstGeom prst="rect">
            <a:avLst/>
          </a:prstGeom>
          <a:noFill/>
          <a:ln/>
        </p:spPr>
        <p:txBody>
          <a:bodyPr wrap="square" rtlCol="0" anchor="t"/>
          <a:lstStyle/>
          <a:p>
            <a:pPr indent="0" marL="0">
              <a:lnSpc>
                <a:spcPct val="112000"/>
              </a:lnSpc>
              <a:buNone/>
            </a:pPr>
            <a:r>
              <a:rPr lang="en-US" sz="1100" dirty="0">
                <a:solidFill>
                  <a:srgbClr val="C7CDF0"/>
                </a:solidFill>
                <a:latin typeface="Calibri" pitchFamily="34" charset="0"/>
                <a:ea typeface="Calibri" pitchFamily="34" charset="-122"/>
                <a:cs typeface="Calibri" pitchFamily="34" charset="-120"/>
              </a:rPr>
              <a:t>Same REST API, a new client — the backend was built client-agnostic from day one.</a:t>
            </a:r>
            <a:endParaRPr lang="en-US" sz="1100" dirty="0"/>
          </a:p>
        </p:txBody>
      </p:sp>
      <p:sp>
        <p:nvSpPr>
          <p:cNvPr id="36" name="Text 27"/>
          <p:cNvSpPr/>
          <p:nvPr/>
        </p:nvSpPr>
        <p:spPr>
          <a:xfrm>
            <a:off x="457200" y="6473952"/>
            <a:ext cx="2743200" cy="274320"/>
          </a:xfrm>
          <a:prstGeom prst="rect">
            <a:avLst/>
          </a:prstGeom>
          <a:noFill/>
          <a:ln/>
        </p:spPr>
        <p:txBody>
          <a:bodyPr wrap="square" rtlCol="0" anchor="ctr"/>
          <a:lstStyle/>
          <a:p>
            <a:pPr algn="l" indent="0" marL="0">
              <a:buNone/>
            </a:pPr>
            <a:r>
              <a:rPr lang="en-US" sz="900" dirty="0">
                <a:solidFill>
                  <a:srgbClr val="8A93C7"/>
                </a:solidFill>
                <a:latin typeface="Calibri" pitchFamily="34" charset="0"/>
                <a:ea typeface="Calibri" pitchFamily="34" charset="-122"/>
                <a:cs typeface="Calibri" pitchFamily="34" charset="-120"/>
              </a:rPr>
              <a:t>LinkedOut</a:t>
            </a:r>
            <a:endParaRPr lang="en-US" sz="900" dirty="0"/>
          </a:p>
        </p:txBody>
      </p:sp>
      <p:sp>
        <p:nvSpPr>
          <p:cNvPr id="37" name="Text 28"/>
          <p:cNvSpPr/>
          <p:nvPr/>
        </p:nvSpPr>
        <p:spPr>
          <a:xfrm>
            <a:off x="11000232" y="6473952"/>
            <a:ext cx="822960" cy="274320"/>
          </a:xfrm>
          <a:prstGeom prst="rect">
            <a:avLst/>
          </a:prstGeom>
          <a:noFill/>
          <a:ln/>
        </p:spPr>
        <p:txBody>
          <a:bodyPr wrap="square" rtlCol="0" anchor="ctr"/>
          <a:lstStyle/>
          <a:p>
            <a:pPr algn="r" indent="0" marL="0">
              <a:buNone/>
            </a:pPr>
            <a:r>
              <a:rPr lang="en-US" sz="900" dirty="0">
                <a:solidFill>
                  <a:srgbClr val="8A93C7"/>
                </a:solidFill>
                <a:latin typeface="Calibri" pitchFamily="34" charset="0"/>
                <a:ea typeface="Calibri" pitchFamily="34" charset="-122"/>
                <a:cs typeface="Calibr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2026-09-24T08:20:57Z</dcterms:created>
  <dcterms:modified xsi:type="dcterms:W3CDTF">2026-09-24T08:20:57Z</dcterms:modified>
</cp:coreProperties>
</file>